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323" r:id="rId3"/>
    <p:sldId id="324" r:id="rId4"/>
    <p:sldId id="265" r:id="rId5"/>
    <p:sldId id="325" r:id="rId6"/>
    <p:sldId id="267" r:id="rId7"/>
    <p:sldId id="326" r:id="rId8"/>
    <p:sldId id="327" r:id="rId9"/>
    <p:sldId id="269" r:id="rId10"/>
    <p:sldId id="271" r:id="rId11"/>
    <p:sldId id="328" r:id="rId12"/>
    <p:sldId id="288" r:id="rId13"/>
    <p:sldId id="290" r:id="rId14"/>
    <p:sldId id="272" r:id="rId15"/>
    <p:sldId id="273" r:id="rId16"/>
    <p:sldId id="274" r:id="rId17"/>
    <p:sldId id="275" r:id="rId18"/>
    <p:sldId id="276" r:id="rId19"/>
    <p:sldId id="277" r:id="rId20"/>
    <p:sldId id="278" r:id="rId21"/>
    <p:sldId id="280" r:id="rId22"/>
    <p:sldId id="279" r:id="rId23"/>
    <p:sldId id="282" r:id="rId24"/>
    <p:sldId id="283" r:id="rId25"/>
    <p:sldId id="284" r:id="rId26"/>
    <p:sldId id="285" r:id="rId27"/>
    <p:sldId id="286" r:id="rId28"/>
    <p:sldId id="287" r:id="rId29"/>
    <p:sldId id="309" r:id="rId30"/>
    <p:sldId id="310" r:id="rId31"/>
    <p:sldId id="311" r:id="rId32"/>
    <p:sldId id="312" r:id="rId33"/>
    <p:sldId id="289" r:id="rId34"/>
    <p:sldId id="308" r:id="rId35"/>
    <p:sldId id="313" r:id="rId36"/>
    <p:sldId id="314" r:id="rId37"/>
    <p:sldId id="315" r:id="rId38"/>
    <p:sldId id="291" r:id="rId39"/>
    <p:sldId id="292" r:id="rId40"/>
    <p:sldId id="293" r:id="rId41"/>
    <p:sldId id="295" r:id="rId42"/>
    <p:sldId id="296" r:id="rId43"/>
    <p:sldId id="297" r:id="rId44"/>
    <p:sldId id="299" r:id="rId45"/>
    <p:sldId id="317" r:id="rId46"/>
    <p:sldId id="318" r:id="rId47"/>
    <p:sldId id="320" r:id="rId48"/>
    <p:sldId id="321" r:id="rId49"/>
    <p:sldId id="319" r:id="rId50"/>
    <p:sldId id="300" r:id="rId51"/>
    <p:sldId id="301" r:id="rId52"/>
    <p:sldId id="302" r:id="rId53"/>
    <p:sldId id="316" r:id="rId54"/>
    <p:sldId id="303" r:id="rId55"/>
    <p:sldId id="304" r:id="rId56"/>
    <p:sldId id="322" r:id="rId57"/>
    <p:sldId id="298" r:id="rId58"/>
  </p:sldIdLst>
  <p:sldSz cx="12192000" cy="6858000"/>
  <p:notesSz cx="6858000" cy="9144000"/>
  <p:defaultText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hamed Yasser Elfetiany"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28"/>
    <p:restoredTop sz="96327"/>
  </p:normalViewPr>
  <p:slideViewPr>
    <p:cSldViewPr snapToGrid="0" snapToObjects="1">
      <p:cViewPr varScale="1">
        <p:scale>
          <a:sx n="92" d="100"/>
          <a:sy n="92" d="100"/>
        </p:scale>
        <p:origin x="106"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C1F790-065E-4E5D-BC73-082BB3A32BF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42605EF-AE62-4532-BF11-613BD629F605}">
      <dgm:prSet/>
      <dgm:spPr/>
      <dgm:t>
        <a:bodyPr/>
        <a:lstStyle/>
        <a:p>
          <a:pPr>
            <a:lnSpc>
              <a:spcPct val="100000"/>
            </a:lnSpc>
          </a:pPr>
          <a:r>
            <a:rPr lang="en-US" dirty="0"/>
            <a:t>Developing an Android Application using Kotlin and XML</a:t>
          </a:r>
        </a:p>
      </dgm:t>
    </dgm:pt>
    <dgm:pt modelId="{716A9AE3-895C-4DB5-8903-160AB013E2C1}" type="parTrans" cxnId="{24119977-A427-4FE1-8A5E-3706AD6922EE}">
      <dgm:prSet/>
      <dgm:spPr/>
      <dgm:t>
        <a:bodyPr/>
        <a:lstStyle/>
        <a:p>
          <a:endParaRPr lang="en-US"/>
        </a:p>
      </dgm:t>
    </dgm:pt>
    <dgm:pt modelId="{A0800968-7F0F-4657-861A-D5D23C88BC76}" type="sibTrans" cxnId="{24119977-A427-4FE1-8A5E-3706AD6922EE}">
      <dgm:prSet/>
      <dgm:spPr/>
      <dgm:t>
        <a:bodyPr/>
        <a:lstStyle/>
        <a:p>
          <a:pPr>
            <a:lnSpc>
              <a:spcPct val="100000"/>
            </a:lnSpc>
          </a:pPr>
          <a:endParaRPr lang="en-US"/>
        </a:p>
      </dgm:t>
    </dgm:pt>
    <dgm:pt modelId="{63679E11-4F17-48ED-A370-8E2606D1C3E1}">
      <dgm:prSet/>
      <dgm:spPr/>
      <dgm:t>
        <a:bodyPr/>
        <a:lstStyle/>
        <a:p>
          <a:pPr>
            <a:lnSpc>
              <a:spcPct val="100000"/>
            </a:lnSpc>
          </a:pPr>
          <a:r>
            <a:rPr lang="en-US" dirty="0"/>
            <a:t>Become familiar with </a:t>
          </a:r>
          <a:r>
            <a:rPr lang="en-US" b="1" dirty="0"/>
            <a:t>Firebase</a:t>
          </a:r>
          <a:r>
            <a:rPr lang="en-US" dirty="0"/>
            <a:t> and </a:t>
          </a:r>
          <a:r>
            <a:rPr lang="en-US" b="1" dirty="0"/>
            <a:t>AWS</a:t>
          </a:r>
          <a:r>
            <a:rPr lang="en-US" dirty="0"/>
            <a:t> platforms for backend development and storage.</a:t>
          </a:r>
        </a:p>
      </dgm:t>
    </dgm:pt>
    <dgm:pt modelId="{32B40E3D-E8EF-41F1-9594-BD4FFDD78A93}" type="parTrans" cxnId="{E3D2F33D-3608-49CD-BF9F-F3AFA7009370}">
      <dgm:prSet/>
      <dgm:spPr/>
      <dgm:t>
        <a:bodyPr/>
        <a:lstStyle/>
        <a:p>
          <a:endParaRPr lang="en-US"/>
        </a:p>
      </dgm:t>
    </dgm:pt>
    <dgm:pt modelId="{04178D08-F124-4A54-9693-3E28F9FB7DB0}" type="sibTrans" cxnId="{E3D2F33D-3608-49CD-BF9F-F3AFA7009370}">
      <dgm:prSet/>
      <dgm:spPr/>
      <dgm:t>
        <a:bodyPr/>
        <a:lstStyle/>
        <a:p>
          <a:pPr>
            <a:lnSpc>
              <a:spcPct val="100000"/>
            </a:lnSpc>
          </a:pPr>
          <a:endParaRPr lang="en-US"/>
        </a:p>
      </dgm:t>
    </dgm:pt>
    <dgm:pt modelId="{D4171DBC-AD54-4FB5-A30A-FE4BF823A50F}">
      <dgm:prSet/>
      <dgm:spPr/>
      <dgm:t>
        <a:bodyPr/>
        <a:lstStyle/>
        <a:p>
          <a:pPr>
            <a:lnSpc>
              <a:spcPct val="100000"/>
            </a:lnSpc>
          </a:pPr>
          <a:r>
            <a:rPr lang="en-US" dirty="0"/>
            <a:t>Use Firebase Authentication for secure user login/registration and Firebase Realtime Database for storing users, products, and orders.</a:t>
          </a:r>
        </a:p>
      </dgm:t>
    </dgm:pt>
    <dgm:pt modelId="{6B378CB7-23D5-4FD1-AE0B-F2FCD1F16E08}" type="parTrans" cxnId="{9DAEE4C3-CE88-4699-A456-B292D72E3334}">
      <dgm:prSet/>
      <dgm:spPr/>
      <dgm:t>
        <a:bodyPr/>
        <a:lstStyle/>
        <a:p>
          <a:endParaRPr lang="en-US"/>
        </a:p>
      </dgm:t>
    </dgm:pt>
    <dgm:pt modelId="{6D83AC85-624B-40E6-826F-36C7E085A754}" type="sibTrans" cxnId="{9DAEE4C3-CE88-4699-A456-B292D72E3334}">
      <dgm:prSet/>
      <dgm:spPr/>
      <dgm:t>
        <a:bodyPr/>
        <a:lstStyle/>
        <a:p>
          <a:pPr>
            <a:lnSpc>
              <a:spcPct val="100000"/>
            </a:lnSpc>
          </a:pPr>
          <a:endParaRPr lang="en-US"/>
        </a:p>
      </dgm:t>
    </dgm:pt>
    <dgm:pt modelId="{D7DDE37C-58D2-4E9B-932B-7C13D03A203B}">
      <dgm:prSet/>
      <dgm:spPr/>
      <dgm:t>
        <a:bodyPr/>
        <a:lstStyle/>
        <a:p>
          <a:pPr>
            <a:lnSpc>
              <a:spcPct val="100000"/>
            </a:lnSpc>
          </a:pPr>
          <a:r>
            <a:rPr lang="en-US" dirty="0"/>
            <a:t>Work with Amazon S3 to handle product images and other media storage requirements.</a:t>
          </a:r>
        </a:p>
      </dgm:t>
    </dgm:pt>
    <dgm:pt modelId="{EE53671D-5BB1-49E0-95F1-070C67F95E10}" type="parTrans" cxnId="{F9F87898-F8E6-4D16-BC50-2F787DA2AB0F}">
      <dgm:prSet/>
      <dgm:spPr/>
      <dgm:t>
        <a:bodyPr/>
        <a:lstStyle/>
        <a:p>
          <a:endParaRPr lang="en-US"/>
        </a:p>
      </dgm:t>
    </dgm:pt>
    <dgm:pt modelId="{E9F9C351-3326-4223-A616-6DC3BC96ADB0}" type="sibTrans" cxnId="{F9F87898-F8E6-4D16-BC50-2F787DA2AB0F}">
      <dgm:prSet/>
      <dgm:spPr/>
      <dgm:t>
        <a:bodyPr/>
        <a:lstStyle/>
        <a:p>
          <a:endParaRPr lang="en-US"/>
        </a:p>
      </dgm:t>
    </dgm:pt>
    <dgm:pt modelId="{EDFD6C70-BDD3-4D3A-8D5A-B4090A80C5C7}" type="pres">
      <dgm:prSet presAssocID="{DEC1F790-065E-4E5D-BC73-082BB3A32BFE}" presName="root" presStyleCnt="0">
        <dgm:presLayoutVars>
          <dgm:dir/>
          <dgm:resizeHandles val="exact"/>
        </dgm:presLayoutVars>
      </dgm:prSet>
      <dgm:spPr/>
    </dgm:pt>
    <dgm:pt modelId="{3EB95957-FD73-43DB-AB51-01589498B6FE}" type="pres">
      <dgm:prSet presAssocID="{DEC1F790-065E-4E5D-BC73-082BB3A32BFE}" presName="container" presStyleCnt="0">
        <dgm:presLayoutVars>
          <dgm:dir/>
          <dgm:resizeHandles val="exact"/>
        </dgm:presLayoutVars>
      </dgm:prSet>
      <dgm:spPr/>
    </dgm:pt>
    <dgm:pt modelId="{0DE58179-80F0-435B-9FB1-3CF0B0A3A58D}" type="pres">
      <dgm:prSet presAssocID="{842605EF-AE62-4532-BF11-613BD629F605}" presName="compNode" presStyleCnt="0"/>
      <dgm:spPr/>
    </dgm:pt>
    <dgm:pt modelId="{4E957030-72BE-4E2C-B640-C0A6533F132B}" type="pres">
      <dgm:prSet presAssocID="{842605EF-AE62-4532-BF11-613BD629F605}" presName="iconBgRect" presStyleLbl="bgShp" presStyleIdx="0" presStyleCnt="4"/>
      <dgm:spPr/>
    </dgm:pt>
    <dgm:pt modelId="{2B425A48-182E-4070-8648-A91FA878A19B}" type="pres">
      <dgm:prSet presAssocID="{842605EF-AE62-4532-BF11-613BD629F60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450F1B52-1F83-432A-ABD0-D2E802734348}" type="pres">
      <dgm:prSet presAssocID="{842605EF-AE62-4532-BF11-613BD629F605}" presName="spaceRect" presStyleCnt="0"/>
      <dgm:spPr/>
    </dgm:pt>
    <dgm:pt modelId="{3F5B6AE3-3676-4D4C-A948-601687E078DE}" type="pres">
      <dgm:prSet presAssocID="{842605EF-AE62-4532-BF11-613BD629F605}" presName="textRect" presStyleLbl="revTx" presStyleIdx="0" presStyleCnt="4">
        <dgm:presLayoutVars>
          <dgm:chMax val="1"/>
          <dgm:chPref val="1"/>
        </dgm:presLayoutVars>
      </dgm:prSet>
      <dgm:spPr/>
    </dgm:pt>
    <dgm:pt modelId="{E2B7DF69-7C19-4144-BBEB-75DB82089854}" type="pres">
      <dgm:prSet presAssocID="{A0800968-7F0F-4657-861A-D5D23C88BC76}" presName="sibTrans" presStyleLbl="sibTrans2D1" presStyleIdx="0" presStyleCnt="0"/>
      <dgm:spPr/>
    </dgm:pt>
    <dgm:pt modelId="{84FC2F35-305E-47F0-969E-83B9C727D702}" type="pres">
      <dgm:prSet presAssocID="{63679E11-4F17-48ED-A370-8E2606D1C3E1}" presName="compNode" presStyleCnt="0"/>
      <dgm:spPr/>
    </dgm:pt>
    <dgm:pt modelId="{6C4DBFAB-640F-4ED8-AE8D-E67E65BF01E2}" type="pres">
      <dgm:prSet presAssocID="{63679E11-4F17-48ED-A370-8E2606D1C3E1}" presName="iconBgRect" presStyleLbl="bgShp" presStyleIdx="1" presStyleCnt="4"/>
      <dgm:spPr/>
    </dgm:pt>
    <dgm:pt modelId="{8A152DBA-6473-4062-9091-CC2A98D76177}" type="pres">
      <dgm:prSet presAssocID="{63679E11-4F17-48ED-A370-8E2606D1C3E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67E42A52-0865-413F-A228-05AFA111D427}" type="pres">
      <dgm:prSet presAssocID="{63679E11-4F17-48ED-A370-8E2606D1C3E1}" presName="spaceRect" presStyleCnt="0"/>
      <dgm:spPr/>
    </dgm:pt>
    <dgm:pt modelId="{71CF36B1-D91E-418A-8837-B4AE7023EF5E}" type="pres">
      <dgm:prSet presAssocID="{63679E11-4F17-48ED-A370-8E2606D1C3E1}" presName="textRect" presStyleLbl="revTx" presStyleIdx="1" presStyleCnt="4">
        <dgm:presLayoutVars>
          <dgm:chMax val="1"/>
          <dgm:chPref val="1"/>
        </dgm:presLayoutVars>
      </dgm:prSet>
      <dgm:spPr/>
    </dgm:pt>
    <dgm:pt modelId="{4785B064-D77F-4CFA-8DAD-0BF073A7CFC6}" type="pres">
      <dgm:prSet presAssocID="{04178D08-F124-4A54-9693-3E28F9FB7DB0}" presName="sibTrans" presStyleLbl="sibTrans2D1" presStyleIdx="0" presStyleCnt="0"/>
      <dgm:spPr/>
    </dgm:pt>
    <dgm:pt modelId="{F785F441-619C-4DA5-BEA4-F331DCE165C6}" type="pres">
      <dgm:prSet presAssocID="{D4171DBC-AD54-4FB5-A30A-FE4BF823A50F}" presName="compNode" presStyleCnt="0"/>
      <dgm:spPr/>
    </dgm:pt>
    <dgm:pt modelId="{BD0E3BEC-8D29-4D9F-8ABE-914769EF76B2}" type="pres">
      <dgm:prSet presAssocID="{D4171DBC-AD54-4FB5-A30A-FE4BF823A50F}" presName="iconBgRect" presStyleLbl="bgShp" presStyleIdx="2" presStyleCnt="4"/>
      <dgm:spPr/>
    </dgm:pt>
    <dgm:pt modelId="{A66102DF-4CD2-4C54-A71B-4C77F1A80D40}" type="pres">
      <dgm:prSet presAssocID="{D4171DBC-AD54-4FB5-A30A-FE4BF823A50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atabase"/>
        </a:ext>
      </dgm:extLst>
    </dgm:pt>
    <dgm:pt modelId="{5163D873-47C7-4D02-93AD-998A73919157}" type="pres">
      <dgm:prSet presAssocID="{D4171DBC-AD54-4FB5-A30A-FE4BF823A50F}" presName="spaceRect" presStyleCnt="0"/>
      <dgm:spPr/>
    </dgm:pt>
    <dgm:pt modelId="{D81D4815-5362-4178-B9BA-2EB24036B174}" type="pres">
      <dgm:prSet presAssocID="{D4171DBC-AD54-4FB5-A30A-FE4BF823A50F}" presName="textRect" presStyleLbl="revTx" presStyleIdx="2" presStyleCnt="4">
        <dgm:presLayoutVars>
          <dgm:chMax val="1"/>
          <dgm:chPref val="1"/>
        </dgm:presLayoutVars>
      </dgm:prSet>
      <dgm:spPr/>
    </dgm:pt>
    <dgm:pt modelId="{07612207-359D-4D85-8211-FE42E34C0FB0}" type="pres">
      <dgm:prSet presAssocID="{6D83AC85-624B-40E6-826F-36C7E085A754}" presName="sibTrans" presStyleLbl="sibTrans2D1" presStyleIdx="0" presStyleCnt="0"/>
      <dgm:spPr/>
    </dgm:pt>
    <dgm:pt modelId="{D3A8C05D-B17E-4F55-8206-267168EF7364}" type="pres">
      <dgm:prSet presAssocID="{D7DDE37C-58D2-4E9B-932B-7C13D03A203B}" presName="compNode" presStyleCnt="0"/>
      <dgm:spPr/>
    </dgm:pt>
    <dgm:pt modelId="{AD2DD86E-B2A2-4E93-810E-FD26DAE14596}" type="pres">
      <dgm:prSet presAssocID="{D7DDE37C-58D2-4E9B-932B-7C13D03A203B}" presName="iconBgRect" presStyleLbl="bgShp" presStyleIdx="3" presStyleCnt="4"/>
      <dgm:spPr/>
    </dgm:pt>
    <dgm:pt modelId="{288328CB-DE4D-42EA-8092-49EF08ABC5F9}" type="pres">
      <dgm:prSet presAssocID="{D7DDE37C-58D2-4E9B-932B-7C13D03A203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p with pin"/>
        </a:ext>
      </dgm:extLst>
    </dgm:pt>
    <dgm:pt modelId="{EBBD3854-8030-411D-85F4-51FB69ACD345}" type="pres">
      <dgm:prSet presAssocID="{D7DDE37C-58D2-4E9B-932B-7C13D03A203B}" presName="spaceRect" presStyleCnt="0"/>
      <dgm:spPr/>
    </dgm:pt>
    <dgm:pt modelId="{CE90DDD2-CBDD-415F-BC9D-695DF4E8A388}" type="pres">
      <dgm:prSet presAssocID="{D7DDE37C-58D2-4E9B-932B-7C13D03A203B}" presName="textRect" presStyleLbl="revTx" presStyleIdx="3" presStyleCnt="4">
        <dgm:presLayoutVars>
          <dgm:chMax val="1"/>
          <dgm:chPref val="1"/>
        </dgm:presLayoutVars>
      </dgm:prSet>
      <dgm:spPr/>
    </dgm:pt>
  </dgm:ptLst>
  <dgm:cxnLst>
    <dgm:cxn modelId="{53AD1200-22B2-4944-8A55-1A4D574AA7BD}" type="presOf" srcId="{DEC1F790-065E-4E5D-BC73-082BB3A32BFE}" destId="{EDFD6C70-BDD3-4D3A-8D5A-B4090A80C5C7}" srcOrd="0" destOrd="0" presId="urn:microsoft.com/office/officeart/2018/2/layout/IconCircleList"/>
    <dgm:cxn modelId="{DC744608-F78A-4203-9603-DC4D41034518}" type="presOf" srcId="{63679E11-4F17-48ED-A370-8E2606D1C3E1}" destId="{71CF36B1-D91E-418A-8837-B4AE7023EF5E}" srcOrd="0" destOrd="0" presId="urn:microsoft.com/office/officeart/2018/2/layout/IconCircleList"/>
    <dgm:cxn modelId="{E3D2F33D-3608-49CD-BF9F-F3AFA7009370}" srcId="{DEC1F790-065E-4E5D-BC73-082BB3A32BFE}" destId="{63679E11-4F17-48ED-A370-8E2606D1C3E1}" srcOrd="1" destOrd="0" parTransId="{32B40E3D-E8EF-41F1-9594-BD4FFDD78A93}" sibTransId="{04178D08-F124-4A54-9693-3E28F9FB7DB0}"/>
    <dgm:cxn modelId="{75F2A55F-FC91-4B20-A858-62E1CAADBE5B}" type="presOf" srcId="{A0800968-7F0F-4657-861A-D5D23C88BC76}" destId="{E2B7DF69-7C19-4144-BBEB-75DB82089854}" srcOrd="0" destOrd="0" presId="urn:microsoft.com/office/officeart/2018/2/layout/IconCircleList"/>
    <dgm:cxn modelId="{FB96D968-13C5-47C7-BE90-E09515552C24}" type="presOf" srcId="{04178D08-F124-4A54-9693-3E28F9FB7DB0}" destId="{4785B064-D77F-4CFA-8DAD-0BF073A7CFC6}" srcOrd="0" destOrd="0" presId="urn:microsoft.com/office/officeart/2018/2/layout/IconCircleList"/>
    <dgm:cxn modelId="{9248C271-FF08-4C23-B07C-2846FEDEAB91}" type="presOf" srcId="{D7DDE37C-58D2-4E9B-932B-7C13D03A203B}" destId="{CE90DDD2-CBDD-415F-BC9D-695DF4E8A388}" srcOrd="0" destOrd="0" presId="urn:microsoft.com/office/officeart/2018/2/layout/IconCircleList"/>
    <dgm:cxn modelId="{24119977-A427-4FE1-8A5E-3706AD6922EE}" srcId="{DEC1F790-065E-4E5D-BC73-082BB3A32BFE}" destId="{842605EF-AE62-4532-BF11-613BD629F605}" srcOrd="0" destOrd="0" parTransId="{716A9AE3-895C-4DB5-8903-160AB013E2C1}" sibTransId="{A0800968-7F0F-4657-861A-D5D23C88BC76}"/>
    <dgm:cxn modelId="{AD950C58-95D1-48D5-A6BE-262596A7A4A6}" type="presOf" srcId="{6D83AC85-624B-40E6-826F-36C7E085A754}" destId="{07612207-359D-4D85-8211-FE42E34C0FB0}" srcOrd="0" destOrd="0" presId="urn:microsoft.com/office/officeart/2018/2/layout/IconCircleList"/>
    <dgm:cxn modelId="{F9F87898-F8E6-4D16-BC50-2F787DA2AB0F}" srcId="{DEC1F790-065E-4E5D-BC73-082BB3A32BFE}" destId="{D7DDE37C-58D2-4E9B-932B-7C13D03A203B}" srcOrd="3" destOrd="0" parTransId="{EE53671D-5BB1-49E0-95F1-070C67F95E10}" sibTransId="{E9F9C351-3326-4223-A616-6DC3BC96ADB0}"/>
    <dgm:cxn modelId="{7A8EB4AF-AFB1-44E6-8A6D-7A52FE396701}" type="presOf" srcId="{842605EF-AE62-4532-BF11-613BD629F605}" destId="{3F5B6AE3-3676-4D4C-A948-601687E078DE}" srcOrd="0" destOrd="0" presId="urn:microsoft.com/office/officeart/2018/2/layout/IconCircleList"/>
    <dgm:cxn modelId="{9DAEE4C3-CE88-4699-A456-B292D72E3334}" srcId="{DEC1F790-065E-4E5D-BC73-082BB3A32BFE}" destId="{D4171DBC-AD54-4FB5-A30A-FE4BF823A50F}" srcOrd="2" destOrd="0" parTransId="{6B378CB7-23D5-4FD1-AE0B-F2FCD1F16E08}" sibTransId="{6D83AC85-624B-40E6-826F-36C7E085A754}"/>
    <dgm:cxn modelId="{DA3AB4E9-FA2B-48A3-B274-4F1168828F32}" type="presOf" srcId="{D4171DBC-AD54-4FB5-A30A-FE4BF823A50F}" destId="{D81D4815-5362-4178-B9BA-2EB24036B174}" srcOrd="0" destOrd="0" presId="urn:microsoft.com/office/officeart/2018/2/layout/IconCircleList"/>
    <dgm:cxn modelId="{3F32EC83-F9E4-4AAC-9707-4DC5C0B1EFD2}" type="presParOf" srcId="{EDFD6C70-BDD3-4D3A-8D5A-B4090A80C5C7}" destId="{3EB95957-FD73-43DB-AB51-01589498B6FE}" srcOrd="0" destOrd="0" presId="urn:microsoft.com/office/officeart/2018/2/layout/IconCircleList"/>
    <dgm:cxn modelId="{E6C747FC-5BEA-4258-82E0-FE5AA7DD9ECE}" type="presParOf" srcId="{3EB95957-FD73-43DB-AB51-01589498B6FE}" destId="{0DE58179-80F0-435B-9FB1-3CF0B0A3A58D}" srcOrd="0" destOrd="0" presId="urn:microsoft.com/office/officeart/2018/2/layout/IconCircleList"/>
    <dgm:cxn modelId="{25F4BCB0-341D-4BCB-9FE9-628ADEA11E52}" type="presParOf" srcId="{0DE58179-80F0-435B-9FB1-3CF0B0A3A58D}" destId="{4E957030-72BE-4E2C-B640-C0A6533F132B}" srcOrd="0" destOrd="0" presId="urn:microsoft.com/office/officeart/2018/2/layout/IconCircleList"/>
    <dgm:cxn modelId="{D84CDDB5-AB48-4078-AFE1-5C016B340166}" type="presParOf" srcId="{0DE58179-80F0-435B-9FB1-3CF0B0A3A58D}" destId="{2B425A48-182E-4070-8648-A91FA878A19B}" srcOrd="1" destOrd="0" presId="urn:microsoft.com/office/officeart/2018/2/layout/IconCircleList"/>
    <dgm:cxn modelId="{1F952D84-3FF9-4B9B-8B7C-19C0262F6D81}" type="presParOf" srcId="{0DE58179-80F0-435B-9FB1-3CF0B0A3A58D}" destId="{450F1B52-1F83-432A-ABD0-D2E802734348}" srcOrd="2" destOrd="0" presId="urn:microsoft.com/office/officeart/2018/2/layout/IconCircleList"/>
    <dgm:cxn modelId="{7281D7C5-6BDD-4253-8771-559B5351BE8E}" type="presParOf" srcId="{0DE58179-80F0-435B-9FB1-3CF0B0A3A58D}" destId="{3F5B6AE3-3676-4D4C-A948-601687E078DE}" srcOrd="3" destOrd="0" presId="urn:microsoft.com/office/officeart/2018/2/layout/IconCircleList"/>
    <dgm:cxn modelId="{CA5B79CC-4414-4FD3-A2AE-F51DA995D6A4}" type="presParOf" srcId="{3EB95957-FD73-43DB-AB51-01589498B6FE}" destId="{E2B7DF69-7C19-4144-BBEB-75DB82089854}" srcOrd="1" destOrd="0" presId="urn:microsoft.com/office/officeart/2018/2/layout/IconCircleList"/>
    <dgm:cxn modelId="{1D2D3049-FAFA-4589-BCD5-0872A650FD22}" type="presParOf" srcId="{3EB95957-FD73-43DB-AB51-01589498B6FE}" destId="{84FC2F35-305E-47F0-969E-83B9C727D702}" srcOrd="2" destOrd="0" presId="urn:microsoft.com/office/officeart/2018/2/layout/IconCircleList"/>
    <dgm:cxn modelId="{91CB744E-95EB-4263-B3A9-DC9C0D6B74F7}" type="presParOf" srcId="{84FC2F35-305E-47F0-969E-83B9C727D702}" destId="{6C4DBFAB-640F-4ED8-AE8D-E67E65BF01E2}" srcOrd="0" destOrd="0" presId="urn:microsoft.com/office/officeart/2018/2/layout/IconCircleList"/>
    <dgm:cxn modelId="{50236B47-7492-4090-BF30-4CE117DD0BA7}" type="presParOf" srcId="{84FC2F35-305E-47F0-969E-83B9C727D702}" destId="{8A152DBA-6473-4062-9091-CC2A98D76177}" srcOrd="1" destOrd="0" presId="urn:microsoft.com/office/officeart/2018/2/layout/IconCircleList"/>
    <dgm:cxn modelId="{27E8B611-8010-43D0-B9B7-C2BF96AF5A51}" type="presParOf" srcId="{84FC2F35-305E-47F0-969E-83B9C727D702}" destId="{67E42A52-0865-413F-A228-05AFA111D427}" srcOrd="2" destOrd="0" presId="urn:microsoft.com/office/officeart/2018/2/layout/IconCircleList"/>
    <dgm:cxn modelId="{0BF8B8E2-AC1C-47B2-8468-2DF7A77AE1D7}" type="presParOf" srcId="{84FC2F35-305E-47F0-969E-83B9C727D702}" destId="{71CF36B1-D91E-418A-8837-B4AE7023EF5E}" srcOrd="3" destOrd="0" presId="urn:microsoft.com/office/officeart/2018/2/layout/IconCircleList"/>
    <dgm:cxn modelId="{95ABB293-0ED5-49E3-A018-03B837BC8AE6}" type="presParOf" srcId="{3EB95957-FD73-43DB-AB51-01589498B6FE}" destId="{4785B064-D77F-4CFA-8DAD-0BF073A7CFC6}" srcOrd="3" destOrd="0" presId="urn:microsoft.com/office/officeart/2018/2/layout/IconCircleList"/>
    <dgm:cxn modelId="{EE1080DE-6D4F-461D-BC2F-7270EE0F5C8A}" type="presParOf" srcId="{3EB95957-FD73-43DB-AB51-01589498B6FE}" destId="{F785F441-619C-4DA5-BEA4-F331DCE165C6}" srcOrd="4" destOrd="0" presId="urn:microsoft.com/office/officeart/2018/2/layout/IconCircleList"/>
    <dgm:cxn modelId="{96B9CD32-909D-4161-AF31-59112FA9330E}" type="presParOf" srcId="{F785F441-619C-4DA5-BEA4-F331DCE165C6}" destId="{BD0E3BEC-8D29-4D9F-8ABE-914769EF76B2}" srcOrd="0" destOrd="0" presId="urn:microsoft.com/office/officeart/2018/2/layout/IconCircleList"/>
    <dgm:cxn modelId="{2D439C62-C358-4A6E-9C26-61BF68369DEC}" type="presParOf" srcId="{F785F441-619C-4DA5-BEA4-F331DCE165C6}" destId="{A66102DF-4CD2-4C54-A71B-4C77F1A80D40}" srcOrd="1" destOrd="0" presId="urn:microsoft.com/office/officeart/2018/2/layout/IconCircleList"/>
    <dgm:cxn modelId="{657DB69C-C071-4AD4-A08B-80349641ED65}" type="presParOf" srcId="{F785F441-619C-4DA5-BEA4-F331DCE165C6}" destId="{5163D873-47C7-4D02-93AD-998A73919157}" srcOrd="2" destOrd="0" presId="urn:microsoft.com/office/officeart/2018/2/layout/IconCircleList"/>
    <dgm:cxn modelId="{C8E3918E-A4E4-43A6-9A87-075D2DC807D2}" type="presParOf" srcId="{F785F441-619C-4DA5-BEA4-F331DCE165C6}" destId="{D81D4815-5362-4178-B9BA-2EB24036B174}" srcOrd="3" destOrd="0" presId="urn:microsoft.com/office/officeart/2018/2/layout/IconCircleList"/>
    <dgm:cxn modelId="{F045D5F2-68BF-4BE5-8EF7-8A70C2D1D2BD}" type="presParOf" srcId="{3EB95957-FD73-43DB-AB51-01589498B6FE}" destId="{07612207-359D-4D85-8211-FE42E34C0FB0}" srcOrd="5" destOrd="0" presId="urn:microsoft.com/office/officeart/2018/2/layout/IconCircleList"/>
    <dgm:cxn modelId="{012C4DD5-522E-4012-AEB4-BD6203164596}" type="presParOf" srcId="{3EB95957-FD73-43DB-AB51-01589498B6FE}" destId="{D3A8C05D-B17E-4F55-8206-267168EF7364}" srcOrd="6" destOrd="0" presId="urn:microsoft.com/office/officeart/2018/2/layout/IconCircleList"/>
    <dgm:cxn modelId="{1B8AC99A-C3FB-4513-8E14-5E987044B93F}" type="presParOf" srcId="{D3A8C05D-B17E-4F55-8206-267168EF7364}" destId="{AD2DD86E-B2A2-4E93-810E-FD26DAE14596}" srcOrd="0" destOrd="0" presId="urn:microsoft.com/office/officeart/2018/2/layout/IconCircleList"/>
    <dgm:cxn modelId="{46926FD0-44EB-4689-AFC6-E51D08FE2085}" type="presParOf" srcId="{D3A8C05D-B17E-4F55-8206-267168EF7364}" destId="{288328CB-DE4D-42EA-8092-49EF08ABC5F9}" srcOrd="1" destOrd="0" presId="urn:microsoft.com/office/officeart/2018/2/layout/IconCircleList"/>
    <dgm:cxn modelId="{450A7C13-089F-4B18-9A43-E62319CA5280}" type="presParOf" srcId="{D3A8C05D-B17E-4F55-8206-267168EF7364}" destId="{EBBD3854-8030-411D-85F4-51FB69ACD345}" srcOrd="2" destOrd="0" presId="urn:microsoft.com/office/officeart/2018/2/layout/IconCircleList"/>
    <dgm:cxn modelId="{742110B3-B1B4-4B87-B201-03BE8569AE23}" type="presParOf" srcId="{D3A8C05D-B17E-4F55-8206-267168EF7364}" destId="{CE90DDD2-CBDD-415F-BC9D-695DF4E8A38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957030-72BE-4E2C-B640-C0A6533F132B}">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425A48-182E-4070-8648-A91FA878A19B}">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5B6AE3-3676-4D4C-A948-601687E078DE}">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Developing an Android Application using Kotlin and XML</a:t>
          </a:r>
        </a:p>
      </dsp:txBody>
      <dsp:txXfrm>
        <a:off x="1834517" y="469890"/>
        <a:ext cx="3148942" cy="1335915"/>
      </dsp:txXfrm>
    </dsp:sp>
    <dsp:sp modelId="{6C4DBFAB-640F-4ED8-AE8D-E67E65BF01E2}">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152DBA-6473-4062-9091-CC2A98D76177}">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CF36B1-D91E-418A-8837-B4AE7023EF5E}">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Become familiar with </a:t>
          </a:r>
          <a:r>
            <a:rPr lang="en-US" sz="1700" b="1" kern="1200" dirty="0"/>
            <a:t>Firebase</a:t>
          </a:r>
          <a:r>
            <a:rPr lang="en-US" sz="1700" kern="1200" dirty="0"/>
            <a:t> and </a:t>
          </a:r>
          <a:r>
            <a:rPr lang="en-US" sz="1700" b="1" kern="1200" dirty="0"/>
            <a:t>AWS</a:t>
          </a:r>
          <a:r>
            <a:rPr lang="en-US" sz="1700" kern="1200" dirty="0"/>
            <a:t> platforms for backend development and storage.</a:t>
          </a:r>
        </a:p>
      </dsp:txBody>
      <dsp:txXfrm>
        <a:off x="7154322" y="469890"/>
        <a:ext cx="3148942" cy="1335915"/>
      </dsp:txXfrm>
    </dsp:sp>
    <dsp:sp modelId="{BD0E3BEC-8D29-4D9F-8ABE-914769EF76B2}">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6102DF-4CD2-4C54-A71B-4C77F1A80D40}">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1D4815-5362-4178-B9BA-2EB24036B174}">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Use Firebase Authentication for secure user login/registration and Firebase Realtime Database for storing users, products, and orders.</a:t>
          </a:r>
        </a:p>
      </dsp:txBody>
      <dsp:txXfrm>
        <a:off x="1834517" y="2545532"/>
        <a:ext cx="3148942" cy="1335915"/>
      </dsp:txXfrm>
    </dsp:sp>
    <dsp:sp modelId="{AD2DD86E-B2A2-4E93-810E-FD26DAE14596}">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8328CB-DE4D-42EA-8092-49EF08ABC5F9}">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90DDD2-CBDD-415F-BC9D-695DF4E8A388}">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dirty="0"/>
            <a:t>Work with Amazon S3 to handle product images and other media storage requirements.</a:t>
          </a:r>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1T09:26:06.976"/>
    </inkml:context>
    <inkml:brush xml:id="br0">
      <inkml:brushProperty name="width" value="0.35" units="cm"/>
      <inkml:brushProperty name="height" value="0.35" units="cm"/>
      <inkml:brushProperty name="color" value="#FFFFFF"/>
    </inkml:brush>
  </inkml:definitions>
  <inkml:trace contextRef="#ctx0" brushRef="#br0">12499 1109 24575,'-118'2'0,"-129"-4"0,148-9 0,-39-1 0,-670 10 0,389 4 0,275-14 0,12 0 0,29 11 0,-256-16 0,-286-37 0,590 50 0,-780-13 0,374 15 0,122-9 0,-124-1 0,-586 13 0,953 3 0,-131 23 0,74-6 0,-1000 73-2049,3-55-386,131-35 5892,598-5-2430,409 0-1027,-1 0 0,1 0 0,0-1 0,-1-1 0,1 0 0,0-1 0,1 0 0,-1-1 0,1 0 0,0 0 0,-17-12 0,20 12 0,-1 2 0,1-1 0,-1 1 0,0 1 0,0-1 0,1 1 0,-2 1 0,1 0 0,-15 0 0,-85 7 0,105-6 0,-151 23 0,-82 2 0,231-24 0,0 0 0,0 1 0,1-1 0,-1 1 0,1 1 0,-1-1 0,1 1 0,0 0 0,0 0 0,0 0 0,1 1 0,-1 0 0,1 0 0,-7 7 0,9-9 0,1 0 0,-1 0 0,0 0 0,1 0 0,-1 1 0,1-1 0,-1 1 0,1-1 0,0 1 0,0-1 0,0 1 0,1 0 0,-1-1 0,1 1 0,-1 0 0,1 0 0,0-1 0,0 1 0,0 0 0,0 0 0,1-1 0,-1 1 0,1 0 0,-1 0 0,1-1 0,0 1 0,0-1 0,0 1 0,1-1 0,-1 1 0,1-1 0,1 3 0,1-2 0,-1 0 0,0 0 0,1 0 0,-1-1 0,1 0 0,0 1 0,-1-1 0,1-1 0,0 1 0,0-1 0,0 1 0,1-1 0,-1 0 0,5 0 0,64 3 0,-60-4 0,35 0 0,347-5 0,-283-6 0,31-1 0,294 13 0,218-2 0,-527-8 0,181-37 0,-10 0 0,-285 44 0,658-87 0,-308 30 0,3 17 0,522 5 0,-637 40 0,396-5 0,-427-9 0,67-2 0,1319 14 0,-1226 23 0,-34 0 0,-335-24 0,0 1 0,0 0 0,-1 0 0,1 1 0,-1 1 0,1 0 0,-1 1 0,0 0 0,0 0 0,-1 1 0,1 1 0,9 6 0,-18-11 0,-1 0 0,1 0 0,-1 1 0,1-1 0,-1 1 0,0-1 0,1 1 0,-1-1 0,0 1 0,0-1 0,0 1 0,0 0 0,-1 0 0,1 0 0,0-1 0,-1 1 0,1 0 0,-1 0 0,0 0 0,1 0 0,-1 0 0,0 0 0,0 0 0,0 0 0,-1 0 0,1 0 0,0 0 0,-1 0 0,1-1 0,-1 1 0,0 0 0,0 0 0,1 0 0,-1-1 0,0 1 0,0 0 0,-1-1 0,1 1 0,0-1 0,0 1 0,-3 1 0,-3 3 0,1 0 0,-1-1 0,0 0 0,0-1 0,-1 1 0,1-1 0,-1-1 0,-11 5 0,-22 4 0,0-3 0,-75 9 0,-86-6 0,119-10 0,-147 24 0,65 11 0,-221 80 0,331-99 0,0-3 0,-1-2 0,0-3 0,-1-2 0,1-3 0,-89-2 0,-822-3 0,507 37 0,252-14 0,-139-10 0,28-2 0,-172 0 0,328-13 0,-80-10 0,7 0 0,152 14 0,-65-4 0,112-6 0,37 8 0,0 0 0,0 0 0,0 0 0,0 0 0,0 0 0,-1 0 0,1 0 0,0 0 0,0 0 0,0 0 0,0 0 0,0 0 0,0 0 0,-1 0 0,1 0 0,0-1 0,0 1 0,0 0 0,0 0 0,0 0 0,0 0 0,0 0 0,0 0 0,0 0 0,-1 0 0,1 0 0,0-1 0,0 1 0,0 0 0,0 0 0,0 0 0,0 0 0,0 0 0,0 0 0,0 0 0,0-1 0,0 1 0,0 0 0,0 0 0,0 0 0,0 0 0,0 0 0,0 0 0,0-1 0,0 1 0,0 0 0,0 0 0,0 0 0,0 0 0,0 0 0,0 0 0,1 0 0,-1-1 0,0 1 0,0 0 0,0 0 0,10-5 0,18-1 0,328-49 0,-54 10 0,428-111-355,-5-41-1,-651 175 404,14-5 173,1 3 0,132-16 0,-64 21-221,104-7 0,-50 31 0,-179-2 0,0 2 0,-1 1 0,0 2 0,48 18 0,-21-8 0,-58-18 0,1 1 0,-1-1 0,0 0 0,0 0 0,0 0 0,0 0 0,0 0 0,0 0 0,1 0 0,-1 0 0,0 0 0,0 0 0,0 0 0,0 1 0,0-1 0,0 0 0,1 0 0,-1 0 0,0 0 0,0 0 0,0 0 0,0 1 0,0-1 0,0 0 0,0 0 0,0 0 0,0 0 0,0 0 0,0 1 0,0-1 0,0 0 0,0 0 0,0 0 0,0 0 0,0 1 0,0-1 0,0 0 0,0 0 0,0 0 0,0 0 0,0 0 0,0 1 0,0-1 0,0 0 0,0 0 0,-1 0 0,-8 6 0,-13 3 0,-19 0 0,-1-1 0,0-2 0,0-2 0,-82-3 0,74-1 0,-1635 63-1679,1104-11 98,-300 18 181,747-67 2305,-139-16-1,-129-33 1664,261 28-2285,-73 2-283,-247 12 0,240 6 0,-1043-2 0,1100 12 0,-3 0 0,-693-13 0,851 1 0,5 1 0,1-1 0,0 0 0,-1 1 0,1-2 0,0 1 0,-1 0 0,1-1 0,0 1 0,-1-1 0,1 0 0,0 0 0,0 0 0,0 0 0,-5-4 0,7 5 0,1-1 0,0 0 0,0 1 0,0-1 0,0 0 0,-1 1 0,1-1 0,0 0 0,0 1 0,0-1 0,1 0 0,-1 1 0,0-1 0,0 0 0,0 1 0,0-1 0,1 0 0,-1 1 0,0-1 0,0 0 0,1 1 0,-1-1 0,1 1 0,-1-1 0,0 1 0,1-1 0,-1 1 0,1-1 0,-1 1 0,1-1 0,0 1 0,18-15 0,-4 7 0,0 0 0,0 1 0,1 1 0,0 1 0,0 0 0,0 1 0,0 1 0,25-2 0,16 2 0,65 4 0,-39 1 0,-3 0 0,103-4 0,-181 2 0,0 0 0,0-1 0,0 1 0,0 0 0,0-1 0,-1 0 0,1 1 0,0-1 0,0 0 0,0 0 0,-1 0 0,1 0 0,0 0 0,-1 0 0,1-1 0,-1 1 0,1-1 0,-1 1 0,0-1 0,2-1 0,0-3 0,-1 1 0,0-1 0,0 1 0,0-1 0,1-8 0,-2 9 0,1 0 0,-1 0 0,1 0 0,0 0 0,0 0 0,0 0 0,0 0 0,5-6 0,0 4 0,0 1 0,1 0 0,-1 0 0,1 1 0,0 0 0,0 0 0,1 1 0,-1 0 0,1 0 0,0 1 0,18-4 0,-8 2 0,1 2 0,-1 1 0,1 0 0,34 2 0,-31 3 0,-1 1 0,0 0 0,0 2 0,30 12 0,-33-10 0,1-2 0,-1 0 0,1-1 0,0 0 0,1-2 0,32 1 0,38-11 0,-1-5 0,147-37 0,148-70 0,-351 104 0,33-19 0,-50 24 0,1 0 0,1 1 0,0 0 0,0 2 0,0 0 0,1 2 0,24-5 0,319 3 0,-216 9 0,71-1 0,103-1-164,470 2-1445,1081-4-4054,-1037-38 5762,-6-38 850,61-3-600,-801 74 128,240-21 3560,-281 20-3634,65-18 0,-73 14-163,1 3-1,61-7 1,-12 4-240,-57 7 0,42-2 0,39-5 0,-75 6 0,44 0 0,108-7 0,-69 3 0,271-27 0,148-21 0,-166 16 0,-333 38 0,-11 1 0,-1 0 0,1-2 0,49-14 0,-68 14 0,1 1 0,0 1 0,1 0 0,-1 1 0,17 0 0,-28 1 0,1 1 0,-1 0 0,1 0 0,0 0 0,-1 0 0,1 1 0,-1-1 0,1 1 0,0 0 0,-1-1 0,0 1 0,1 0 0,-1 0 0,1 1 0,-1-1 0,0 0 0,0 1 0,0 0 0,0-1 0,0 1 0,0 0 0,0 0 0,-1 0 0,1 0 0,-1 0 0,1 0 0,-1 1 0,0-1 0,0 0 0,0 1 0,0-1 0,0 1 0,0 2 0,2 24 0,-1 0 0,-1 1 0,-5 40 0,0 10 0,4-73 0,0 0 0,-1 0 0,0-1 0,0 1 0,-1 0 0,1-1 0,-2 1 0,1-1 0,-1 1 0,0-1 0,0 0 0,-7 9 0,4-7 0,-1 0 0,0-1 0,0 0 0,-1 0 0,0-1 0,0 0 0,-16 9 0,-9 0 0,0-1 0,0-1 0,-66 14 0,70-20 0,-55 20 0,-96 43 0,114-42 0,-150 83 0,124-60 0,-15 17 0,62-37 0,21-14 0,1 2 0,2 0 0,-38 43 0,34-34 0,-46 39 0,64-62 0,0 0 0,-1 0 0,0-1 0,0 0 0,0 0 0,-1-1 0,1 0 0,-1-1 0,0 0 0,0 0 0,-11 0 0,-13 0 0,-59-5 0,25 0 0,-3 2 0,28-1 0,0 2 0,-61 7 0,93-4 0,0 0 0,0 0 0,1 0 0,-1 2 0,1-1 0,0 1 0,0 0 0,-11 9 0,-37 19 0,51-30 0,1-1 0,-1 0 0,0 0 0,0-1 0,0 0 0,0 0 0,0 0 0,0-1 0,-1 0 0,1 0 0,-9-2 0,-1-1 0,-1-1 0,-27-11 0,29 9 0,0 1 0,0 1 0,-30-5 0,-7 9 0,42 1 0,0 0 0,1-1 0,-1 0 0,0-1 0,1 0 0,-18-5 0,26 6 0,-1-1 0,0 1 0,1-1 0,-1 0 0,1 0 0,-1 1 0,1-1 0,0 0 0,-1-1 0,1 1 0,0 0 0,0 0 0,-1 0 0,1-1 0,0 1 0,0 0 0,0-1 0,1 1 0,-1-1 0,0 0 0,1 1 0,-1-1 0,1 1 0,-1-1 0,1 0 0,0 1 0,-1-1 0,1 0 0,0 0 0,0 1 0,0-1 0,1 0 0,-1-1 0,2-7 0,1 1 0,0 0 0,1 0 0,0 0 0,5-8 0,5-14 0,-13 24 0,1 0 0,1 0 0,-1 0 0,1 1 0,1-1 0,-1 1 0,1 0 0,0 0 0,0 0 0,1 0 0,0 1 0,0-1 0,0 1 0,0 1 0,1-1 0,0 1 0,10-6 0,8-3 0,1 1 0,0 1 0,46-14 0,84-11 0,-95 23 0,172-37 0,338-77 0,-469 96 0,-100 31 0,0-1 0,0 1 0,0 0 0,0-1 0,0 1 0,0 0 0,0 0 0,0 0 0,0 0 0,0 0 0,0 0 0,0 0 0,0 0 0,1 0 0,-1 0 0,0 1 0,0-1 0,0 0 0,0 1 0,0-1 0,0 1 0,0-1 0,0 1 0,-1-1 0,1 1 0,0 0 0,0-1 0,0 1 0,-1 0 0,1 0 0,0 0 0,-1-1 0,1 1 0,0 0 0,-1 0 0,1 0 0,-1 0 0,0 0 0,1 0 0,-1 0 0,0 0 0,0 0 0,1 1 0,-1-1 0,0 0 0,0 0 0,0 0 0,0 0 0,-1 0 0,1 2 0,0 2 0,-1 0 0,0 0 0,1 0 0,-1-1 0,-1 1 0,1 0 0,-1-1 0,0 1 0,0-1 0,-3 6 0,0-5 0,0 0 0,0-1 0,0 1 0,-1-1 0,1 0 0,-1-1 0,0 1 0,0-1 0,0 0 0,-1-1 0,1 0 0,-13 3 0,12-3 0,-1 1 0,0-1 0,1 1 0,0 0 0,0 1 0,0 0 0,0 0 0,-8 7 0,13-9 0,-1 1 0,1 0 0,0-1 0,0 1 0,0 0 0,0 0 0,1 1 0,-1-1 0,1 0 0,0 0 0,0 1 0,0-1 0,0 1 0,0-1 0,1 1 0,0-1 0,-1 1 0,2-1 0,-1 1 0,0-1 0,1 4 0,2 9 0,1-1 0,0 0 0,11 22 0,-2-2 0,113 287 0,-122-313 0,3 8-273,2 0 0,0 0 0,2-1 0,21 27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3T10:55:29.995"/>
    </inkml:context>
    <inkml:brush xml:id="br0">
      <inkml:brushProperty name="width" value="0.025" units="cm"/>
      <inkml:brushProperty name="height" value="0.025" units="cm"/>
      <inkml:brushProperty name="color" value="#FFFFFF"/>
    </inkml:brush>
  </inkml:definitions>
  <inkml:trace contextRef="#ctx0" brushRef="#br0">1 177 24575,'16'0'0,"49"0"0,34 0 0,-10 0 0,-28 1 0,7-2 0,5 1 0,21-1 0,11-1 0,1 1 0,-10-1 0,-19 1 0,6 0 0,-5 0-971,2 0 1,12-2-1,-2 1 1,-19 1 970,16 1 0,-19-6 1125,7 4-1125,-7-4 652,0-1-652,-3 6 0,1-5 0,-7-1 2036,15 6-2036,-6-6 0,9 1 0,0 4 0,10-12 0,-8 12 0,8-5 0,-10 0 0,-1 5 0,1-5 0,0 0 0,-9 6 0,7-6 69,-16 1-69,7 4 0,-10-4 0,1-1 0,0 6 0,0-6 0,-8 7 0,6-6 0,-14 5 0,14-6 0,-14 1 0,14 5 0,-6-5 0,0 6 0,6 0 0,-14 0 0,14 0 0,-14 0 0,6 0 0,-8 0 0,0 0 0,0 0 0,-6 0 0,4 0 0,-11 0 0,11 0 0,-11 0 0,11 0 0,-4 0 0,-1 0 0,5 0 0,-4 0 0,6 0 0,-7 0 0,6 0 0,-6 0 0,0 0 0,6 0 0,-13 0 0,13 0 0,-13 0 0,13 0 0,-13 0 0,13 0 0,-13 0 0,13 0 0,-13 0 0,6 0 0,-7 0 0,-1 0 0,1 0 0,-6 0 0,5 0 0,-11 0 0,4 0 0,-5 0 0,0 0 0,-5 5 0,-1 0 0,-5 0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3T10:55:32.345"/>
    </inkml:context>
    <inkml:brush xml:id="br0">
      <inkml:brushProperty name="width" value="0.025" units="cm"/>
      <inkml:brushProperty name="height" value="0.025" units="cm"/>
      <inkml:brushProperty name="color" value="#FFFFFF"/>
    </inkml:brush>
  </inkml:definitions>
  <inkml:trace contextRef="#ctx0" brushRef="#br0">1 264 24575,'41'0'0,"-4"0"0,36 0 0,-10 0 0,24 0-597,-33 0 1,2 0 596,39 0 0,-30 0 0,3 0 0,-6 0 0,1 0-587,5 0 1,2 0 586,6 0 0,-1 0 0,-6 0 0,1 0 0,3 0 0,1 0 0,-4 0 0,-1 0 0,-5 0 0,-1 0 0,-7 0 0,1 0 0,17 0 0,-2 0-864,20 0 864,-13 0 0,0 0 0,-27 0 0,-1 0 0,23 0 0,1 0 0,-25 0 0,0 0 0,16 0 0,-2 0 0,28 0 0,-42 0 0,1 0 0,4 0 0,0 0-411,44 0 411,0 0 0,-10 0 0,8 0 0,-18 0 0,8 0 0,0 0 0,-8 0 0,8 0 0,-10-7 0,0-1 754,-9-7-754,6 7 0,-6-6 0,9 6 0,-9-1 0,7-4 1422,-16 5-1422,15-8 952,-15 8-952,16-5 488,-16 5-488,16-1 25,-16-3-25,16 3 0,-16-5 0,15 6 0,-15-5 0,16 4 0,-16 1 0,7-5 0,-9 12 0,-1-6 0,1 1 0,0 5 0,0-6 0,-8 7 0,-2 0 0,-15 0 0,6 0 0,-13-5 0,13 4 0,-13-5 0,13 6 0,-13 0 0,6 0 0,0 0 0,-6 0 0,6 0 0,-8 0 0,1 0 0,0 0 0,-6 0 0,4 0 0,-9 0 0,3 0 0,1 0 0,-5 0 0,10 0 0,-10 0 0,11 0 0,-5 0 0,6 0 0,-1 0 0,1 0 0,0 0 0,-6 0 0,4 0 0,-10 5 0,5-4 0,0 4 0,-5 0 0,4-4 0,-5 4 0,0-5 0,0 0 0,-1 0 0,-13-5 0,5 4 0,-11-3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F3EF2E-CDEA-2943-BB0D-9AE32E60F02C}" type="datetimeFigureOut">
              <a:rPr lang="en-EG" smtClean="0"/>
              <a:t>10/01/2025</a:t>
            </a:fld>
            <a:endParaRPr lang="en-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6B3FA-942E-F641-BC3B-8E5F478100FC}" type="slidenum">
              <a:rPr lang="en-EG" smtClean="0"/>
              <a:t>‹#›</a:t>
            </a:fld>
            <a:endParaRPr lang="en-EG"/>
          </a:p>
        </p:txBody>
      </p:sp>
    </p:spTree>
    <p:extLst>
      <p:ext uri="{BB962C8B-B14F-4D97-AF65-F5344CB8AC3E}">
        <p14:creationId xmlns:p14="http://schemas.microsoft.com/office/powerpoint/2010/main" val="3454016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D186B3FA-942E-F641-BC3B-8E5F478100FC}" type="slidenum">
              <a:rPr lang="en-EG" smtClean="0"/>
              <a:t>36</a:t>
            </a:fld>
            <a:endParaRPr lang="en-EG"/>
          </a:p>
        </p:txBody>
      </p:sp>
    </p:spTree>
    <p:extLst>
      <p:ext uri="{BB962C8B-B14F-4D97-AF65-F5344CB8AC3E}">
        <p14:creationId xmlns:p14="http://schemas.microsoft.com/office/powerpoint/2010/main" val="3466772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G" dirty="0"/>
          </a:p>
        </p:txBody>
      </p:sp>
      <p:sp>
        <p:nvSpPr>
          <p:cNvPr id="4" name="Slide Number Placeholder 3"/>
          <p:cNvSpPr>
            <a:spLocks noGrp="1"/>
          </p:cNvSpPr>
          <p:nvPr>
            <p:ph type="sldNum" sz="quarter" idx="5"/>
          </p:nvPr>
        </p:nvSpPr>
        <p:spPr/>
        <p:txBody>
          <a:bodyPr/>
          <a:lstStyle/>
          <a:p>
            <a:fld id="{D186B3FA-942E-F641-BC3B-8E5F478100FC}" type="slidenum">
              <a:rPr lang="en-EG" smtClean="0"/>
              <a:t>37</a:t>
            </a:fld>
            <a:endParaRPr lang="en-EG"/>
          </a:p>
        </p:txBody>
      </p:sp>
    </p:spTree>
    <p:extLst>
      <p:ext uri="{BB962C8B-B14F-4D97-AF65-F5344CB8AC3E}">
        <p14:creationId xmlns:p14="http://schemas.microsoft.com/office/powerpoint/2010/main" val="2751714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86C27-AFF8-FE4B-95D6-9F8D744A67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EG"/>
          </a:p>
        </p:txBody>
      </p:sp>
      <p:sp>
        <p:nvSpPr>
          <p:cNvPr id="3" name="Subtitle 2">
            <a:extLst>
              <a:ext uri="{FF2B5EF4-FFF2-40B4-BE49-F238E27FC236}">
                <a16:creationId xmlns:a16="http://schemas.microsoft.com/office/drawing/2014/main" id="{7F0CB71E-E47C-5942-A443-CF84B02239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EG"/>
          </a:p>
        </p:txBody>
      </p:sp>
      <p:sp>
        <p:nvSpPr>
          <p:cNvPr id="4" name="Date Placeholder 3">
            <a:extLst>
              <a:ext uri="{FF2B5EF4-FFF2-40B4-BE49-F238E27FC236}">
                <a16:creationId xmlns:a16="http://schemas.microsoft.com/office/drawing/2014/main" id="{8F8953A6-389B-A146-AA58-5E85976AB49F}"/>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5" name="Footer Placeholder 4">
            <a:extLst>
              <a:ext uri="{FF2B5EF4-FFF2-40B4-BE49-F238E27FC236}">
                <a16:creationId xmlns:a16="http://schemas.microsoft.com/office/drawing/2014/main" id="{B4CF97CD-F859-484D-8D6C-93647860C46F}"/>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DB3F3F3F-9AA2-3E43-8EA4-F09EC464E9B6}"/>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2824372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ACFCE-AACB-C445-AF9F-36D2CB227AA2}"/>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8C90116B-6FC6-E34A-B71D-278FE308C0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34AAD18D-A1E1-9E4E-B6C3-2FAD26DDC92C}"/>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5" name="Footer Placeholder 4">
            <a:extLst>
              <a:ext uri="{FF2B5EF4-FFF2-40B4-BE49-F238E27FC236}">
                <a16:creationId xmlns:a16="http://schemas.microsoft.com/office/drawing/2014/main" id="{30BDE029-251A-EE4D-84DC-70D9A23368F4}"/>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C4009A20-5E25-1041-8525-D950168C4720}"/>
              </a:ext>
            </a:extLst>
          </p:cNvPr>
          <p:cNvSpPr>
            <a:spLocks noGrp="1"/>
          </p:cNvSpPr>
          <p:nvPr>
            <p:ph type="sldNum" sz="quarter" idx="12"/>
          </p:nvPr>
        </p:nvSpPr>
        <p:spPr/>
        <p:txBody>
          <a:bodyPr/>
          <a:lstStyle/>
          <a:p>
            <a:fld id="{DBD2BDD1-618E-214E-820E-BC0D40B5EA91}" type="slidenum">
              <a:rPr lang="en-EG" smtClean="0"/>
              <a:t>‹#›</a:t>
            </a:fld>
            <a:endParaRPr lang="en-EG"/>
          </a:p>
        </p:txBody>
      </p:sp>
      <p:pic>
        <p:nvPicPr>
          <p:cNvPr id="7" name="Picture 6">
            <a:extLst>
              <a:ext uri="{FF2B5EF4-FFF2-40B4-BE49-F238E27FC236}">
                <a16:creationId xmlns:a16="http://schemas.microsoft.com/office/drawing/2014/main" id="{EFAA693E-F1D9-E541-B60B-3D782CF06FFF}"/>
              </a:ext>
            </a:extLst>
          </p:cNvPr>
          <p:cNvPicPr>
            <a:picLocks noChangeAspect="1"/>
          </p:cNvPicPr>
          <p:nvPr userDrawn="1"/>
        </p:nvPicPr>
        <p:blipFill>
          <a:blip r:embed="rId2"/>
          <a:stretch>
            <a:fillRect/>
          </a:stretch>
        </p:blipFill>
        <p:spPr>
          <a:xfrm>
            <a:off x="10998857" y="61564"/>
            <a:ext cx="887686" cy="966342"/>
          </a:xfrm>
          <a:prstGeom prst="rect">
            <a:avLst/>
          </a:prstGeom>
        </p:spPr>
      </p:pic>
    </p:spTree>
    <p:extLst>
      <p:ext uri="{BB962C8B-B14F-4D97-AF65-F5344CB8AC3E}">
        <p14:creationId xmlns:p14="http://schemas.microsoft.com/office/powerpoint/2010/main" val="2553704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8982F-BDAB-9C48-A00E-6B3ED53D29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EG"/>
          </a:p>
        </p:txBody>
      </p:sp>
      <p:sp>
        <p:nvSpPr>
          <p:cNvPr id="3" name="Text Placeholder 2">
            <a:extLst>
              <a:ext uri="{FF2B5EF4-FFF2-40B4-BE49-F238E27FC236}">
                <a16:creationId xmlns:a16="http://schemas.microsoft.com/office/drawing/2014/main" id="{C99A397A-A7D1-1342-AF75-2232140E6C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93F332-BE5E-5F4B-AF12-263442C798A5}"/>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5" name="Footer Placeholder 4">
            <a:extLst>
              <a:ext uri="{FF2B5EF4-FFF2-40B4-BE49-F238E27FC236}">
                <a16:creationId xmlns:a16="http://schemas.microsoft.com/office/drawing/2014/main" id="{F1B0E956-E38A-DF48-AFF7-B412F4C7E7D3}"/>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A98D3143-05B1-0142-B4FF-D1F94D9B41C9}"/>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2048029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F6590-2665-D341-B5E5-8C3569507949}"/>
              </a:ext>
            </a:extLst>
          </p:cNvPr>
          <p:cNvSpPr>
            <a:spLocks noGrp="1"/>
          </p:cNvSpPr>
          <p:nvPr>
            <p:ph type="title"/>
          </p:nvPr>
        </p:nvSpPr>
        <p:spPr/>
        <p:txBody>
          <a:bodyPr/>
          <a:lstStyle/>
          <a:p>
            <a:r>
              <a:rPr lang="en-US"/>
              <a:t>Click to edit Master title style</a:t>
            </a:r>
            <a:endParaRPr lang="en-EG"/>
          </a:p>
        </p:txBody>
      </p:sp>
      <p:sp>
        <p:nvSpPr>
          <p:cNvPr id="3" name="Content Placeholder 2">
            <a:extLst>
              <a:ext uri="{FF2B5EF4-FFF2-40B4-BE49-F238E27FC236}">
                <a16:creationId xmlns:a16="http://schemas.microsoft.com/office/drawing/2014/main" id="{7EBEBA1C-A1D0-6B4D-95C5-043BBDCFF0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Content Placeholder 3">
            <a:extLst>
              <a:ext uri="{FF2B5EF4-FFF2-40B4-BE49-F238E27FC236}">
                <a16:creationId xmlns:a16="http://schemas.microsoft.com/office/drawing/2014/main" id="{8E91844B-1B60-3441-8A40-85D61B9464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Date Placeholder 4">
            <a:extLst>
              <a:ext uri="{FF2B5EF4-FFF2-40B4-BE49-F238E27FC236}">
                <a16:creationId xmlns:a16="http://schemas.microsoft.com/office/drawing/2014/main" id="{AAE40F7C-999E-DF45-A120-BAAF8AD6FE2F}"/>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6" name="Footer Placeholder 5">
            <a:extLst>
              <a:ext uri="{FF2B5EF4-FFF2-40B4-BE49-F238E27FC236}">
                <a16:creationId xmlns:a16="http://schemas.microsoft.com/office/drawing/2014/main" id="{EDEE3B13-8920-D041-B742-5EF4F4DAC6A7}"/>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6D4426D0-A3C8-AB42-9B03-4AD0DF2B0066}"/>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1029632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9B756-8E84-0B45-9B05-7FF41C114B06}"/>
              </a:ext>
            </a:extLst>
          </p:cNvPr>
          <p:cNvSpPr>
            <a:spLocks noGrp="1"/>
          </p:cNvSpPr>
          <p:nvPr>
            <p:ph type="title"/>
          </p:nvPr>
        </p:nvSpPr>
        <p:spPr>
          <a:xfrm>
            <a:off x="839788" y="365125"/>
            <a:ext cx="10515600" cy="1325563"/>
          </a:xfrm>
        </p:spPr>
        <p:txBody>
          <a:bodyPr/>
          <a:lstStyle/>
          <a:p>
            <a:r>
              <a:rPr lang="en-US"/>
              <a:t>Click to edit Master title style</a:t>
            </a:r>
            <a:endParaRPr lang="en-EG"/>
          </a:p>
        </p:txBody>
      </p:sp>
      <p:sp>
        <p:nvSpPr>
          <p:cNvPr id="3" name="Text Placeholder 2">
            <a:extLst>
              <a:ext uri="{FF2B5EF4-FFF2-40B4-BE49-F238E27FC236}">
                <a16:creationId xmlns:a16="http://schemas.microsoft.com/office/drawing/2014/main" id="{281C4A11-DFF0-B840-9B84-1136C01B41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865125-671D-F443-80B8-56AD024924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5" name="Text Placeholder 4">
            <a:extLst>
              <a:ext uri="{FF2B5EF4-FFF2-40B4-BE49-F238E27FC236}">
                <a16:creationId xmlns:a16="http://schemas.microsoft.com/office/drawing/2014/main" id="{AAC50391-18C9-B542-9212-6EA3E04674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EE5DB4-EEA8-8346-9F09-3D698F5E21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7" name="Date Placeholder 6">
            <a:extLst>
              <a:ext uri="{FF2B5EF4-FFF2-40B4-BE49-F238E27FC236}">
                <a16:creationId xmlns:a16="http://schemas.microsoft.com/office/drawing/2014/main" id="{091D98B2-DAC7-1A45-AB30-3C19D959B2CC}"/>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8" name="Footer Placeholder 7">
            <a:extLst>
              <a:ext uri="{FF2B5EF4-FFF2-40B4-BE49-F238E27FC236}">
                <a16:creationId xmlns:a16="http://schemas.microsoft.com/office/drawing/2014/main" id="{2527F37B-67DC-9E4F-A386-1D03F5F7AE94}"/>
              </a:ext>
            </a:extLst>
          </p:cNvPr>
          <p:cNvSpPr>
            <a:spLocks noGrp="1"/>
          </p:cNvSpPr>
          <p:nvPr>
            <p:ph type="ftr" sz="quarter" idx="11"/>
          </p:nvPr>
        </p:nvSpPr>
        <p:spPr/>
        <p:txBody>
          <a:bodyPr/>
          <a:lstStyle/>
          <a:p>
            <a:endParaRPr lang="en-EG"/>
          </a:p>
        </p:txBody>
      </p:sp>
      <p:sp>
        <p:nvSpPr>
          <p:cNvPr id="9" name="Slide Number Placeholder 8">
            <a:extLst>
              <a:ext uri="{FF2B5EF4-FFF2-40B4-BE49-F238E27FC236}">
                <a16:creationId xmlns:a16="http://schemas.microsoft.com/office/drawing/2014/main" id="{EB0AE2CC-5083-1347-B33C-96A8CF4AB2BD}"/>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2654813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DC6DC-F0BA-6046-A75B-1F6B3A7044F7}"/>
              </a:ext>
            </a:extLst>
          </p:cNvPr>
          <p:cNvSpPr>
            <a:spLocks noGrp="1"/>
          </p:cNvSpPr>
          <p:nvPr>
            <p:ph type="title"/>
          </p:nvPr>
        </p:nvSpPr>
        <p:spPr/>
        <p:txBody>
          <a:bodyPr/>
          <a:lstStyle/>
          <a:p>
            <a:r>
              <a:rPr lang="en-US"/>
              <a:t>Click to edit Master title style</a:t>
            </a:r>
            <a:endParaRPr lang="en-EG"/>
          </a:p>
        </p:txBody>
      </p:sp>
      <p:sp>
        <p:nvSpPr>
          <p:cNvPr id="3" name="Date Placeholder 2">
            <a:extLst>
              <a:ext uri="{FF2B5EF4-FFF2-40B4-BE49-F238E27FC236}">
                <a16:creationId xmlns:a16="http://schemas.microsoft.com/office/drawing/2014/main" id="{AFA65AD1-5C2C-9E41-80A2-0A3614E944B6}"/>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4" name="Footer Placeholder 3">
            <a:extLst>
              <a:ext uri="{FF2B5EF4-FFF2-40B4-BE49-F238E27FC236}">
                <a16:creationId xmlns:a16="http://schemas.microsoft.com/office/drawing/2014/main" id="{0B7A8065-8898-3C40-B4D0-D64CACC22796}"/>
              </a:ext>
            </a:extLst>
          </p:cNvPr>
          <p:cNvSpPr>
            <a:spLocks noGrp="1"/>
          </p:cNvSpPr>
          <p:nvPr>
            <p:ph type="ftr" sz="quarter" idx="11"/>
          </p:nvPr>
        </p:nvSpPr>
        <p:spPr/>
        <p:txBody>
          <a:bodyPr/>
          <a:lstStyle/>
          <a:p>
            <a:endParaRPr lang="en-EG"/>
          </a:p>
        </p:txBody>
      </p:sp>
      <p:sp>
        <p:nvSpPr>
          <p:cNvPr id="5" name="Slide Number Placeholder 4">
            <a:extLst>
              <a:ext uri="{FF2B5EF4-FFF2-40B4-BE49-F238E27FC236}">
                <a16:creationId xmlns:a16="http://schemas.microsoft.com/office/drawing/2014/main" id="{54323F2D-ED50-564C-9F66-5EB342D1BC60}"/>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3163070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B0C9F5-B863-3348-B097-F964A72F09FB}"/>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3" name="Footer Placeholder 2">
            <a:extLst>
              <a:ext uri="{FF2B5EF4-FFF2-40B4-BE49-F238E27FC236}">
                <a16:creationId xmlns:a16="http://schemas.microsoft.com/office/drawing/2014/main" id="{0B33F5CF-8DF5-C44F-90DC-1B2E95CED351}"/>
              </a:ext>
            </a:extLst>
          </p:cNvPr>
          <p:cNvSpPr>
            <a:spLocks noGrp="1"/>
          </p:cNvSpPr>
          <p:nvPr>
            <p:ph type="ftr" sz="quarter" idx="11"/>
          </p:nvPr>
        </p:nvSpPr>
        <p:spPr/>
        <p:txBody>
          <a:bodyPr/>
          <a:lstStyle/>
          <a:p>
            <a:endParaRPr lang="en-EG"/>
          </a:p>
        </p:txBody>
      </p:sp>
      <p:sp>
        <p:nvSpPr>
          <p:cNvPr id="4" name="Slide Number Placeholder 3">
            <a:extLst>
              <a:ext uri="{FF2B5EF4-FFF2-40B4-BE49-F238E27FC236}">
                <a16:creationId xmlns:a16="http://schemas.microsoft.com/office/drawing/2014/main" id="{8E15FDBD-263C-6245-B79D-A02308E15AC0}"/>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2121461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ED22A-1B62-7F47-8661-946966FAD1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Content Placeholder 2">
            <a:extLst>
              <a:ext uri="{FF2B5EF4-FFF2-40B4-BE49-F238E27FC236}">
                <a16:creationId xmlns:a16="http://schemas.microsoft.com/office/drawing/2014/main" id="{0C2DA7A4-E80E-1D45-8312-88AF91D0ED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Text Placeholder 3">
            <a:extLst>
              <a:ext uri="{FF2B5EF4-FFF2-40B4-BE49-F238E27FC236}">
                <a16:creationId xmlns:a16="http://schemas.microsoft.com/office/drawing/2014/main" id="{87515623-5F68-B54A-BED5-5889958DB9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957FB6-4047-0C4D-8A74-B8E3CFE64F5E}"/>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6" name="Footer Placeholder 5">
            <a:extLst>
              <a:ext uri="{FF2B5EF4-FFF2-40B4-BE49-F238E27FC236}">
                <a16:creationId xmlns:a16="http://schemas.microsoft.com/office/drawing/2014/main" id="{393269F5-1AE8-A047-B954-C76FCAFD6C9F}"/>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D2C588FC-DCDD-BB4C-A374-866AF42BE9DD}"/>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3807036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AE994-5FD1-D34C-B1D7-18555636C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EG"/>
          </a:p>
        </p:txBody>
      </p:sp>
      <p:sp>
        <p:nvSpPr>
          <p:cNvPr id="3" name="Picture Placeholder 2">
            <a:extLst>
              <a:ext uri="{FF2B5EF4-FFF2-40B4-BE49-F238E27FC236}">
                <a16:creationId xmlns:a16="http://schemas.microsoft.com/office/drawing/2014/main" id="{4F4EDD8F-8897-C14D-8F4E-FDBE74FC27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G"/>
          </a:p>
        </p:txBody>
      </p:sp>
      <p:sp>
        <p:nvSpPr>
          <p:cNvPr id="4" name="Text Placeholder 3">
            <a:extLst>
              <a:ext uri="{FF2B5EF4-FFF2-40B4-BE49-F238E27FC236}">
                <a16:creationId xmlns:a16="http://schemas.microsoft.com/office/drawing/2014/main" id="{F6205E70-2301-044F-A4E8-D59918A8D6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769AA3-F625-C14B-BF12-2D122E73D0F0}"/>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6" name="Footer Placeholder 5">
            <a:extLst>
              <a:ext uri="{FF2B5EF4-FFF2-40B4-BE49-F238E27FC236}">
                <a16:creationId xmlns:a16="http://schemas.microsoft.com/office/drawing/2014/main" id="{9BA5477A-DB76-9F41-BB33-CAFE5D7B89A7}"/>
              </a:ext>
            </a:extLst>
          </p:cNvPr>
          <p:cNvSpPr>
            <a:spLocks noGrp="1"/>
          </p:cNvSpPr>
          <p:nvPr>
            <p:ph type="ftr" sz="quarter" idx="11"/>
          </p:nvPr>
        </p:nvSpPr>
        <p:spPr/>
        <p:txBody>
          <a:bodyPr/>
          <a:lstStyle/>
          <a:p>
            <a:endParaRPr lang="en-EG"/>
          </a:p>
        </p:txBody>
      </p:sp>
      <p:sp>
        <p:nvSpPr>
          <p:cNvPr id="7" name="Slide Number Placeholder 6">
            <a:extLst>
              <a:ext uri="{FF2B5EF4-FFF2-40B4-BE49-F238E27FC236}">
                <a16:creationId xmlns:a16="http://schemas.microsoft.com/office/drawing/2014/main" id="{7D860DAE-77C6-8547-9E40-EACBA9DA682F}"/>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2095103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BE5E1-C48C-C849-A88D-B41EEB741A11}"/>
              </a:ext>
            </a:extLst>
          </p:cNvPr>
          <p:cNvSpPr>
            <a:spLocks noGrp="1"/>
          </p:cNvSpPr>
          <p:nvPr>
            <p:ph type="title"/>
          </p:nvPr>
        </p:nvSpPr>
        <p:spPr/>
        <p:txBody>
          <a:bodyPr/>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50D3957B-93B0-7947-9676-4982D25018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7ADDB290-421E-8D41-B788-7A253E8CBC9A}"/>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5" name="Footer Placeholder 4">
            <a:extLst>
              <a:ext uri="{FF2B5EF4-FFF2-40B4-BE49-F238E27FC236}">
                <a16:creationId xmlns:a16="http://schemas.microsoft.com/office/drawing/2014/main" id="{46953358-C39D-0D4D-A4A4-5AB51915EF59}"/>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BBD582CE-8240-1E47-8B20-03267CE6EF19}"/>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2747567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706E0B-0344-8E45-9809-9FBAC6F022C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EG"/>
          </a:p>
        </p:txBody>
      </p:sp>
      <p:sp>
        <p:nvSpPr>
          <p:cNvPr id="3" name="Vertical Text Placeholder 2">
            <a:extLst>
              <a:ext uri="{FF2B5EF4-FFF2-40B4-BE49-F238E27FC236}">
                <a16:creationId xmlns:a16="http://schemas.microsoft.com/office/drawing/2014/main" id="{B08120D4-2C3F-C247-A37D-A9E301B11E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E41D5AB6-9CD4-AF4E-AED7-35080CBBE050}"/>
              </a:ext>
            </a:extLst>
          </p:cNvPr>
          <p:cNvSpPr>
            <a:spLocks noGrp="1"/>
          </p:cNvSpPr>
          <p:nvPr>
            <p:ph type="dt" sz="half" idx="10"/>
          </p:nvPr>
        </p:nvSpPr>
        <p:spPr/>
        <p:txBody>
          <a:bodyPr/>
          <a:lstStyle/>
          <a:p>
            <a:fld id="{B30DDB10-AEDE-7F40-8B2C-BB4EB3EB41A7}" type="datetimeFigureOut">
              <a:rPr lang="en-EG" smtClean="0"/>
              <a:t>10/01/2025</a:t>
            </a:fld>
            <a:endParaRPr lang="en-EG"/>
          </a:p>
        </p:txBody>
      </p:sp>
      <p:sp>
        <p:nvSpPr>
          <p:cNvPr id="5" name="Footer Placeholder 4">
            <a:extLst>
              <a:ext uri="{FF2B5EF4-FFF2-40B4-BE49-F238E27FC236}">
                <a16:creationId xmlns:a16="http://schemas.microsoft.com/office/drawing/2014/main" id="{A5616E1E-0A7A-6645-B280-B16F9EBF4728}"/>
              </a:ext>
            </a:extLst>
          </p:cNvPr>
          <p:cNvSpPr>
            <a:spLocks noGrp="1"/>
          </p:cNvSpPr>
          <p:nvPr>
            <p:ph type="ftr" sz="quarter" idx="11"/>
          </p:nvPr>
        </p:nvSpPr>
        <p:spPr/>
        <p:txBody>
          <a:bodyPr/>
          <a:lstStyle/>
          <a:p>
            <a:endParaRPr lang="en-EG"/>
          </a:p>
        </p:txBody>
      </p:sp>
      <p:sp>
        <p:nvSpPr>
          <p:cNvPr id="6" name="Slide Number Placeholder 5">
            <a:extLst>
              <a:ext uri="{FF2B5EF4-FFF2-40B4-BE49-F238E27FC236}">
                <a16:creationId xmlns:a16="http://schemas.microsoft.com/office/drawing/2014/main" id="{C9CC7B21-8CC4-9E41-AFEC-BD504B495EF3}"/>
              </a:ext>
            </a:extLst>
          </p:cNvPr>
          <p:cNvSpPr>
            <a:spLocks noGrp="1"/>
          </p:cNvSpPr>
          <p:nvPr>
            <p:ph type="sldNum" sz="quarter" idx="12"/>
          </p:nvPr>
        </p:nvSpPr>
        <p:spPr/>
        <p:txBody>
          <a:bodyPr/>
          <a:lstStyle/>
          <a:p>
            <a:fld id="{DBD2BDD1-618E-214E-820E-BC0D40B5EA91}" type="slidenum">
              <a:rPr lang="en-EG" smtClean="0"/>
              <a:t>‹#›</a:t>
            </a:fld>
            <a:endParaRPr lang="en-EG"/>
          </a:p>
        </p:txBody>
      </p:sp>
    </p:spTree>
    <p:extLst>
      <p:ext uri="{BB962C8B-B14F-4D97-AF65-F5344CB8AC3E}">
        <p14:creationId xmlns:p14="http://schemas.microsoft.com/office/powerpoint/2010/main" val="310184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5AD77B-2E8D-F94A-A3B2-4CA3848F71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EG"/>
          </a:p>
        </p:txBody>
      </p:sp>
      <p:sp>
        <p:nvSpPr>
          <p:cNvPr id="3" name="Text Placeholder 2">
            <a:extLst>
              <a:ext uri="{FF2B5EF4-FFF2-40B4-BE49-F238E27FC236}">
                <a16:creationId xmlns:a16="http://schemas.microsoft.com/office/drawing/2014/main" id="{CD6056C9-D108-6F4B-88E0-5D37F14905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EG"/>
          </a:p>
        </p:txBody>
      </p:sp>
      <p:sp>
        <p:nvSpPr>
          <p:cNvPr id="4" name="Date Placeholder 3">
            <a:extLst>
              <a:ext uri="{FF2B5EF4-FFF2-40B4-BE49-F238E27FC236}">
                <a16:creationId xmlns:a16="http://schemas.microsoft.com/office/drawing/2014/main" id="{90E36614-B106-E44C-A231-BA6420CB6C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0DDB10-AEDE-7F40-8B2C-BB4EB3EB41A7}" type="datetimeFigureOut">
              <a:rPr lang="en-EG" smtClean="0"/>
              <a:t>10/01/2025</a:t>
            </a:fld>
            <a:endParaRPr lang="en-EG"/>
          </a:p>
        </p:txBody>
      </p:sp>
      <p:sp>
        <p:nvSpPr>
          <p:cNvPr id="5" name="Footer Placeholder 4">
            <a:extLst>
              <a:ext uri="{FF2B5EF4-FFF2-40B4-BE49-F238E27FC236}">
                <a16:creationId xmlns:a16="http://schemas.microsoft.com/office/drawing/2014/main" id="{6FCF6D87-3A41-DD4A-923D-849C8FAC65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EG"/>
          </a:p>
        </p:txBody>
      </p:sp>
      <p:sp>
        <p:nvSpPr>
          <p:cNvPr id="6" name="Slide Number Placeholder 5">
            <a:extLst>
              <a:ext uri="{FF2B5EF4-FFF2-40B4-BE49-F238E27FC236}">
                <a16:creationId xmlns:a16="http://schemas.microsoft.com/office/drawing/2014/main" id="{F8BC8E3C-C6E4-D147-AC27-E404F58E49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2BDD1-618E-214E-820E-BC0D40B5EA91}" type="slidenum">
              <a:rPr lang="en-EG" smtClean="0"/>
              <a:t>‹#›</a:t>
            </a:fld>
            <a:endParaRPr lang="en-EG"/>
          </a:p>
        </p:txBody>
      </p:sp>
    </p:spTree>
    <p:extLst>
      <p:ext uri="{BB962C8B-B14F-4D97-AF65-F5344CB8AC3E}">
        <p14:creationId xmlns:p14="http://schemas.microsoft.com/office/powerpoint/2010/main" val="56358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Layout" Target="../diagrams/layout1.xml"/><Relationship Id="rId7" Type="http://schemas.openxmlformats.org/officeDocument/2006/relationships/image" Target="../media/image1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hyperlink" Target="https://en.wikipedia.org/wiki/Linux" TargetMode="External"/><Relationship Id="rId3" Type="http://schemas.openxmlformats.org/officeDocument/2006/relationships/hyperlink" Target="https://en.wikipedia.org/wiki/Android_(operating_system)" TargetMode="External"/><Relationship Id="rId7" Type="http://schemas.openxmlformats.org/officeDocument/2006/relationships/hyperlink" Target="https://en.wikipedia.org/wiki/MacOS" TargetMode="External"/><Relationship Id="rId2" Type="http://schemas.openxmlformats.org/officeDocument/2006/relationships/hyperlink" Target="https://en.wikipedia.org/wiki/Google" TargetMode="External"/><Relationship Id="rId1" Type="http://schemas.openxmlformats.org/officeDocument/2006/relationships/slideLayout" Target="../slideLayouts/slideLayout2.xml"/><Relationship Id="rId6" Type="http://schemas.openxmlformats.org/officeDocument/2006/relationships/hyperlink" Target="https://en.wikipedia.org/wiki/Windows" TargetMode="External"/><Relationship Id="rId5" Type="http://schemas.openxmlformats.org/officeDocument/2006/relationships/hyperlink" Target="https://en.wikipedia.org/wiki/JetBrains" TargetMode="External"/><Relationship Id="rId10" Type="http://schemas.openxmlformats.org/officeDocument/2006/relationships/image" Target="../media/image13.jpeg"/><Relationship Id="rId4" Type="http://schemas.openxmlformats.org/officeDocument/2006/relationships/hyperlink" Target="https://en.wikipedia.org/wiki/Operating_system" TargetMode="External"/><Relationship Id="rId9" Type="http://schemas.openxmlformats.org/officeDocument/2006/relationships/hyperlink" Target="https://en.wikipedia.org/wiki/Eclipse_(software)#Android_Development_Tools"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eveloper.android.com/reference/android/app/Activity#onStart()" TargetMode="External"/><Relationship Id="rId2" Type="http://schemas.openxmlformats.org/officeDocument/2006/relationships/hyperlink" Target="https://developer.android.com/reference/android/app/Activity#onRestart()" TargetMode="External"/><Relationship Id="rId1" Type="http://schemas.openxmlformats.org/officeDocument/2006/relationships/slideLayout" Target="../slideLayouts/slideLayout2.xml"/><Relationship Id="rId5" Type="http://schemas.openxmlformats.org/officeDocument/2006/relationships/hyperlink" Target="https://developer.android.com/guide/components/activities/activity-lifecycle" TargetMode="External"/><Relationship Id="rId4" Type="http://schemas.openxmlformats.org/officeDocument/2006/relationships/hyperlink" Target="https://developer.android.com/reference/android/app/Activity#onDestroy()"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svg"/></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customXml" Target="../ink/ink1.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hyperlink" Target="https://console.firebase.google.com/"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www.geeksforgeeks.org/firebase/login-and-registration-in-android-using-firebase-in-kotlin/"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www.geeksforgeeks.org/firebase/login-and-registration-in-android-using-firebase-in-kotlin/" TargetMode="External"/><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geeksforgeeks.org/firebase/login-and-registration-in-android-using-firebase-in-kotlin/" TargetMode="External"/><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hyperlink" Target="https://www.geeksforgeeks.org/firebase/login-and-registration-in-android-using-firebase-in-kotlin/"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geeksforgeeks.org/firebase/login-and-registration-in-android-using-firebase-in-kotlin/" TargetMode="External"/><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59.png"/><Relationship Id="rId7" Type="http://schemas.openxmlformats.org/officeDocument/2006/relationships/image" Target="../media/image430.png"/><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420.png"/><Relationship Id="rId9" Type="http://schemas.openxmlformats.org/officeDocument/2006/relationships/image" Target="../media/image60.png"/></Relationships>
</file>

<file path=ppt/slides/_rels/slide5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firebase.google.com/docs/android/setup" TargetMode="External"/><Relationship Id="rId2" Type="http://schemas.openxmlformats.org/officeDocument/2006/relationships/hyperlink" Target="https://developer.android.com/training/basics/intents/sending" TargetMode="External"/><Relationship Id="rId1" Type="http://schemas.openxmlformats.org/officeDocument/2006/relationships/slideLayout" Target="../slideLayouts/slideLayout2.xml"/><Relationship Id="rId5" Type="http://schemas.openxmlformats.org/officeDocument/2006/relationships/hyperlink" Target="https://firebase.google.com/docs/database/android/start" TargetMode="External"/><Relationship Id="rId4" Type="http://schemas.openxmlformats.org/officeDocument/2006/relationships/hyperlink" Target="https://firebase.google.com/docs/auth/android/password-aut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62869-D49E-654D-B415-53B197225E4B}"/>
              </a:ext>
            </a:extLst>
          </p:cNvPr>
          <p:cNvSpPr>
            <a:spLocks noGrp="1"/>
          </p:cNvSpPr>
          <p:nvPr>
            <p:ph type="ctrTitle"/>
          </p:nvPr>
        </p:nvSpPr>
        <p:spPr/>
        <p:txBody>
          <a:bodyPr/>
          <a:lstStyle/>
          <a:p>
            <a:r>
              <a:rPr lang="en" dirty="0"/>
              <a:t>Signaling project description (</a:t>
            </a:r>
            <a:r>
              <a:rPr lang="en-US" b="0" i="0" u="none" strike="noStrike" dirty="0">
                <a:effectLst/>
                <a:latin typeface="Roboto" panose="020B0604020202020204" charset="0"/>
              </a:rPr>
              <a:t>NETW704)</a:t>
            </a:r>
            <a:endParaRPr lang="en-EG" dirty="0"/>
          </a:p>
        </p:txBody>
      </p:sp>
      <p:sp>
        <p:nvSpPr>
          <p:cNvPr id="3" name="Subtitle 2">
            <a:extLst>
              <a:ext uri="{FF2B5EF4-FFF2-40B4-BE49-F238E27FC236}">
                <a16:creationId xmlns:a16="http://schemas.microsoft.com/office/drawing/2014/main" id="{33513232-145C-914C-864C-CF211DFC1A6D}"/>
              </a:ext>
            </a:extLst>
          </p:cNvPr>
          <p:cNvSpPr>
            <a:spLocks noGrp="1"/>
          </p:cNvSpPr>
          <p:nvPr>
            <p:ph type="subTitle" idx="1"/>
          </p:nvPr>
        </p:nvSpPr>
        <p:spPr/>
        <p:txBody>
          <a:bodyPr>
            <a:normAutofit fontScale="92500" lnSpcReduction="20000"/>
          </a:bodyPr>
          <a:lstStyle/>
          <a:p>
            <a:r>
              <a:rPr lang="en-US" dirty="0"/>
              <a:t>Tutorial 1</a:t>
            </a:r>
          </a:p>
          <a:p>
            <a:r>
              <a:rPr lang="en-US" dirty="0"/>
              <a:t>Abdelrahman Darwish</a:t>
            </a:r>
            <a:br>
              <a:rPr lang="en-US" dirty="0"/>
            </a:br>
            <a:r>
              <a:rPr lang="en-US" dirty="0"/>
              <a:t>Email: abdel-rahman.darwish@guc.edu.eg</a:t>
            </a:r>
            <a:br>
              <a:rPr lang="en-US" dirty="0"/>
            </a:br>
            <a:r>
              <a:rPr lang="en-US" dirty="0"/>
              <a:t>Office: C4.228</a:t>
            </a:r>
          </a:p>
          <a:p>
            <a:r>
              <a:rPr lang="en-US" i="1" dirty="0"/>
              <a:t>Slides by: Nahla Afifi</a:t>
            </a:r>
            <a:endParaRPr lang="en-US" dirty="0"/>
          </a:p>
        </p:txBody>
      </p:sp>
      <p:pic>
        <p:nvPicPr>
          <p:cNvPr id="4" name="Picture 3">
            <a:extLst>
              <a:ext uri="{FF2B5EF4-FFF2-40B4-BE49-F238E27FC236}">
                <a16:creationId xmlns:a16="http://schemas.microsoft.com/office/drawing/2014/main" id="{1DB5605A-5C04-2245-B813-12783F44391F}"/>
              </a:ext>
            </a:extLst>
          </p:cNvPr>
          <p:cNvPicPr>
            <a:picLocks noChangeAspect="1"/>
          </p:cNvPicPr>
          <p:nvPr/>
        </p:nvPicPr>
        <p:blipFill rotWithShape="1">
          <a:blip r:embed="rId2">
            <a:extLst>
              <a:ext uri="{28A0092B-C50C-407E-A947-70E740481C1C}">
                <a14:useLocalDpi xmlns:a14="http://schemas.microsoft.com/office/drawing/2010/main" val="0"/>
              </a:ext>
            </a:extLst>
          </a:blip>
          <a:srcRect l="-1698" t="-25035" r="-5159" b="25035"/>
          <a:stretch/>
        </p:blipFill>
        <p:spPr>
          <a:xfrm>
            <a:off x="5080000" y="284024"/>
            <a:ext cx="2032000" cy="838339"/>
          </a:xfrm>
          <a:prstGeom prst="rect">
            <a:avLst/>
          </a:prstGeom>
        </p:spPr>
      </p:pic>
    </p:spTree>
    <p:extLst>
      <p:ext uri="{BB962C8B-B14F-4D97-AF65-F5344CB8AC3E}">
        <p14:creationId xmlns:p14="http://schemas.microsoft.com/office/powerpoint/2010/main" val="2737511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544585" y="71510"/>
            <a:ext cx="10515600" cy="1325563"/>
          </a:xfrm>
          <a:prstGeom prst="rect">
            <a:avLst/>
          </a:prstGeom>
          <a:noFill/>
          <a:ln>
            <a:noFill/>
          </a:ln>
        </p:spPr>
        <p:txBody>
          <a:bodyPr spcFirstLastPara="1" wrap="square" lIns="91425" tIns="45700" rIns="91425" bIns="45700" anchor="ctr" anchorCtr="0">
            <a:normAutofit/>
          </a:bodyPr>
          <a:lstStyle/>
          <a:p>
            <a:pPr>
              <a:spcBef>
                <a:spcPts val="0"/>
              </a:spcBef>
              <a:buClr>
                <a:schemeClr val="dk1"/>
              </a:buClr>
              <a:buSzPts val="4400"/>
            </a:pPr>
            <a:r>
              <a:rPr lang="en-US" dirty="0"/>
              <a:t>Project idea(</a:t>
            </a:r>
            <a:r>
              <a:rPr lang="en-US" b="1" dirty="0"/>
              <a:t>🛒 Application Workflow</a:t>
            </a:r>
            <a:r>
              <a:rPr lang="en-US" dirty="0"/>
              <a:t>)</a:t>
            </a:r>
          </a:p>
        </p:txBody>
      </p:sp>
      <p:sp>
        <p:nvSpPr>
          <p:cNvPr id="97" name="Google Shape;97;p2"/>
          <p:cNvSpPr txBox="1">
            <a:spLocks noGrp="1"/>
          </p:cNvSpPr>
          <p:nvPr>
            <p:ph type="body" idx="1"/>
          </p:nvPr>
        </p:nvSpPr>
        <p:spPr>
          <a:xfrm>
            <a:off x="435528" y="1162895"/>
            <a:ext cx="10515600" cy="4351338"/>
          </a:xfrm>
          <a:prstGeom prst="rect">
            <a:avLst/>
          </a:prstGeom>
          <a:noFill/>
          <a:ln>
            <a:noFill/>
          </a:ln>
        </p:spPr>
        <p:txBody>
          <a:bodyPr spcFirstLastPara="1" wrap="square" lIns="91425" tIns="45700" rIns="91425" bIns="45700" anchor="t" anchorCtr="0">
            <a:noAutofit/>
          </a:bodyPr>
          <a:lstStyle/>
          <a:p>
            <a:pPr marL="0" indent="0">
              <a:buNone/>
            </a:pPr>
            <a:r>
              <a:rPr lang="en-US" sz="1800" b="1" dirty="0"/>
              <a:t>1-User Registration &amp; Login</a:t>
            </a:r>
            <a:endParaRPr lang="en-US" sz="1800" dirty="0"/>
          </a:p>
          <a:p>
            <a:pPr lvl="1"/>
            <a:r>
              <a:rPr lang="en-US" sz="1800" dirty="0"/>
              <a:t>A new user can </a:t>
            </a:r>
            <a:r>
              <a:rPr lang="en-US" sz="1800" b="1" dirty="0"/>
              <a:t>sign up</a:t>
            </a:r>
            <a:r>
              <a:rPr lang="en-US" sz="1800" dirty="0"/>
              <a:t> either as a </a:t>
            </a:r>
            <a:r>
              <a:rPr lang="en-US" sz="1800" b="1" dirty="0"/>
              <a:t>Buyer</a:t>
            </a:r>
            <a:r>
              <a:rPr lang="en-US" sz="1800" dirty="0"/>
              <a:t> or a </a:t>
            </a:r>
            <a:r>
              <a:rPr lang="en-US" sz="1800" b="1" dirty="0"/>
              <a:t>Seller</a:t>
            </a:r>
            <a:r>
              <a:rPr lang="en-US" sz="1800" dirty="0"/>
              <a:t>.</a:t>
            </a:r>
          </a:p>
          <a:p>
            <a:pPr lvl="1"/>
            <a:r>
              <a:rPr lang="en-US" sz="1800" dirty="0"/>
              <a:t>At login, the app verifies the user’s role and redirects them to the correct home screen.</a:t>
            </a:r>
          </a:p>
          <a:p>
            <a:pPr marL="0" indent="0">
              <a:buNone/>
            </a:pPr>
            <a:r>
              <a:rPr lang="en-US" sz="1800" b="1" dirty="0"/>
              <a:t>2- Buyer Role</a:t>
            </a:r>
            <a:endParaRPr lang="en-US" sz="1800" dirty="0"/>
          </a:p>
          <a:p>
            <a:pPr lvl="1"/>
            <a:r>
              <a:rPr lang="en-US" sz="1800" dirty="0"/>
              <a:t>Buyers can:</a:t>
            </a:r>
          </a:p>
          <a:p>
            <a:pPr lvl="2"/>
            <a:r>
              <a:rPr lang="en-US" sz="1800" dirty="0"/>
              <a:t>Open the application and </a:t>
            </a:r>
            <a:r>
              <a:rPr lang="en-US" sz="1800" b="1" dirty="0"/>
              <a:t>browse available shops (sellers)</a:t>
            </a:r>
            <a:r>
              <a:rPr lang="en-US" sz="1800" dirty="0"/>
              <a:t>.</a:t>
            </a:r>
          </a:p>
          <a:p>
            <a:pPr lvl="2"/>
            <a:r>
              <a:rPr lang="en-US" sz="1800" dirty="0"/>
              <a:t>Select a shop to </a:t>
            </a:r>
            <a:r>
              <a:rPr lang="en-US" sz="1800" b="1" dirty="0"/>
              <a:t>view its grocery items</a:t>
            </a:r>
            <a:r>
              <a:rPr lang="en-US" sz="1800" dirty="0"/>
              <a:t> (products).</a:t>
            </a:r>
          </a:p>
          <a:p>
            <a:pPr lvl="2"/>
            <a:r>
              <a:rPr lang="en-US" sz="1800" dirty="0"/>
              <a:t>Add items to their cart and </a:t>
            </a:r>
            <a:r>
              <a:rPr lang="en-US" sz="1800" b="1" dirty="0"/>
              <a:t>place an order ,</a:t>
            </a:r>
            <a:r>
              <a:rPr lang="en-US" sz="1800" dirty="0"/>
              <a:t>The order is then </a:t>
            </a:r>
            <a:r>
              <a:rPr lang="en-US" sz="1800" b="1" dirty="0"/>
              <a:t>sent to the corresponding seller</a:t>
            </a:r>
            <a:r>
              <a:rPr lang="en-US" sz="1800" dirty="0"/>
              <a:t>.</a:t>
            </a:r>
          </a:p>
          <a:p>
            <a:pPr lvl="2"/>
            <a:r>
              <a:rPr lang="en-US" sz="1800" dirty="0"/>
              <a:t>Access a </a:t>
            </a:r>
            <a:r>
              <a:rPr lang="en-US" sz="1800" b="1" dirty="0"/>
              <a:t>profile page</a:t>
            </a:r>
            <a:r>
              <a:rPr lang="en-US" sz="1800" dirty="0"/>
              <a:t> to </a:t>
            </a:r>
            <a:r>
              <a:rPr lang="en-US" sz="1800" b="1" dirty="0"/>
              <a:t>edit their personal information</a:t>
            </a:r>
            <a:r>
              <a:rPr lang="en-US" sz="1800" dirty="0"/>
              <a:t> (e.g., name, email, address, phone).</a:t>
            </a:r>
          </a:p>
          <a:p>
            <a:pPr marL="0" indent="0">
              <a:buNone/>
            </a:pPr>
            <a:r>
              <a:rPr lang="en-US" sz="1800" b="1" dirty="0"/>
              <a:t>3- Seller Role</a:t>
            </a:r>
            <a:endParaRPr lang="en-US" sz="1800" dirty="0"/>
          </a:p>
          <a:p>
            <a:pPr lvl="1"/>
            <a:r>
              <a:rPr lang="en-US" sz="1800" dirty="0"/>
              <a:t>Sellers can:</a:t>
            </a:r>
          </a:p>
          <a:p>
            <a:pPr lvl="2"/>
            <a:r>
              <a:rPr lang="en-US" sz="1800" b="1" dirty="0"/>
              <a:t>Add new grocery items</a:t>
            </a:r>
            <a:r>
              <a:rPr lang="en-US" sz="1800" dirty="0"/>
              <a:t> to their shop.</a:t>
            </a:r>
          </a:p>
          <a:p>
            <a:pPr lvl="2"/>
            <a:r>
              <a:rPr lang="en-US" sz="1800" b="1" dirty="0"/>
              <a:t>Edit or remove existing items</a:t>
            </a:r>
            <a:r>
              <a:rPr lang="en-US" sz="1800" dirty="0"/>
              <a:t>.</a:t>
            </a:r>
          </a:p>
          <a:p>
            <a:pPr lvl="2"/>
            <a:r>
              <a:rPr lang="en-US" sz="1800" b="1" dirty="0"/>
              <a:t>Receive incoming orders</a:t>
            </a:r>
            <a:r>
              <a:rPr lang="en-US" sz="1800" dirty="0"/>
              <a:t> from buyers.</a:t>
            </a:r>
          </a:p>
          <a:p>
            <a:pPr lvl="2"/>
            <a:r>
              <a:rPr lang="en-US" sz="1800" b="1" dirty="0"/>
              <a:t>Accept or reject orders</a:t>
            </a:r>
            <a:r>
              <a:rPr lang="en-US" sz="1800" dirty="0"/>
              <a:t> based on availability or preference.</a:t>
            </a:r>
          </a:p>
          <a:p>
            <a:pPr lvl="2"/>
            <a:r>
              <a:rPr lang="en-US" sz="1800" dirty="0"/>
              <a:t>Access a </a:t>
            </a:r>
            <a:r>
              <a:rPr lang="en-US" sz="1800" b="1" dirty="0"/>
              <a:t>profile page</a:t>
            </a:r>
            <a:r>
              <a:rPr lang="en-US" sz="1800" dirty="0"/>
              <a:t> to </a:t>
            </a:r>
            <a:r>
              <a:rPr lang="en-US" sz="1800" b="1" dirty="0"/>
              <a:t>edit their shop details and personal information</a:t>
            </a:r>
            <a:r>
              <a:rPr lang="en-US" sz="18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67013-B5AD-A84D-B975-EF7144679AD5}"/>
              </a:ext>
            </a:extLst>
          </p:cNvPr>
          <p:cNvSpPr>
            <a:spLocks noGrp="1"/>
          </p:cNvSpPr>
          <p:nvPr>
            <p:ph type="title"/>
          </p:nvPr>
        </p:nvSpPr>
        <p:spPr>
          <a:xfrm>
            <a:off x="838200" y="365125"/>
            <a:ext cx="8334682" cy="1171687"/>
          </a:xfrm>
        </p:spPr>
        <p:txBody>
          <a:bodyPr/>
          <a:lstStyle/>
          <a:p>
            <a:r>
              <a:rPr lang="en-EG" dirty="0"/>
              <a:t>Objectives</a:t>
            </a:r>
          </a:p>
        </p:txBody>
      </p:sp>
      <p:graphicFrame>
        <p:nvGraphicFramePr>
          <p:cNvPr id="7" name="Content Placeholder 2">
            <a:extLst>
              <a:ext uri="{FF2B5EF4-FFF2-40B4-BE49-F238E27FC236}">
                <a16:creationId xmlns:a16="http://schemas.microsoft.com/office/drawing/2014/main" id="{D5809A0E-0FDC-4065-A975-568C6299DBF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8" name="Picture 4" descr="Découvrez les fonctionnalités clés d'Amazon S3">
            <a:extLst>
              <a:ext uri="{FF2B5EF4-FFF2-40B4-BE49-F238E27FC236}">
                <a16:creationId xmlns:a16="http://schemas.microsoft.com/office/drawing/2014/main" id="{2450D7C4-C4F8-25DB-5362-82F6CBDB4C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8506" y="4258627"/>
            <a:ext cx="3376142" cy="2163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rebase Brand Guidelines">
            <a:extLst>
              <a:ext uri="{FF2B5EF4-FFF2-40B4-BE49-F238E27FC236}">
                <a16:creationId xmlns:a16="http://schemas.microsoft.com/office/drawing/2014/main" id="{5FA98FFA-0D58-1B61-91A3-B254A22567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792" y="4013201"/>
            <a:ext cx="2163762" cy="21637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ndroid Studio | Android Wiki | Fandom">
            <a:extLst>
              <a:ext uri="{FF2B5EF4-FFF2-40B4-BE49-F238E27FC236}">
                <a16:creationId xmlns:a16="http://schemas.microsoft.com/office/drawing/2014/main" id="{AB6E4118-CDB4-4112-B428-6BD0DF33CED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2065867"/>
            <a:ext cx="1707092" cy="1707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6970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05BA41-EE6E-4F80-8636-447F22DD7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1C0133-4DDC-754D-BE84-B920013FFB28}"/>
              </a:ext>
            </a:extLst>
          </p:cNvPr>
          <p:cNvSpPr>
            <a:spLocks noGrp="1"/>
          </p:cNvSpPr>
          <p:nvPr>
            <p:ph type="ctrTitle"/>
          </p:nvPr>
        </p:nvSpPr>
        <p:spPr>
          <a:xfrm>
            <a:off x="1848465" y="3298722"/>
            <a:ext cx="8495070" cy="1784402"/>
          </a:xfrm>
        </p:spPr>
        <p:txBody>
          <a:bodyPr anchor="b">
            <a:normAutofit/>
          </a:bodyPr>
          <a:lstStyle/>
          <a:p>
            <a:r>
              <a:rPr lang="en-EG" dirty="0">
                <a:solidFill>
                  <a:srgbClr val="FFFFFF"/>
                </a:solidFill>
              </a:rPr>
              <a:t>Introduction to Android Development</a:t>
            </a:r>
          </a:p>
        </p:txBody>
      </p:sp>
      <p:sp>
        <p:nvSpPr>
          <p:cNvPr id="11" name="Oval 10">
            <a:extLst>
              <a:ext uri="{FF2B5EF4-FFF2-40B4-BE49-F238E27FC236}">
                <a16:creationId xmlns:a16="http://schemas.microsoft.com/office/drawing/2014/main" id="{CD7549B2-EE05-4558-8C64-AC46755F2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5914" y="889251"/>
            <a:ext cx="2140172" cy="2140172"/>
          </a:xfrm>
          <a:prstGeom prst="ellipse">
            <a:avLst/>
          </a:prstGeom>
          <a:solidFill>
            <a:srgbClr val="FFFFFF"/>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Smart Phone">
            <a:extLst>
              <a:ext uri="{FF2B5EF4-FFF2-40B4-BE49-F238E27FC236}">
                <a16:creationId xmlns:a16="http://schemas.microsoft.com/office/drawing/2014/main" id="{3507B09A-1B39-49F2-A1A0-F8FE4BE99C6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508264" y="1371601"/>
            <a:ext cx="1175474" cy="1175474"/>
          </a:xfrm>
          <a:prstGeom prst="rect">
            <a:avLst/>
          </a:prstGeom>
        </p:spPr>
      </p:pic>
    </p:spTree>
    <p:extLst>
      <p:ext uri="{BB962C8B-B14F-4D97-AF65-F5344CB8AC3E}">
        <p14:creationId xmlns:p14="http://schemas.microsoft.com/office/powerpoint/2010/main" val="3635107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2EB9B-A5E2-554B-9FFD-28FBC8761EF6}"/>
              </a:ext>
            </a:extLst>
          </p:cNvPr>
          <p:cNvSpPr>
            <a:spLocks noGrp="1"/>
          </p:cNvSpPr>
          <p:nvPr>
            <p:ph type="title"/>
          </p:nvPr>
        </p:nvSpPr>
        <p:spPr>
          <a:xfrm>
            <a:off x="838200" y="365125"/>
            <a:ext cx="10515600" cy="1325563"/>
          </a:xfrm>
        </p:spPr>
        <p:txBody>
          <a:bodyPr>
            <a:normAutofit/>
          </a:bodyPr>
          <a:lstStyle/>
          <a:p>
            <a:r>
              <a:rPr lang="en-EG"/>
              <a:t>Android Studio</a:t>
            </a:r>
          </a:p>
        </p:txBody>
      </p:sp>
      <p:sp>
        <p:nvSpPr>
          <p:cNvPr id="3" name="Content Placeholder 2">
            <a:extLst>
              <a:ext uri="{FF2B5EF4-FFF2-40B4-BE49-F238E27FC236}">
                <a16:creationId xmlns:a16="http://schemas.microsoft.com/office/drawing/2014/main" id="{5A4C4FFD-B489-8243-8F5B-FCE90FC64AEF}"/>
              </a:ext>
            </a:extLst>
          </p:cNvPr>
          <p:cNvSpPr>
            <a:spLocks noGrp="1"/>
          </p:cNvSpPr>
          <p:nvPr>
            <p:ph idx="1"/>
          </p:nvPr>
        </p:nvSpPr>
        <p:spPr>
          <a:xfrm>
            <a:off x="838200" y="1825625"/>
            <a:ext cx="10515600" cy="4351338"/>
          </a:xfrm>
        </p:spPr>
        <p:txBody>
          <a:bodyPr>
            <a:normAutofit/>
          </a:bodyPr>
          <a:lstStyle/>
          <a:p>
            <a:pPr marL="457200" lvl="0" indent="0">
              <a:spcBef>
                <a:spcPts val="1600"/>
              </a:spcBef>
              <a:buNone/>
            </a:pPr>
            <a:r>
              <a:rPr lang="en-US" sz="2000" dirty="0">
                <a:highlight>
                  <a:srgbClr val="FFFFFF"/>
                </a:highlight>
                <a:latin typeface="Times New Roman" panose="02020603050405020304" pitchFamily="18" charset="0"/>
                <a:ea typeface="Arial"/>
                <a:cs typeface="Times New Roman" panose="02020603050405020304" pitchFamily="18" charset="0"/>
                <a:sym typeface="Arial"/>
              </a:rPr>
              <a:t>it is the official integrated development environment (IDE) for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2">
                  <a:extLst>
                    <a:ext uri="{A12FA001-AC4F-418D-AE19-62706E023703}">
                      <ahyp:hlinkClr xmlns:ahyp="http://schemas.microsoft.com/office/drawing/2018/hyperlinkcolor" val="tx"/>
                    </a:ext>
                  </a:extLst>
                </a:hlinkClick>
              </a:rPr>
              <a:t>Google</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's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3">
                  <a:extLst>
                    <a:ext uri="{A12FA001-AC4F-418D-AE19-62706E023703}">
                      <ahyp:hlinkClr xmlns:ahyp="http://schemas.microsoft.com/office/drawing/2018/hyperlinkcolor" val="tx"/>
                    </a:ext>
                  </a:extLst>
                </a:hlinkClick>
              </a:rPr>
              <a:t>Android</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4">
                  <a:extLst>
                    <a:ext uri="{A12FA001-AC4F-418D-AE19-62706E023703}">
                      <ahyp:hlinkClr xmlns:ahyp="http://schemas.microsoft.com/office/drawing/2018/hyperlinkcolor" val="tx"/>
                    </a:ext>
                  </a:extLst>
                </a:hlinkClick>
              </a:rPr>
              <a:t>operating system</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built on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5">
                  <a:extLst>
                    <a:ext uri="{A12FA001-AC4F-418D-AE19-62706E023703}">
                      <ahyp:hlinkClr xmlns:ahyp="http://schemas.microsoft.com/office/drawing/2018/hyperlinkcolor" val="tx"/>
                    </a:ext>
                  </a:extLst>
                </a:hlinkClick>
              </a:rPr>
              <a:t>JetBrains</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IntelliJ IDEA software and designed specifically for Android development. It is available for download on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6">
                  <a:extLst>
                    <a:ext uri="{A12FA001-AC4F-418D-AE19-62706E023703}">
                      <ahyp:hlinkClr xmlns:ahyp="http://schemas.microsoft.com/office/drawing/2018/hyperlinkcolor" val="tx"/>
                    </a:ext>
                  </a:extLst>
                </a:hlinkClick>
              </a:rPr>
              <a:t>Windows</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7">
                  <a:extLst>
                    <a:ext uri="{A12FA001-AC4F-418D-AE19-62706E023703}">
                      <ahyp:hlinkClr xmlns:ahyp="http://schemas.microsoft.com/office/drawing/2018/hyperlinkcolor" val="tx"/>
                    </a:ext>
                  </a:extLst>
                </a:hlinkClick>
              </a:rPr>
              <a:t>macOS</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and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8">
                  <a:extLst>
                    <a:ext uri="{A12FA001-AC4F-418D-AE19-62706E023703}">
                      <ahyp:hlinkClr xmlns:ahyp="http://schemas.microsoft.com/office/drawing/2018/hyperlinkcolor" val="tx"/>
                    </a:ext>
                  </a:extLst>
                </a:hlinkClick>
              </a:rPr>
              <a:t>Linux</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based operating systems or as a subscription-based service in 2020.</a:t>
            </a:r>
            <a:r>
              <a:rPr lang="en-US" sz="2000" baseline="30000" dirty="0">
                <a:highlight>
                  <a:srgbClr val="FFFFFF"/>
                </a:highlight>
                <a:latin typeface="Times New Roman" panose="02020603050405020304" pitchFamily="18" charset="0"/>
                <a:ea typeface="Arial"/>
                <a:cs typeface="Times New Roman" panose="02020603050405020304" pitchFamily="18" charset="0"/>
                <a:sym typeface="Arial"/>
              </a:rPr>
              <a:t> </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It is a replacement for the </a:t>
            </a:r>
            <a:r>
              <a:rPr lang="en-US" sz="2000" dirty="0">
                <a:highlight>
                  <a:srgbClr val="FFFFFF"/>
                </a:highlight>
                <a:uFill>
                  <a:noFill/>
                </a:uFill>
                <a:latin typeface="Times New Roman" panose="02020603050405020304" pitchFamily="18" charset="0"/>
                <a:ea typeface="Arial"/>
                <a:cs typeface="Times New Roman" panose="02020603050405020304" pitchFamily="18" charset="0"/>
                <a:sym typeface="Arial"/>
                <a:hlinkClick r:id="rId9">
                  <a:extLst>
                    <a:ext uri="{A12FA001-AC4F-418D-AE19-62706E023703}">
                      <ahyp:hlinkClr xmlns:ahyp="http://schemas.microsoft.com/office/drawing/2018/hyperlinkcolor" val="tx"/>
                    </a:ext>
                  </a:extLst>
                </a:hlinkClick>
              </a:rPr>
              <a:t>Eclipse Android Development Tools</a:t>
            </a:r>
            <a:r>
              <a:rPr lang="en-US" sz="2000" dirty="0">
                <a:highlight>
                  <a:srgbClr val="FFFFFF"/>
                </a:highlight>
                <a:latin typeface="Times New Roman" panose="02020603050405020304" pitchFamily="18" charset="0"/>
                <a:ea typeface="Arial"/>
                <a:cs typeface="Times New Roman" panose="02020603050405020304" pitchFamily="18" charset="0"/>
                <a:sym typeface="Arial"/>
              </a:rPr>
              <a:t> as the primary IDE for native Android application development.</a:t>
            </a:r>
            <a:endParaRPr lang="en-US" sz="2000" dirty="0">
              <a:latin typeface="Times New Roman" panose="02020603050405020304" pitchFamily="18" charset="0"/>
              <a:cs typeface="Times New Roman" panose="02020603050405020304" pitchFamily="18" charset="0"/>
            </a:endParaRPr>
          </a:p>
          <a:p>
            <a:pPr marL="457200" lvl="0" indent="-342900">
              <a:spcBef>
                <a:spcPts val="1600"/>
              </a:spcBef>
              <a:buClr>
                <a:srgbClr val="000000"/>
              </a:buClr>
              <a:buSzPts val="1800"/>
              <a:buChar char="●"/>
            </a:pPr>
            <a:r>
              <a:rPr lang="en-US" sz="2000" dirty="0">
                <a:latin typeface="Times New Roman" panose="02020603050405020304" pitchFamily="18" charset="0"/>
                <a:cs typeface="Times New Roman" panose="02020603050405020304" pitchFamily="18" charset="0"/>
              </a:rPr>
              <a:t>Supported Languages:</a:t>
            </a:r>
          </a:p>
          <a:p>
            <a:pPr marL="914400" lvl="1" indent="-317500">
              <a:spcBef>
                <a:spcPts val="0"/>
              </a:spcBef>
              <a:buClr>
                <a:srgbClr val="000000"/>
              </a:buClr>
              <a:buSzPts val="1400"/>
              <a:buChar char="○"/>
            </a:pPr>
            <a:r>
              <a:rPr lang="en-US" sz="2000" dirty="0">
                <a:latin typeface="Times New Roman" panose="02020603050405020304" pitchFamily="18" charset="0"/>
                <a:cs typeface="Times New Roman" panose="02020603050405020304" pitchFamily="18" charset="0"/>
              </a:rPr>
              <a:t>Kotlin </a:t>
            </a:r>
            <a:r>
              <a:rPr lang="en-US" sz="2000" dirty="0"/>
              <a:t>(officially recommended by Google)</a:t>
            </a:r>
            <a:endParaRPr lang="en-US" sz="2000" dirty="0">
              <a:latin typeface="Times New Roman" panose="02020603050405020304" pitchFamily="18" charset="0"/>
              <a:cs typeface="Times New Roman" panose="02020603050405020304" pitchFamily="18" charset="0"/>
            </a:endParaRPr>
          </a:p>
          <a:p>
            <a:pPr marL="914400" lvl="1" indent="-317500">
              <a:spcBef>
                <a:spcPts val="0"/>
              </a:spcBef>
              <a:buClr>
                <a:srgbClr val="000000"/>
              </a:buClr>
              <a:buSzPts val="1400"/>
              <a:buChar char="○"/>
            </a:pPr>
            <a:r>
              <a:rPr lang="en-US" sz="2000" dirty="0">
                <a:latin typeface="Times New Roman" panose="02020603050405020304" pitchFamily="18" charset="0"/>
                <a:cs typeface="Times New Roman" panose="02020603050405020304" pitchFamily="18" charset="0"/>
              </a:rPr>
              <a:t>Java</a:t>
            </a:r>
          </a:p>
          <a:p>
            <a:pPr marL="914400" lvl="1" indent="-317500">
              <a:spcBef>
                <a:spcPts val="0"/>
              </a:spcBef>
              <a:buClr>
                <a:srgbClr val="000000"/>
              </a:buClr>
              <a:buSzPts val="1400"/>
              <a:buChar char="○"/>
            </a:pPr>
            <a:r>
              <a:rPr lang="en-US" sz="2000" dirty="0">
                <a:latin typeface="Times New Roman" panose="02020603050405020304" pitchFamily="18" charset="0"/>
                <a:cs typeface="Times New Roman" panose="02020603050405020304" pitchFamily="18" charset="0"/>
              </a:rPr>
              <a:t>C++</a:t>
            </a:r>
          </a:p>
          <a:p>
            <a:pPr marL="457200" lvl="0" indent="-342900">
              <a:spcBef>
                <a:spcPts val="0"/>
              </a:spcBef>
              <a:buClr>
                <a:srgbClr val="000000"/>
              </a:buClr>
              <a:buSzPts val="1800"/>
              <a:buChar char="●"/>
            </a:pPr>
            <a:r>
              <a:rPr lang="en-US" sz="2000" dirty="0">
                <a:latin typeface="Times New Roman" panose="02020603050405020304" pitchFamily="18" charset="0"/>
                <a:cs typeface="Times New Roman" panose="02020603050405020304" pitchFamily="18" charset="0"/>
              </a:rPr>
              <a:t>Alternative Cross-platform frameworks to develop android:</a:t>
            </a:r>
          </a:p>
          <a:p>
            <a:pPr marL="914400" lvl="1" indent="-317500">
              <a:spcBef>
                <a:spcPts val="0"/>
              </a:spcBef>
              <a:buClr>
                <a:srgbClr val="000000"/>
              </a:buClr>
              <a:buSzPts val="1400"/>
              <a:buChar char="○"/>
            </a:pPr>
            <a:r>
              <a:rPr lang="en-US" sz="2000" dirty="0">
                <a:latin typeface="Times New Roman" panose="02020603050405020304" pitchFamily="18" charset="0"/>
                <a:cs typeface="Times New Roman" panose="02020603050405020304" pitchFamily="18" charset="0"/>
              </a:rPr>
              <a:t>React Native </a:t>
            </a:r>
            <a:r>
              <a:rPr lang="en-US" sz="2000" dirty="0"/>
              <a:t>(JavaScript/TypeScript-based, developed by Meta)</a:t>
            </a:r>
            <a:endParaRPr lang="en-US" sz="2000" dirty="0">
              <a:latin typeface="Times New Roman" panose="02020603050405020304" pitchFamily="18" charset="0"/>
              <a:cs typeface="Times New Roman" panose="02020603050405020304" pitchFamily="18" charset="0"/>
            </a:endParaRPr>
          </a:p>
          <a:p>
            <a:pPr marL="914400" lvl="1" indent="-317500">
              <a:spcBef>
                <a:spcPts val="0"/>
              </a:spcBef>
              <a:buClr>
                <a:srgbClr val="000000"/>
              </a:buClr>
              <a:buSzPts val="1400"/>
              <a:buChar char="○"/>
            </a:pPr>
            <a:r>
              <a:rPr lang="en-US" sz="2000" dirty="0">
                <a:latin typeface="Times New Roman" panose="02020603050405020304" pitchFamily="18" charset="0"/>
                <a:cs typeface="Times New Roman" panose="02020603050405020304" pitchFamily="18" charset="0"/>
              </a:rPr>
              <a:t>Flutter </a:t>
            </a:r>
            <a:r>
              <a:rPr lang="en-US" sz="2000" dirty="0"/>
              <a:t>(Dart-based, developed by Google)</a:t>
            </a:r>
            <a:endParaRPr lang="en-EG" sz="2000" dirty="0">
              <a:latin typeface="Times New Roman" panose="02020603050405020304" pitchFamily="18" charset="0"/>
              <a:cs typeface="Times New Roman" panose="02020603050405020304" pitchFamily="18" charset="0"/>
            </a:endParaRPr>
          </a:p>
        </p:txBody>
      </p:sp>
      <p:pic>
        <p:nvPicPr>
          <p:cNvPr id="4" name="Picture 8" descr="Android Studio | Android Wiki | Fandom">
            <a:extLst>
              <a:ext uri="{FF2B5EF4-FFF2-40B4-BE49-F238E27FC236}">
                <a16:creationId xmlns:a16="http://schemas.microsoft.com/office/drawing/2014/main" id="{BC7EE02B-0E16-E90F-E0C1-98B0DD82E9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98467" y="3622675"/>
            <a:ext cx="2870200" cy="287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810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76343" y="649411"/>
            <a:ext cx="9039313" cy="5559178"/>
          </a:xfrm>
        </p:spPr>
      </p:pic>
    </p:spTree>
    <p:extLst>
      <p:ext uri="{BB962C8B-B14F-4D97-AF65-F5344CB8AC3E}">
        <p14:creationId xmlns:p14="http://schemas.microsoft.com/office/powerpoint/2010/main" val="3764601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93146-A442-8E09-01EB-9FACB94CF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DB652D-1B06-EF26-E981-5309CE298431}"/>
              </a:ext>
            </a:extLst>
          </p:cNvPr>
          <p:cNvSpPr>
            <a:spLocks noGrp="1"/>
          </p:cNvSpPr>
          <p:nvPr>
            <p:ph type="title"/>
          </p:nvPr>
        </p:nvSpPr>
        <p:spPr>
          <a:xfrm>
            <a:off x="838200" y="365125"/>
            <a:ext cx="10515600" cy="1325563"/>
          </a:xfrm>
        </p:spPr>
        <p:txBody>
          <a:bodyPr>
            <a:normAutofit/>
          </a:bodyPr>
          <a:lstStyle/>
          <a:p>
            <a:r>
              <a:rPr lang="en-US" dirty="0"/>
              <a:t>Creating your first app:</a:t>
            </a:r>
          </a:p>
        </p:txBody>
      </p:sp>
      <p:pic>
        <p:nvPicPr>
          <p:cNvPr id="4" name="Picture 3" descr="A screenshot of a computer&#10;&#10;AI-generated content may be incorrect.">
            <a:extLst>
              <a:ext uri="{FF2B5EF4-FFF2-40B4-BE49-F238E27FC236}">
                <a16:creationId xmlns:a16="http://schemas.microsoft.com/office/drawing/2014/main" id="{35DF4302-4716-C6CD-9A68-F79182E4EC94}"/>
              </a:ext>
            </a:extLst>
          </p:cNvPr>
          <p:cNvPicPr>
            <a:picLocks noChangeAspect="1"/>
          </p:cNvPicPr>
          <p:nvPr/>
        </p:nvPicPr>
        <p:blipFill>
          <a:blip r:embed="rId2"/>
          <a:stretch>
            <a:fillRect/>
          </a:stretch>
        </p:blipFill>
        <p:spPr>
          <a:xfrm>
            <a:off x="1852941" y="1321410"/>
            <a:ext cx="7242708" cy="5172501"/>
          </a:xfrm>
          <a:prstGeom prst="rect">
            <a:avLst/>
          </a:prstGeom>
        </p:spPr>
      </p:pic>
      <p:sp>
        <p:nvSpPr>
          <p:cNvPr id="11" name="Rectangle 10">
            <a:extLst>
              <a:ext uri="{FF2B5EF4-FFF2-40B4-BE49-F238E27FC236}">
                <a16:creationId xmlns:a16="http://schemas.microsoft.com/office/drawing/2014/main" id="{A16FA171-611E-EE78-C156-570FAB5ADB07}"/>
              </a:ext>
            </a:extLst>
          </p:cNvPr>
          <p:cNvSpPr/>
          <p:nvPr/>
        </p:nvSpPr>
        <p:spPr>
          <a:xfrm>
            <a:off x="5628640" y="4724400"/>
            <a:ext cx="1432560" cy="26416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785129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A07AA-D5F1-8BCE-6E3C-5F100D315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2323C-F48A-2001-75A2-5F0DCCC595D1}"/>
              </a:ext>
            </a:extLst>
          </p:cNvPr>
          <p:cNvSpPr>
            <a:spLocks noGrp="1"/>
          </p:cNvSpPr>
          <p:nvPr>
            <p:ph type="title"/>
          </p:nvPr>
        </p:nvSpPr>
        <p:spPr>
          <a:xfrm>
            <a:off x="838200" y="365125"/>
            <a:ext cx="10515600" cy="1325563"/>
          </a:xfrm>
        </p:spPr>
        <p:txBody>
          <a:bodyPr>
            <a:normAutofit/>
          </a:bodyPr>
          <a:lstStyle/>
          <a:p>
            <a:r>
              <a:rPr lang="en-US" dirty="0"/>
              <a:t>Creating your first app:</a:t>
            </a:r>
          </a:p>
        </p:txBody>
      </p:sp>
      <p:sp>
        <p:nvSpPr>
          <p:cNvPr id="11" name="Rectangle 10">
            <a:extLst>
              <a:ext uri="{FF2B5EF4-FFF2-40B4-BE49-F238E27FC236}">
                <a16:creationId xmlns:a16="http://schemas.microsoft.com/office/drawing/2014/main" id="{DAF08BAA-AF6D-EF32-9388-C355898883A4}"/>
              </a:ext>
            </a:extLst>
          </p:cNvPr>
          <p:cNvSpPr/>
          <p:nvPr/>
        </p:nvSpPr>
        <p:spPr>
          <a:xfrm>
            <a:off x="5628640" y="4724400"/>
            <a:ext cx="1432560" cy="264160"/>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D02462F7-4CB8-B5C3-3ED9-32A14BCC68AD}"/>
              </a:ext>
            </a:extLst>
          </p:cNvPr>
          <p:cNvPicPr>
            <a:picLocks noChangeAspect="1"/>
          </p:cNvPicPr>
          <p:nvPr/>
        </p:nvPicPr>
        <p:blipFill>
          <a:blip r:embed="rId2"/>
          <a:stretch>
            <a:fillRect/>
          </a:stretch>
        </p:blipFill>
        <p:spPr>
          <a:xfrm>
            <a:off x="2760038" y="1346172"/>
            <a:ext cx="7169764" cy="5257828"/>
          </a:xfrm>
          <a:prstGeom prst="rect">
            <a:avLst/>
          </a:prstGeom>
        </p:spPr>
      </p:pic>
    </p:spTree>
    <p:extLst>
      <p:ext uri="{BB962C8B-B14F-4D97-AF65-F5344CB8AC3E}">
        <p14:creationId xmlns:p14="http://schemas.microsoft.com/office/powerpoint/2010/main" val="122708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ormAutofit/>
          </a:bodyPr>
          <a:lstStyle/>
          <a:p>
            <a:r>
              <a:rPr lang="en-US" dirty="0"/>
              <a:t>Creating your first app:</a:t>
            </a:r>
          </a:p>
        </p:txBody>
      </p:sp>
      <p:sp>
        <p:nvSpPr>
          <p:cNvPr id="6" name="Content Placeholder 5"/>
          <p:cNvSpPr>
            <a:spLocks noGrp="1"/>
          </p:cNvSpPr>
          <p:nvPr>
            <p:ph idx="1"/>
          </p:nvPr>
        </p:nvSpPr>
        <p:spPr>
          <a:xfrm>
            <a:off x="838200" y="1690688"/>
            <a:ext cx="10515600" cy="4351338"/>
          </a:xfrm>
        </p:spPr>
        <p:txBody>
          <a:bodyPr>
            <a:normAutofit fontScale="62500" lnSpcReduction="20000"/>
          </a:bodyPr>
          <a:lstStyle/>
          <a:p>
            <a:pPr marL="0" indent="0">
              <a:buNone/>
            </a:pPr>
            <a:r>
              <a:rPr lang="en-US" dirty="0"/>
              <a:t>1-  </a:t>
            </a:r>
            <a:r>
              <a:rPr lang="en-US" b="1" dirty="0"/>
              <a:t>Main Activity (app &gt; </a:t>
            </a:r>
            <a:r>
              <a:rPr lang="en-US" b="1" dirty="0" err="1"/>
              <a:t>kotlin+java</a:t>
            </a:r>
            <a:r>
              <a:rPr lang="en-US" b="1" dirty="0"/>
              <a:t> &gt; </a:t>
            </a:r>
            <a:r>
              <a:rPr lang="en-US" b="1" dirty="0" err="1"/>
              <a:t>com.example.myfirstapp</a:t>
            </a:r>
            <a:r>
              <a:rPr lang="en-US" b="1" dirty="0"/>
              <a:t> &gt; </a:t>
            </a:r>
            <a:r>
              <a:rPr lang="en-US" b="1" dirty="0" err="1"/>
              <a:t>MainActivity.kt</a:t>
            </a:r>
            <a:r>
              <a:rPr lang="en-US" b="1" dirty="0"/>
              <a:t>)</a:t>
            </a:r>
            <a:endParaRPr lang="en-US" dirty="0"/>
          </a:p>
          <a:p>
            <a:r>
              <a:rPr lang="en-US" dirty="0"/>
              <a:t>       This is the </a:t>
            </a:r>
            <a:r>
              <a:rPr lang="en-US" b="1" dirty="0"/>
              <a:t>starting point</a:t>
            </a:r>
            <a:r>
              <a:rPr lang="en-US" dirty="0"/>
              <a:t> of your app.</a:t>
            </a:r>
          </a:p>
          <a:p>
            <a:r>
              <a:rPr lang="en-US" dirty="0"/>
              <a:t>       When you run the app, the system launches this activity and shows its layout on the screen.</a:t>
            </a:r>
          </a:p>
          <a:p>
            <a:pPr marL="0" indent="0">
              <a:buNone/>
            </a:pPr>
            <a:r>
              <a:rPr lang="en-US" dirty="0"/>
              <a:t>2- </a:t>
            </a:r>
            <a:r>
              <a:rPr lang="en-US" b="1" dirty="0"/>
              <a:t>Layout File (app &gt; res &gt; layout &gt; activity_main.xml)</a:t>
            </a:r>
            <a:endParaRPr lang="en-US" dirty="0"/>
          </a:p>
          <a:p>
            <a:pPr lvl="0"/>
            <a:r>
              <a:rPr lang="en-US" dirty="0"/>
              <a:t>      Defines how the screen looks (the </a:t>
            </a:r>
            <a:r>
              <a:rPr lang="en-US" b="1" dirty="0"/>
              <a:t>UI</a:t>
            </a:r>
            <a:r>
              <a:rPr lang="en-US" dirty="0"/>
              <a:t>).</a:t>
            </a:r>
          </a:p>
          <a:p>
            <a:pPr lvl="0"/>
            <a:r>
              <a:rPr lang="en-US" dirty="0"/>
              <a:t>      Example: contains a </a:t>
            </a:r>
            <a:r>
              <a:rPr lang="en-US" dirty="0" err="1"/>
              <a:t>TextView</a:t>
            </a:r>
            <a:r>
              <a:rPr lang="en-US" dirty="0"/>
              <a:t> that shows </a:t>
            </a:r>
            <a:r>
              <a:rPr lang="en-US" b="1" dirty="0"/>
              <a:t>“Hello, World!”</a:t>
            </a:r>
            <a:r>
              <a:rPr lang="en-US" dirty="0"/>
              <a:t>.</a:t>
            </a:r>
          </a:p>
          <a:p>
            <a:pPr marL="0" indent="0">
              <a:buNone/>
            </a:pPr>
            <a:r>
              <a:rPr lang="en-US" dirty="0"/>
              <a:t>3-  </a:t>
            </a:r>
            <a:r>
              <a:rPr lang="en-US" b="1" dirty="0"/>
              <a:t>Manifest File (app &gt; manifests &gt; AndroidManifest.xml)</a:t>
            </a:r>
            <a:endParaRPr lang="en-US" dirty="0"/>
          </a:p>
          <a:p>
            <a:pPr lvl="0"/>
            <a:r>
              <a:rPr lang="en-US" dirty="0"/>
              <a:t>     Like the app’s </a:t>
            </a:r>
            <a:r>
              <a:rPr lang="en-US" b="1" dirty="0"/>
              <a:t>ID card</a:t>
            </a:r>
            <a:r>
              <a:rPr lang="en-US" dirty="0"/>
              <a:t>.</a:t>
            </a:r>
          </a:p>
          <a:p>
            <a:pPr lvl="0"/>
            <a:r>
              <a:rPr lang="en-US" dirty="0"/>
              <a:t>     Describes the app’s name, permissions, and its main components (activities, services, etc.).</a:t>
            </a:r>
          </a:p>
          <a:p>
            <a:pPr marL="0" indent="0">
              <a:buNone/>
            </a:pPr>
            <a:r>
              <a:rPr lang="en-US" dirty="0"/>
              <a:t>4-  </a:t>
            </a:r>
            <a:r>
              <a:rPr lang="en-US" b="1" dirty="0"/>
              <a:t>Gradle Scripts (Gradle Scripts &gt; </a:t>
            </a:r>
            <a:r>
              <a:rPr lang="en-US" b="1" dirty="0" err="1"/>
              <a:t>build.gradle</a:t>
            </a:r>
            <a:r>
              <a:rPr lang="en-US" b="1" dirty="0"/>
              <a:t>)</a:t>
            </a:r>
            <a:endParaRPr lang="en-US" dirty="0"/>
          </a:p>
          <a:p>
            <a:pPr lvl="0"/>
            <a:r>
              <a:rPr lang="en-US" dirty="0"/>
              <a:t>     Controls </a:t>
            </a:r>
            <a:r>
              <a:rPr lang="en-US" b="1" dirty="0"/>
              <a:t>how the app is built</a:t>
            </a:r>
            <a:r>
              <a:rPr lang="en-US" dirty="0"/>
              <a:t>.</a:t>
            </a:r>
          </a:p>
          <a:p>
            <a:pPr lvl="0"/>
            <a:r>
              <a:rPr lang="en-US" dirty="0"/>
              <a:t>    Two main files:</a:t>
            </a:r>
          </a:p>
          <a:p>
            <a:pPr lvl="1"/>
            <a:r>
              <a:rPr lang="en-US" b="1" dirty="0"/>
              <a:t>Project </a:t>
            </a:r>
            <a:r>
              <a:rPr lang="en-US" b="1" dirty="0" err="1"/>
              <a:t>build.gradle</a:t>
            </a:r>
            <a:r>
              <a:rPr lang="en-US" dirty="0"/>
              <a:t> → settings for the whole project.</a:t>
            </a:r>
          </a:p>
          <a:p>
            <a:pPr lvl="1"/>
            <a:r>
              <a:rPr lang="en-US" b="1" dirty="0"/>
              <a:t>Module </a:t>
            </a:r>
            <a:r>
              <a:rPr lang="en-US" b="1" dirty="0" err="1"/>
              <a:t>build.gradle</a:t>
            </a:r>
            <a:r>
              <a:rPr lang="en-US" dirty="0"/>
              <a:t> → settings for your app module (dependencies, SDK versions, etc.) (Most of your edits are here)..</a:t>
            </a:r>
          </a:p>
          <a:p>
            <a:endParaRPr lang="en-US" dirty="0"/>
          </a:p>
        </p:txBody>
      </p:sp>
    </p:spTree>
    <p:extLst>
      <p:ext uri="{BB962C8B-B14F-4D97-AF65-F5344CB8AC3E}">
        <p14:creationId xmlns:p14="http://schemas.microsoft.com/office/powerpoint/2010/main" val="161453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025DDD2-5D2A-355E-D580-8A4B6029FA82}"/>
              </a:ext>
            </a:extLst>
          </p:cNvPr>
          <p:cNvPicPr>
            <a:picLocks noChangeAspect="1"/>
          </p:cNvPicPr>
          <p:nvPr/>
        </p:nvPicPr>
        <p:blipFill>
          <a:blip r:embed="rId2"/>
          <a:srcRect r="5778"/>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1583825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662" y="386930"/>
            <a:ext cx="10066122" cy="1298448"/>
          </a:xfrm>
        </p:spPr>
        <p:txBody>
          <a:bodyPr anchor="b">
            <a:normAutofit/>
          </a:bodyPr>
          <a:lstStyle/>
          <a:p>
            <a:r>
              <a:rPr lang="en-US" sz="4800" dirty="0"/>
              <a:t>View hierarchy</a:t>
            </a:r>
          </a:p>
        </p:txBody>
      </p:sp>
      <p:sp>
        <p:nvSpPr>
          <p:cNvPr id="3" name="Content Placeholder 2"/>
          <p:cNvSpPr>
            <a:spLocks noGrp="1"/>
          </p:cNvSpPr>
          <p:nvPr>
            <p:ph idx="1"/>
          </p:nvPr>
        </p:nvSpPr>
        <p:spPr>
          <a:xfrm>
            <a:off x="793661" y="2599509"/>
            <a:ext cx="4530898" cy="3639450"/>
          </a:xfrm>
        </p:spPr>
        <p:txBody>
          <a:bodyPr anchor="ctr">
            <a:normAutofit fontScale="77500" lnSpcReduction="20000"/>
          </a:bodyPr>
          <a:lstStyle/>
          <a:p>
            <a:pPr marL="0" indent="0">
              <a:buNone/>
            </a:pPr>
            <a:r>
              <a:rPr lang="en-US" b="1" dirty="0"/>
              <a:t>Android UI Basics</a:t>
            </a:r>
          </a:p>
          <a:p>
            <a:r>
              <a:rPr lang="en-US" dirty="0"/>
              <a:t>The </a:t>
            </a:r>
            <a:r>
              <a:rPr lang="en-US" b="1" dirty="0"/>
              <a:t>User Interface (UI)</a:t>
            </a:r>
            <a:r>
              <a:rPr lang="en-US" dirty="0"/>
              <a:t> in Android is like a </a:t>
            </a:r>
            <a:r>
              <a:rPr lang="en-US" b="1" dirty="0"/>
              <a:t>tree structure</a:t>
            </a:r>
            <a:r>
              <a:rPr lang="en-US" dirty="0"/>
              <a:t>.</a:t>
            </a:r>
          </a:p>
          <a:p>
            <a:r>
              <a:rPr lang="en-US" b="1" dirty="0"/>
              <a:t>Layouts</a:t>
            </a:r>
            <a:r>
              <a:rPr lang="en-US" dirty="0"/>
              <a:t> → special containers (called </a:t>
            </a:r>
            <a:r>
              <a:rPr lang="en-US" b="1" dirty="0" err="1"/>
              <a:t>ViewGroup</a:t>
            </a:r>
            <a:r>
              <a:rPr lang="en-US" dirty="0"/>
              <a:t> objects) that decide </a:t>
            </a:r>
            <a:r>
              <a:rPr lang="en-US" b="1" dirty="0"/>
              <a:t>how child views are arranged</a:t>
            </a:r>
            <a:r>
              <a:rPr lang="en-US" dirty="0"/>
              <a:t>.</a:t>
            </a:r>
          </a:p>
          <a:p>
            <a:r>
              <a:rPr lang="en-US" b="1" dirty="0"/>
              <a:t>Widgets</a:t>
            </a:r>
            <a:r>
              <a:rPr lang="en-US" dirty="0"/>
              <a:t> → the actual </a:t>
            </a:r>
            <a:r>
              <a:rPr lang="en-US" b="1" dirty="0"/>
              <a:t>UI elements</a:t>
            </a:r>
            <a:r>
              <a:rPr lang="en-US" dirty="0"/>
              <a:t> (called </a:t>
            </a:r>
            <a:r>
              <a:rPr lang="en-US" b="1" dirty="0"/>
              <a:t>View</a:t>
            </a:r>
            <a:r>
              <a:rPr lang="en-US" dirty="0"/>
              <a:t> objects).</a:t>
            </a:r>
          </a:p>
          <a:p>
            <a:pPr lvl="1"/>
            <a:r>
              <a:rPr lang="en-US" dirty="0"/>
              <a:t>Examples: </a:t>
            </a:r>
            <a:r>
              <a:rPr lang="en-US" dirty="0" err="1"/>
              <a:t>TextView</a:t>
            </a:r>
            <a:r>
              <a:rPr lang="en-US" dirty="0"/>
              <a:t> (for text), Button, </a:t>
            </a:r>
            <a:r>
              <a:rPr lang="en-US" dirty="0" err="1"/>
              <a:t>EditText</a:t>
            </a:r>
            <a:r>
              <a:rPr lang="en-US" dirty="0"/>
              <a:t> (text box).</a:t>
            </a:r>
          </a:p>
          <a:p>
            <a:r>
              <a:rPr lang="en-US" dirty="0"/>
              <a:t> Together, layouts + widgets = what you see on the screen.</a:t>
            </a:r>
          </a:p>
        </p:txBody>
      </p:sp>
      <p:pic>
        <p:nvPicPr>
          <p:cNvPr id="4" name="Picture 3">
            <a:extLst>
              <a:ext uri="{FF2B5EF4-FFF2-40B4-BE49-F238E27FC236}">
                <a16:creationId xmlns:a16="http://schemas.microsoft.com/office/drawing/2014/main" id="{87E4A27B-37FA-C249-82F8-74FD133AD7A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962" b="98654" l="4722" r="91737">
                        <a14:foregroundMark x1="57083" y1="52308" x2="64840" y2="52692"/>
                        <a14:foregroundMark x1="64840" y1="52692" x2="55481" y2="52692"/>
                        <a14:foregroundMark x1="55481" y1="52692" x2="62057" y2="45577"/>
                        <a14:foregroundMark x1="62057" y1="45577" x2="63406" y2="46538"/>
                        <a14:foregroundMark x1="88111" y1="46154" x2="81113" y2="46538"/>
                        <a14:foregroundMark x1="81113" y1="46538" x2="90472" y2="56346"/>
                        <a14:foregroundMark x1="90472" y1="56346" x2="91737" y2="56538"/>
                        <a14:foregroundMark x1="86003" y1="37115" x2="47723" y2="37500"/>
                        <a14:foregroundMark x1="47723" y1="37500" x2="41990" y2="29808"/>
                        <a14:foregroundMark x1="41990" y1="29808" x2="47302" y2="13269"/>
                        <a14:foregroundMark x1="47302" y1="13269" x2="53963" y2="6154"/>
                        <a14:foregroundMark x1="53963" y1="6154" x2="61467" y2="5962"/>
                        <a14:foregroundMark x1="61467" y1="5962" x2="68634" y2="12885"/>
                        <a14:foregroundMark x1="68634" y1="12885" x2="71669" y2="38269"/>
                        <a14:foregroundMark x1="71669" y1="38269" x2="69393" y2="41923"/>
                        <a14:foregroundMark x1="89292" y1="64423" x2="93339" y2="51923"/>
                        <a14:foregroundMark x1="93339" y1="51923" x2="89376" y2="37500"/>
                        <a14:foregroundMark x1="89376" y1="37500" x2="77993" y2="27308"/>
                        <a14:foregroundMark x1="77993" y1="27308" x2="68718" y2="10000"/>
                        <a14:foregroundMark x1="68718" y1="10000" x2="49663" y2="5769"/>
                        <a14:foregroundMark x1="49663" y1="5769" x2="41737" y2="8654"/>
                        <a14:foregroundMark x1="41737" y1="8654" x2="35076" y2="18846"/>
                        <a14:foregroundMark x1="35076" y1="18846" x2="27909" y2="40962"/>
                        <a14:foregroundMark x1="27909" y1="40962" x2="15430" y2="55000"/>
                        <a14:foregroundMark x1="15430" y1="55000" x2="11214" y2="66731"/>
                        <a14:foregroundMark x1="11214" y1="66731" x2="4047" y2="74231"/>
                        <a14:foregroundMark x1="4047" y1="74231" x2="422" y2="90000"/>
                        <a14:foregroundMark x1="422" y1="90000" x2="12310" y2="98654"/>
                        <a14:foregroundMark x1="12310" y1="98654" x2="70489" y2="91346"/>
                        <a14:foregroundMark x1="70489" y1="91346" x2="69056" y2="70962"/>
                        <a14:foregroundMark x1="69056" y1="70962" x2="89713" y2="61923"/>
                        <a14:foregroundMark x1="89713" y1="61923" x2="87605" y2="37885"/>
                        <a14:foregroundMark x1="87605" y1="37885" x2="79258" y2="33462"/>
                        <a14:foregroundMark x1="79258" y1="33462" x2="79258" y2="33462"/>
                        <a14:foregroundMark x1="12479" y1="69231" x2="2530" y2="70385"/>
                        <a14:foregroundMark x1="2530" y1="70385" x2="2698" y2="96538"/>
                        <a14:foregroundMark x1="2698" y1="96538" x2="9444" y2="95192"/>
                        <a14:foregroundMark x1="9444" y1="95192" x2="15852" y2="87692"/>
                        <a14:foregroundMark x1="15852" y1="87692" x2="20658" y2="74808"/>
                        <a14:foregroundMark x1="20658" y1="74808" x2="20658" y2="74808"/>
                        <a14:foregroundMark x1="14671" y1="82692" x2="3035" y2="83077"/>
                        <a14:foregroundMark x1="3035" y1="83077" x2="5902" y2="98654"/>
                        <a14:foregroundMark x1="5902" y1="98654" x2="9359" y2="93077"/>
                        <a14:foregroundMark x1="6914" y1="96923" x2="337" y2="97308"/>
                        <a14:foregroundMark x1="337" y1="97308" x2="4722" y2="80962"/>
                        <a14:foregroundMark x1="4722" y1="80962" x2="7757" y2="80962"/>
                      </a14:backgroundRemoval>
                    </a14:imgEffect>
                  </a14:imgLayer>
                </a14:imgProps>
              </a:ext>
            </a:extLst>
          </a:blip>
          <a:stretch>
            <a:fillRect/>
          </a:stretch>
        </p:blipFill>
        <p:spPr>
          <a:xfrm>
            <a:off x="5609759" y="2241287"/>
            <a:ext cx="5932940" cy="2595660"/>
          </a:xfrm>
          <a:prstGeom prst="rect">
            <a:avLst/>
          </a:prstGeom>
        </p:spPr>
      </p:pic>
      <p:sp>
        <p:nvSpPr>
          <p:cNvPr id="5" name="TextBox 4">
            <a:extLst>
              <a:ext uri="{FF2B5EF4-FFF2-40B4-BE49-F238E27FC236}">
                <a16:creationId xmlns:a16="http://schemas.microsoft.com/office/drawing/2014/main" id="{96F4CDBF-692B-4DA2-AD19-54696E6B60A4}"/>
              </a:ext>
            </a:extLst>
          </p:cNvPr>
          <p:cNvSpPr txBox="1"/>
          <p:nvPr/>
        </p:nvSpPr>
        <p:spPr>
          <a:xfrm>
            <a:off x="5609759" y="5061979"/>
            <a:ext cx="5637361" cy="1477328"/>
          </a:xfrm>
          <a:prstGeom prst="rect">
            <a:avLst/>
          </a:prstGeom>
          <a:noFill/>
        </p:spPr>
        <p:txBody>
          <a:bodyPr wrap="square" rtlCol="0">
            <a:spAutoFit/>
          </a:bodyPr>
          <a:lstStyle/>
          <a:p>
            <a:r>
              <a:rPr lang="en-US" dirty="0"/>
              <a:t>A </a:t>
            </a:r>
            <a:r>
              <a:rPr lang="en-US" b="1" dirty="0"/>
              <a:t>layout(</a:t>
            </a:r>
            <a:r>
              <a:rPr lang="en-US" b="1" dirty="0" err="1"/>
              <a:t>ViewGroup</a:t>
            </a:r>
            <a:r>
              <a:rPr lang="en-US" dirty="0"/>
              <a:t> objects</a:t>
            </a:r>
            <a:r>
              <a:rPr lang="en-US" b="1" dirty="0"/>
              <a:t>)</a:t>
            </a:r>
            <a:r>
              <a:rPr lang="en-US" dirty="0"/>
              <a:t> is like a </a:t>
            </a:r>
            <a:r>
              <a:rPr lang="en-US" b="1" dirty="0"/>
              <a:t>shelf</a:t>
            </a:r>
            <a:r>
              <a:rPr lang="en-US" dirty="0"/>
              <a:t> (it decides how things are placed: stacked, side by side, etc.).</a:t>
            </a:r>
          </a:p>
          <a:p>
            <a:r>
              <a:rPr lang="en-US" b="1" dirty="0"/>
              <a:t>Widgets(View</a:t>
            </a:r>
            <a:r>
              <a:rPr lang="en-US" dirty="0"/>
              <a:t> objects</a:t>
            </a:r>
            <a:r>
              <a:rPr lang="en-US" b="1" dirty="0"/>
              <a:t>)</a:t>
            </a:r>
            <a:r>
              <a:rPr lang="en-US" dirty="0"/>
              <a:t> are the </a:t>
            </a:r>
            <a:r>
              <a:rPr lang="en-US" b="1" dirty="0"/>
              <a:t>items on the shelf</a:t>
            </a:r>
            <a:r>
              <a:rPr lang="en-US" dirty="0"/>
              <a:t> (books, photos, decorations).</a:t>
            </a:r>
          </a:p>
          <a:p>
            <a:endParaRPr lang="en-US" dirty="0"/>
          </a:p>
        </p:txBody>
      </p:sp>
    </p:spTree>
    <p:extLst>
      <p:ext uri="{BB962C8B-B14F-4D97-AF65-F5344CB8AC3E}">
        <p14:creationId xmlns:p14="http://schemas.microsoft.com/office/powerpoint/2010/main" val="1219732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F0436E-5134-5747-934A-31CE77086296}"/>
              </a:ext>
            </a:extLst>
          </p:cNvPr>
          <p:cNvSpPr>
            <a:spLocks noGrp="1"/>
          </p:cNvSpPr>
          <p:nvPr>
            <p:ph idx="1"/>
          </p:nvPr>
        </p:nvSpPr>
        <p:spPr>
          <a:xfrm>
            <a:off x="838200" y="614597"/>
            <a:ext cx="10515600" cy="5562366"/>
          </a:xfrm>
        </p:spPr>
        <p:txBody>
          <a:bodyPr/>
          <a:lstStyle/>
          <a:p>
            <a:pPr fontAlgn="base"/>
            <a:r>
              <a:rPr lang="en-US" dirty="0"/>
              <a:t>Following are certain commonly used subclasses for </a:t>
            </a:r>
            <a:r>
              <a:rPr lang="en-US" dirty="0" err="1"/>
              <a:t>ViewGroup</a:t>
            </a:r>
            <a:r>
              <a:rPr lang="en-US" dirty="0"/>
              <a:t>:</a:t>
            </a:r>
          </a:p>
          <a:p>
            <a:pPr lvl="1" fontAlgn="base"/>
            <a:r>
              <a:rPr lang="en-US" dirty="0" err="1"/>
              <a:t>LinearLayout</a:t>
            </a:r>
            <a:r>
              <a:rPr lang="en-US" dirty="0"/>
              <a:t>:</a:t>
            </a:r>
          </a:p>
          <a:p>
            <a:pPr lvl="2" fontAlgn="base"/>
            <a:r>
              <a:rPr lang="en-US" dirty="0"/>
              <a:t>We use this layout to place the elements in a linear manner, (V or H)</a:t>
            </a:r>
          </a:p>
          <a:p>
            <a:pPr lvl="1" fontAlgn="base"/>
            <a:r>
              <a:rPr lang="en-US" dirty="0" err="1"/>
              <a:t>RelativeLayout</a:t>
            </a:r>
            <a:r>
              <a:rPr lang="en-US" dirty="0"/>
              <a:t>:</a:t>
            </a:r>
          </a:p>
          <a:p>
            <a:pPr lvl="2" fontAlgn="base"/>
            <a:r>
              <a:rPr lang="en-US" dirty="0"/>
              <a:t>This layout is for specifying the position of the elements in relation to the other elements that are present there.</a:t>
            </a:r>
            <a:endParaRPr lang="en-EG" dirty="0"/>
          </a:p>
          <a:p>
            <a:pPr lvl="1" fontAlgn="base"/>
            <a:r>
              <a:rPr lang="en-EG" dirty="0"/>
              <a:t>Constraint layout:</a:t>
            </a:r>
          </a:p>
          <a:p>
            <a:pPr lvl="2" fontAlgn="base"/>
            <a:r>
              <a:rPr lang="en-US" dirty="0" err="1"/>
              <a:t>ConstraintLayout</a:t>
            </a:r>
            <a:r>
              <a:rPr lang="en-US" dirty="0"/>
              <a:t> is a layout on Android that gives you adaptable and flexible ways to create views for your apps.</a:t>
            </a:r>
            <a:endParaRPr lang="en-EG" dirty="0"/>
          </a:p>
        </p:txBody>
      </p:sp>
      <p:pic>
        <p:nvPicPr>
          <p:cNvPr id="4" name="Picture 3">
            <a:extLst>
              <a:ext uri="{FF2B5EF4-FFF2-40B4-BE49-F238E27FC236}">
                <a16:creationId xmlns:a16="http://schemas.microsoft.com/office/drawing/2014/main" id="{0F98FE22-B6E4-C646-A9A2-2291AC724FC3}"/>
              </a:ext>
            </a:extLst>
          </p:cNvPr>
          <p:cNvPicPr>
            <a:picLocks noChangeAspect="1"/>
          </p:cNvPicPr>
          <p:nvPr/>
        </p:nvPicPr>
        <p:blipFill>
          <a:blip r:embed="rId2"/>
          <a:stretch>
            <a:fillRect/>
          </a:stretch>
        </p:blipFill>
        <p:spPr>
          <a:xfrm>
            <a:off x="2541978" y="3899836"/>
            <a:ext cx="1231900" cy="2120900"/>
          </a:xfrm>
          <a:prstGeom prst="rect">
            <a:avLst/>
          </a:prstGeom>
        </p:spPr>
      </p:pic>
      <p:pic>
        <p:nvPicPr>
          <p:cNvPr id="5" name="Picture 4">
            <a:extLst>
              <a:ext uri="{FF2B5EF4-FFF2-40B4-BE49-F238E27FC236}">
                <a16:creationId xmlns:a16="http://schemas.microsoft.com/office/drawing/2014/main" id="{B179C90B-1554-A540-90E3-34CAA7FA090F}"/>
              </a:ext>
            </a:extLst>
          </p:cNvPr>
          <p:cNvPicPr>
            <a:picLocks noChangeAspect="1"/>
          </p:cNvPicPr>
          <p:nvPr/>
        </p:nvPicPr>
        <p:blipFill>
          <a:blip r:embed="rId3"/>
          <a:stretch>
            <a:fillRect/>
          </a:stretch>
        </p:blipFill>
        <p:spPr>
          <a:xfrm>
            <a:off x="5396753" y="3925237"/>
            <a:ext cx="1193800" cy="2108200"/>
          </a:xfrm>
          <a:prstGeom prst="rect">
            <a:avLst/>
          </a:prstGeom>
        </p:spPr>
      </p:pic>
      <p:pic>
        <p:nvPicPr>
          <p:cNvPr id="7" name="Picture 6">
            <a:extLst>
              <a:ext uri="{FF2B5EF4-FFF2-40B4-BE49-F238E27FC236}">
                <a16:creationId xmlns:a16="http://schemas.microsoft.com/office/drawing/2014/main" id="{17E78EA7-5B9F-1D40-B442-695B6AD36CF2}"/>
              </a:ext>
            </a:extLst>
          </p:cNvPr>
          <p:cNvPicPr>
            <a:picLocks noChangeAspect="1"/>
          </p:cNvPicPr>
          <p:nvPr/>
        </p:nvPicPr>
        <p:blipFill>
          <a:blip r:embed="rId4"/>
          <a:stretch>
            <a:fillRect/>
          </a:stretch>
        </p:blipFill>
        <p:spPr>
          <a:xfrm>
            <a:off x="8213428" y="3925237"/>
            <a:ext cx="1373669" cy="2108200"/>
          </a:xfrm>
          <a:prstGeom prst="rect">
            <a:avLst/>
          </a:prstGeom>
        </p:spPr>
      </p:pic>
    </p:spTree>
    <p:extLst>
      <p:ext uri="{BB962C8B-B14F-4D97-AF65-F5344CB8AC3E}">
        <p14:creationId xmlns:p14="http://schemas.microsoft.com/office/powerpoint/2010/main" val="55452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5E9CCF-94FB-304F-84B2-6BE5BCFEF82A}"/>
              </a:ext>
            </a:extLst>
          </p:cNvPr>
          <p:cNvSpPr>
            <a:spLocks noGrp="1"/>
          </p:cNvSpPr>
          <p:nvPr>
            <p:ph type="title"/>
          </p:nvPr>
        </p:nvSpPr>
        <p:spPr>
          <a:xfrm>
            <a:off x="411480" y="991443"/>
            <a:ext cx="4443154" cy="1087819"/>
          </a:xfrm>
        </p:spPr>
        <p:txBody>
          <a:bodyPr anchor="b">
            <a:normAutofit/>
          </a:bodyPr>
          <a:lstStyle/>
          <a:p>
            <a:r>
              <a:rPr lang="en-EG" sz="3400"/>
              <a:t>XML files</a:t>
            </a:r>
          </a:p>
        </p:txBody>
      </p:sp>
      <p:sp>
        <p:nvSpPr>
          <p:cNvPr id="18" name="Rectangle 1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00B4578-FEA5-8B4A-B5D9-8A0FA9FDA1C0}"/>
              </a:ext>
            </a:extLst>
          </p:cNvPr>
          <p:cNvSpPr>
            <a:spLocks noGrp="1"/>
          </p:cNvSpPr>
          <p:nvPr>
            <p:ph idx="1"/>
          </p:nvPr>
        </p:nvSpPr>
        <p:spPr>
          <a:xfrm>
            <a:off x="411480" y="2371870"/>
            <a:ext cx="4443154" cy="3805093"/>
          </a:xfrm>
        </p:spPr>
        <p:txBody>
          <a:bodyPr>
            <a:normAutofit/>
          </a:bodyPr>
          <a:lstStyle/>
          <a:p>
            <a:r>
              <a:rPr lang="en-US" sz="1800" dirty="0">
                <a:latin typeface="Times New Roman" panose="02020603050405020304" pitchFamily="18" charset="0"/>
                <a:cs typeface="Times New Roman" panose="02020603050405020304" pitchFamily="18" charset="0"/>
              </a:rPr>
              <a:t>XML stands for Extensible Markup Language. XML is a markup language much like HTML used to describe data. </a:t>
            </a:r>
          </a:p>
          <a:p>
            <a:r>
              <a:rPr lang="en-US" sz="1800" dirty="0">
                <a:latin typeface="Times New Roman" panose="02020603050405020304" pitchFamily="18" charset="0"/>
                <a:cs typeface="Times New Roman" panose="02020603050405020304" pitchFamily="18" charset="0"/>
              </a:rPr>
              <a:t>In Android there are several xml files used for several different purposes:</a:t>
            </a:r>
          </a:p>
          <a:p>
            <a:pPr lvl="1"/>
            <a:r>
              <a:rPr lang="en-US" sz="1800" b="1" dirty="0">
                <a:latin typeface="Times New Roman" panose="02020603050405020304" pitchFamily="18" charset="0"/>
                <a:cs typeface="Times New Roman" panose="02020603050405020304" pitchFamily="18" charset="0"/>
              </a:rPr>
              <a:t>Layout XML Files:</a:t>
            </a:r>
          </a:p>
          <a:p>
            <a:pPr lvl="1"/>
            <a:r>
              <a:rPr lang="en-US" sz="1800" b="1" dirty="0">
                <a:latin typeface="Times New Roman" panose="02020603050405020304" pitchFamily="18" charset="0"/>
                <a:cs typeface="Times New Roman" panose="02020603050405020304" pitchFamily="18" charset="0"/>
              </a:rPr>
              <a:t>Manifest xml File</a:t>
            </a:r>
          </a:p>
          <a:p>
            <a:pPr lvl="1"/>
            <a:r>
              <a:rPr lang="en-US" sz="1800" b="1" dirty="0">
                <a:latin typeface="Times New Roman" panose="02020603050405020304" pitchFamily="18" charset="0"/>
                <a:cs typeface="Times New Roman" panose="02020603050405020304" pitchFamily="18" charset="0"/>
              </a:rPr>
              <a:t>Strings xml File</a:t>
            </a:r>
          </a:p>
          <a:p>
            <a:pPr lvl="1"/>
            <a:r>
              <a:rPr lang="en-US" sz="1800" b="1" dirty="0">
                <a:latin typeface="Times New Roman" panose="02020603050405020304" pitchFamily="18" charset="0"/>
                <a:cs typeface="Times New Roman" panose="02020603050405020304" pitchFamily="18" charset="0"/>
              </a:rPr>
              <a:t>Styles xml File</a:t>
            </a:r>
          </a:p>
          <a:p>
            <a:pPr lvl="1"/>
            <a:r>
              <a:rPr lang="en-US" sz="1800" b="1" dirty="0">
                <a:latin typeface="Times New Roman" panose="02020603050405020304" pitchFamily="18" charset="0"/>
                <a:cs typeface="Times New Roman" panose="02020603050405020304" pitchFamily="18" charset="0"/>
              </a:rPr>
              <a:t>Color xml File </a:t>
            </a:r>
            <a:endParaRPr lang="en-EG"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B0BCA81-A4CC-624B-9966-4569B2367AA5}"/>
              </a:ext>
            </a:extLst>
          </p:cNvPr>
          <p:cNvPicPr>
            <a:picLocks noChangeAspect="1"/>
          </p:cNvPicPr>
          <p:nvPr/>
        </p:nvPicPr>
        <p:blipFill>
          <a:blip r:embed="rId2"/>
          <a:stretch>
            <a:fillRect/>
          </a:stretch>
        </p:blipFill>
        <p:spPr>
          <a:xfrm>
            <a:off x="4869373" y="1584047"/>
            <a:ext cx="7199819" cy="3689906"/>
          </a:xfrm>
          <a:prstGeom prst="rect">
            <a:avLst/>
          </a:prstGeom>
        </p:spPr>
      </p:pic>
    </p:spTree>
    <p:extLst>
      <p:ext uri="{BB962C8B-B14F-4D97-AF65-F5344CB8AC3E}">
        <p14:creationId xmlns:p14="http://schemas.microsoft.com/office/powerpoint/2010/main" val="2889875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D728A-9FB3-2B47-AAF2-441022BBE191}"/>
              </a:ext>
            </a:extLst>
          </p:cNvPr>
          <p:cNvSpPr>
            <a:spLocks noGrp="1"/>
          </p:cNvSpPr>
          <p:nvPr>
            <p:ph type="title"/>
          </p:nvPr>
        </p:nvSpPr>
        <p:spPr/>
        <p:txBody>
          <a:bodyPr/>
          <a:lstStyle/>
          <a:p>
            <a:r>
              <a:rPr lang="en-US" b="1" dirty="0"/>
              <a:t>App components</a:t>
            </a:r>
            <a:endParaRPr lang="en-EG" dirty="0"/>
          </a:p>
        </p:txBody>
      </p:sp>
      <p:sp>
        <p:nvSpPr>
          <p:cNvPr id="3" name="Content Placeholder 2">
            <a:extLst>
              <a:ext uri="{FF2B5EF4-FFF2-40B4-BE49-F238E27FC236}">
                <a16:creationId xmlns:a16="http://schemas.microsoft.com/office/drawing/2014/main" id="{BBE3198D-5F65-664F-9FFF-0168D36B4B90}"/>
              </a:ext>
            </a:extLst>
          </p:cNvPr>
          <p:cNvSpPr>
            <a:spLocks noGrp="1"/>
          </p:cNvSpPr>
          <p:nvPr>
            <p:ph idx="1"/>
          </p:nvPr>
        </p:nvSpPr>
        <p:spPr/>
        <p:txBody>
          <a:bodyPr>
            <a:normAutofit lnSpcReduction="10000"/>
          </a:bodyPr>
          <a:lstStyle/>
          <a:p>
            <a:r>
              <a:rPr lang="en-US" dirty="0"/>
              <a:t>App components are the essential building blocks of an Android app. Each component is an entry point through which the system or a user can enter your app. Some components depend on others.</a:t>
            </a:r>
          </a:p>
          <a:p>
            <a:r>
              <a:rPr lang="en-US" dirty="0"/>
              <a:t>There are four different types of app components:</a:t>
            </a:r>
          </a:p>
          <a:p>
            <a:pPr lvl="1"/>
            <a:r>
              <a:rPr lang="en-US" dirty="0"/>
              <a:t>Activities</a:t>
            </a:r>
          </a:p>
          <a:p>
            <a:pPr lvl="1"/>
            <a:r>
              <a:rPr lang="en-US" dirty="0"/>
              <a:t>Services</a:t>
            </a:r>
          </a:p>
          <a:p>
            <a:pPr lvl="1"/>
            <a:r>
              <a:rPr lang="en-US" dirty="0"/>
              <a:t>Broadcast receivers</a:t>
            </a:r>
          </a:p>
          <a:p>
            <a:pPr lvl="1"/>
            <a:r>
              <a:rPr lang="en-US" dirty="0"/>
              <a:t>Content providers</a:t>
            </a:r>
          </a:p>
          <a:p>
            <a:r>
              <a:rPr lang="en-US" dirty="0"/>
              <a:t>Each type serves a distinct purpose and has a distinct lifecycle that defines how the component is created and destroyed. The following sections describe the four types of app components.</a:t>
            </a:r>
          </a:p>
          <a:p>
            <a:endParaRPr lang="en-EG" dirty="0"/>
          </a:p>
        </p:txBody>
      </p:sp>
    </p:spTree>
    <p:extLst>
      <p:ext uri="{BB962C8B-B14F-4D97-AF65-F5344CB8AC3E}">
        <p14:creationId xmlns:p14="http://schemas.microsoft.com/office/powerpoint/2010/main" val="6919474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C328-922C-F94C-9D76-CFE9057910DB}"/>
              </a:ext>
            </a:extLst>
          </p:cNvPr>
          <p:cNvSpPr>
            <a:spLocks noGrp="1"/>
          </p:cNvSpPr>
          <p:nvPr>
            <p:ph type="title"/>
          </p:nvPr>
        </p:nvSpPr>
        <p:spPr/>
        <p:txBody>
          <a:bodyPr/>
          <a:lstStyle/>
          <a:p>
            <a:r>
              <a:rPr lang="en-EG" dirty="0"/>
              <a:t>1. </a:t>
            </a:r>
            <a:r>
              <a:rPr lang="en-US" b="1" dirty="0">
                <a:effectLst/>
              </a:rPr>
              <a:t>Activities</a:t>
            </a:r>
            <a:endParaRPr lang="en-EG" dirty="0"/>
          </a:p>
        </p:txBody>
      </p:sp>
      <p:sp>
        <p:nvSpPr>
          <p:cNvPr id="3" name="Content Placeholder 2">
            <a:extLst>
              <a:ext uri="{FF2B5EF4-FFF2-40B4-BE49-F238E27FC236}">
                <a16:creationId xmlns:a16="http://schemas.microsoft.com/office/drawing/2014/main" id="{BA4C7309-B4C6-304B-8664-B52DD59CDAC7}"/>
              </a:ext>
            </a:extLst>
          </p:cNvPr>
          <p:cNvSpPr>
            <a:spLocks noGrp="1"/>
          </p:cNvSpPr>
          <p:nvPr>
            <p:ph idx="1"/>
          </p:nvPr>
        </p:nvSpPr>
        <p:spPr/>
        <p:txBody>
          <a:bodyPr/>
          <a:lstStyle/>
          <a:p>
            <a:r>
              <a:rPr lang="en-US" dirty="0"/>
              <a:t>An </a:t>
            </a:r>
            <a:r>
              <a:rPr lang="en-US" i="1" dirty="0"/>
              <a:t>activity</a:t>
            </a:r>
            <a:r>
              <a:rPr lang="en-US" dirty="0"/>
              <a:t> is the entry point for interacting with the user. It represents a single screen with a user interface. </a:t>
            </a:r>
          </a:p>
          <a:p>
            <a:r>
              <a:rPr lang="en-US" dirty="0"/>
              <a:t>Although the activities work together to form a cohesive user experience in the email app, each one is independent of the others. </a:t>
            </a:r>
          </a:p>
          <a:p>
            <a:r>
              <a:rPr lang="en-US" dirty="0"/>
              <a:t>Over the course of its lifetime, an activity goes through a number of states. You use a series of callbacks to handle transitions between states.</a:t>
            </a:r>
            <a:endParaRPr lang="en-EG" dirty="0"/>
          </a:p>
        </p:txBody>
      </p:sp>
    </p:spTree>
    <p:extLst>
      <p:ext uri="{BB962C8B-B14F-4D97-AF65-F5344CB8AC3E}">
        <p14:creationId xmlns:p14="http://schemas.microsoft.com/office/powerpoint/2010/main" val="3248326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78040-FC2D-DA4C-8194-855F0E90F7AD}"/>
              </a:ext>
            </a:extLst>
          </p:cNvPr>
          <p:cNvSpPr>
            <a:spLocks noGrp="1"/>
          </p:cNvSpPr>
          <p:nvPr>
            <p:ph type="title"/>
          </p:nvPr>
        </p:nvSpPr>
        <p:spPr/>
        <p:txBody>
          <a:bodyPr/>
          <a:lstStyle/>
          <a:p>
            <a:r>
              <a:rPr lang="en-US" b="1" dirty="0"/>
              <a:t>The activity states</a:t>
            </a:r>
            <a:endParaRPr lang="en-EG" dirty="0"/>
          </a:p>
        </p:txBody>
      </p:sp>
      <p:sp>
        <p:nvSpPr>
          <p:cNvPr id="3" name="Content Placeholder 2">
            <a:extLst>
              <a:ext uri="{FF2B5EF4-FFF2-40B4-BE49-F238E27FC236}">
                <a16:creationId xmlns:a16="http://schemas.microsoft.com/office/drawing/2014/main" id="{3D65067E-74A6-1C4F-9255-6B2962A24FF5}"/>
              </a:ext>
            </a:extLst>
          </p:cNvPr>
          <p:cNvSpPr>
            <a:spLocks noGrp="1"/>
          </p:cNvSpPr>
          <p:nvPr>
            <p:ph idx="1"/>
          </p:nvPr>
        </p:nvSpPr>
        <p:spPr/>
        <p:txBody>
          <a:bodyPr/>
          <a:lstStyle/>
          <a:p>
            <a:pPr marL="514350" indent="-514350">
              <a:buFont typeface="+mj-lt"/>
              <a:buAutoNum type="arabicPeriod"/>
            </a:pPr>
            <a:r>
              <a:rPr lang="en-US" b="1" dirty="0" err="1"/>
              <a:t>onCreate</a:t>
            </a:r>
            <a:r>
              <a:rPr lang="en-US" b="1" dirty="0"/>
              <a:t>()</a:t>
            </a:r>
          </a:p>
          <a:p>
            <a:pPr marL="457200" lvl="1" indent="0">
              <a:buNone/>
            </a:pPr>
            <a:r>
              <a:rPr lang="en-US" dirty="0"/>
              <a:t>You must implement this callback, which fires when the system creates your activity. Your implementation should initialize the essential components of your activity: For example, your app should create views and bind data to lists here. Most importantly, this is where you must call </a:t>
            </a:r>
            <a:r>
              <a:rPr lang="en-US" dirty="0" err="1"/>
              <a:t>setContentView</a:t>
            </a:r>
            <a:r>
              <a:rPr lang="en-US" dirty="0"/>
              <a:t>() to define the layout for the activity's user interface.</a:t>
            </a:r>
          </a:p>
          <a:p>
            <a:pPr marL="457200" lvl="1" indent="0">
              <a:buNone/>
            </a:pPr>
            <a:endParaRPr lang="en-US" dirty="0"/>
          </a:p>
          <a:p>
            <a:pPr marL="457200" lvl="1" indent="0">
              <a:buNone/>
            </a:pPr>
            <a:r>
              <a:rPr lang="en-US" dirty="0"/>
              <a:t>When </a:t>
            </a:r>
            <a:r>
              <a:rPr lang="en-US" dirty="0" err="1"/>
              <a:t>onCreate</a:t>
            </a:r>
            <a:r>
              <a:rPr lang="en-US" dirty="0"/>
              <a:t>() finishes, the next callback is always </a:t>
            </a:r>
            <a:r>
              <a:rPr lang="en-US" dirty="0" err="1"/>
              <a:t>onStart</a:t>
            </a:r>
            <a:r>
              <a:rPr lang="en-US" dirty="0"/>
              <a:t>().</a:t>
            </a:r>
          </a:p>
          <a:p>
            <a:pPr marL="0" indent="0">
              <a:buNone/>
            </a:pPr>
            <a:endParaRPr lang="en-EG" dirty="0"/>
          </a:p>
        </p:txBody>
      </p:sp>
    </p:spTree>
    <p:extLst>
      <p:ext uri="{BB962C8B-B14F-4D97-AF65-F5344CB8AC3E}">
        <p14:creationId xmlns:p14="http://schemas.microsoft.com/office/powerpoint/2010/main" val="2834163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A5BDB3-AA29-E147-AAF3-46E8F62B08FA}"/>
              </a:ext>
            </a:extLst>
          </p:cNvPr>
          <p:cNvSpPr>
            <a:spLocks noGrp="1"/>
          </p:cNvSpPr>
          <p:nvPr>
            <p:ph idx="1"/>
          </p:nvPr>
        </p:nvSpPr>
        <p:spPr>
          <a:xfrm>
            <a:off x="838200" y="464695"/>
            <a:ext cx="10515600" cy="5712268"/>
          </a:xfrm>
        </p:spPr>
        <p:txBody>
          <a:bodyPr>
            <a:normAutofit/>
          </a:bodyPr>
          <a:lstStyle/>
          <a:p>
            <a:pPr marL="0" indent="0">
              <a:buNone/>
            </a:pPr>
            <a:r>
              <a:rPr lang="en-EG" b="1" dirty="0"/>
              <a:t>2. </a:t>
            </a:r>
            <a:r>
              <a:rPr lang="en-US" b="1" dirty="0" err="1"/>
              <a:t>onStart</a:t>
            </a:r>
            <a:r>
              <a:rPr lang="en-US" b="1" dirty="0"/>
              <a:t>()</a:t>
            </a:r>
          </a:p>
          <a:p>
            <a:pPr marL="457200" lvl="1" indent="0">
              <a:buNone/>
            </a:pPr>
            <a:r>
              <a:rPr lang="en-US" dirty="0"/>
              <a:t>As </a:t>
            </a:r>
            <a:r>
              <a:rPr lang="en-US" dirty="0" err="1"/>
              <a:t>onCreate</a:t>
            </a:r>
            <a:r>
              <a:rPr lang="en-US" dirty="0"/>
              <a:t>() exits, the activity enters the Started state, and the activity becomes visible to the user. This callback contains what amounts to the activity’s final preparations for coming to the foreground and becoming interactive.</a:t>
            </a:r>
          </a:p>
          <a:p>
            <a:pPr marL="0" indent="0">
              <a:buNone/>
            </a:pPr>
            <a:r>
              <a:rPr lang="en-US" b="1" dirty="0"/>
              <a:t>3. </a:t>
            </a:r>
            <a:r>
              <a:rPr lang="en-US" b="1" dirty="0" err="1"/>
              <a:t>onResume</a:t>
            </a:r>
            <a:r>
              <a:rPr lang="en-US" b="1" dirty="0"/>
              <a:t>()</a:t>
            </a:r>
          </a:p>
          <a:p>
            <a:pPr marL="457200" lvl="1" indent="0">
              <a:buNone/>
            </a:pPr>
            <a:r>
              <a:rPr lang="en-US" dirty="0"/>
              <a:t>The system invokes this callback just before the activity starts interacting with the user. At this point, the activity is at the top of the activity stack, and captures all user input. Most of an app’s core functionality is implemented in the </a:t>
            </a:r>
            <a:r>
              <a:rPr lang="en-US" dirty="0" err="1"/>
              <a:t>onResume</a:t>
            </a:r>
            <a:r>
              <a:rPr lang="en-US" dirty="0"/>
              <a:t>() method.</a:t>
            </a:r>
          </a:p>
          <a:p>
            <a:pPr marL="457200" lvl="1" indent="0">
              <a:buNone/>
            </a:pPr>
            <a:r>
              <a:rPr lang="en-US" dirty="0"/>
              <a:t>The </a:t>
            </a:r>
            <a:r>
              <a:rPr lang="en-US" dirty="0" err="1"/>
              <a:t>onPause</a:t>
            </a:r>
            <a:r>
              <a:rPr lang="en-US" dirty="0"/>
              <a:t>() callback always follows </a:t>
            </a:r>
            <a:r>
              <a:rPr lang="en-US" dirty="0" err="1"/>
              <a:t>onResume</a:t>
            </a:r>
            <a:r>
              <a:rPr lang="en-US" dirty="0"/>
              <a:t>().</a:t>
            </a:r>
          </a:p>
          <a:p>
            <a:pPr marL="0" indent="0">
              <a:buNone/>
            </a:pPr>
            <a:br>
              <a:rPr lang="en-US" dirty="0"/>
            </a:br>
            <a:endParaRPr lang="en-EG" dirty="0"/>
          </a:p>
        </p:txBody>
      </p:sp>
    </p:spTree>
    <p:extLst>
      <p:ext uri="{BB962C8B-B14F-4D97-AF65-F5344CB8AC3E}">
        <p14:creationId xmlns:p14="http://schemas.microsoft.com/office/powerpoint/2010/main" val="2578917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09DD0-993B-5344-89F9-73722A1F7737}"/>
              </a:ext>
            </a:extLst>
          </p:cNvPr>
          <p:cNvSpPr>
            <a:spLocks noGrp="1"/>
          </p:cNvSpPr>
          <p:nvPr>
            <p:ph idx="1"/>
          </p:nvPr>
        </p:nvSpPr>
        <p:spPr>
          <a:xfrm>
            <a:off x="838200" y="374754"/>
            <a:ext cx="10515600" cy="5802209"/>
          </a:xfrm>
        </p:spPr>
        <p:txBody>
          <a:bodyPr>
            <a:normAutofit/>
          </a:bodyPr>
          <a:lstStyle/>
          <a:p>
            <a:pPr marL="0" indent="0">
              <a:buNone/>
            </a:pPr>
            <a:r>
              <a:rPr lang="en-US" b="1" dirty="0"/>
              <a:t>3. </a:t>
            </a:r>
            <a:r>
              <a:rPr lang="en-US" b="1" dirty="0" err="1"/>
              <a:t>onPause</a:t>
            </a:r>
            <a:r>
              <a:rPr lang="en-US" b="1" dirty="0"/>
              <a:t>()</a:t>
            </a:r>
          </a:p>
          <a:p>
            <a:r>
              <a:rPr lang="en-US" b="1" dirty="0"/>
              <a:t> Called when the activity loses focus (e.g., user presses Back, opens </a:t>
            </a:r>
            <a:r>
              <a:rPr lang="en-US" b="1" dirty="0" err="1"/>
              <a:t>Recents</a:t>
            </a:r>
            <a:r>
              <a:rPr lang="en-US" b="1" dirty="0"/>
              <a:t>, or another activity appears).</a:t>
            </a:r>
            <a:endParaRPr lang="en-US" dirty="0"/>
          </a:p>
          <a:p>
            <a:r>
              <a:rPr lang="en-US" b="1" dirty="0"/>
              <a:t>The activity is still partially visible but not in the foreground.</a:t>
            </a:r>
            <a:endParaRPr lang="en-US" dirty="0"/>
          </a:p>
          <a:p>
            <a:r>
              <a:rPr lang="en-US" b="1" dirty="0"/>
              <a:t>Can still update the UI if the user expects it (e.g., navigation map).</a:t>
            </a:r>
            <a:endParaRPr lang="en-US" dirty="0"/>
          </a:p>
          <a:p>
            <a:r>
              <a:rPr lang="en-US" b="1" dirty="0"/>
              <a:t> ❌ Do not use for saving data, making network calls, or heavy operations.</a:t>
            </a:r>
            <a:endParaRPr lang="en-US" dirty="0"/>
          </a:p>
          <a:p>
            <a:r>
              <a:rPr lang="en-US" b="1" dirty="0"/>
              <a:t>After </a:t>
            </a:r>
            <a:r>
              <a:rPr lang="en-US" b="1" dirty="0" err="1"/>
              <a:t>onPause</a:t>
            </a:r>
            <a:r>
              <a:rPr lang="en-US" b="1" dirty="0"/>
              <a:t>() finishes:</a:t>
            </a:r>
            <a:endParaRPr lang="en-US" dirty="0"/>
          </a:p>
          <a:p>
            <a:pPr lvl="0"/>
            <a:r>
              <a:rPr lang="en-US" b="1" dirty="0" err="1"/>
              <a:t>onResume</a:t>
            </a:r>
            <a:r>
              <a:rPr lang="en-US" b="1" dirty="0"/>
              <a:t>() is called if the user comes back.</a:t>
            </a:r>
            <a:endParaRPr lang="en-US" dirty="0"/>
          </a:p>
          <a:p>
            <a:pPr lvl="0"/>
            <a:r>
              <a:rPr lang="en-US" b="1" dirty="0" err="1"/>
              <a:t>onStop</a:t>
            </a:r>
            <a:r>
              <a:rPr lang="en-US" b="1" dirty="0"/>
              <a:t>() is called if the activity is fully hidden.</a:t>
            </a:r>
            <a:endParaRPr lang="en-US" dirty="0"/>
          </a:p>
          <a:p>
            <a:r>
              <a:rPr lang="en-US" dirty="0"/>
              <a:t> </a:t>
            </a:r>
          </a:p>
          <a:p>
            <a:pPr marL="0" indent="0">
              <a:buNone/>
            </a:pPr>
            <a:endParaRPr lang="en-EG" dirty="0"/>
          </a:p>
        </p:txBody>
      </p:sp>
    </p:spTree>
    <p:extLst>
      <p:ext uri="{BB962C8B-B14F-4D97-AF65-F5344CB8AC3E}">
        <p14:creationId xmlns:p14="http://schemas.microsoft.com/office/powerpoint/2010/main" val="111246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610E49-EBC7-E44A-BA1B-5AAE41003884}"/>
              </a:ext>
            </a:extLst>
          </p:cNvPr>
          <p:cNvSpPr>
            <a:spLocks noGrp="1"/>
          </p:cNvSpPr>
          <p:nvPr>
            <p:ph idx="1"/>
          </p:nvPr>
        </p:nvSpPr>
        <p:spPr>
          <a:xfrm>
            <a:off x="838200" y="404734"/>
            <a:ext cx="10515600" cy="5772229"/>
          </a:xfrm>
        </p:spPr>
        <p:txBody>
          <a:bodyPr/>
          <a:lstStyle/>
          <a:p>
            <a:pPr marL="0" indent="0">
              <a:buNone/>
            </a:pPr>
            <a:r>
              <a:rPr lang="en-US" b="1" dirty="0"/>
              <a:t>4. </a:t>
            </a:r>
            <a:r>
              <a:rPr lang="en-US" b="1" dirty="0" err="1"/>
              <a:t>onStop</a:t>
            </a:r>
            <a:r>
              <a:rPr lang="en-US" b="1" dirty="0"/>
              <a:t>()</a:t>
            </a:r>
          </a:p>
          <a:p>
            <a:pPr lvl="0"/>
            <a:r>
              <a:rPr lang="en-US" b="1" dirty="0"/>
              <a:t>Called when the activity is no longer visible to the user.</a:t>
            </a:r>
            <a:endParaRPr lang="en-US" dirty="0"/>
          </a:p>
          <a:p>
            <a:pPr lvl="0"/>
            <a:r>
              <a:rPr lang="en-US" b="1" dirty="0"/>
              <a:t>Happens if:</a:t>
            </a:r>
            <a:endParaRPr lang="en-US" dirty="0"/>
          </a:p>
          <a:p>
            <a:pPr lvl="1"/>
            <a:r>
              <a:rPr lang="en-US" b="1" dirty="0"/>
              <a:t>The activity is being destroyed.</a:t>
            </a:r>
            <a:endParaRPr lang="en-US" dirty="0"/>
          </a:p>
          <a:p>
            <a:pPr lvl="1"/>
            <a:r>
              <a:rPr lang="en-US" b="1" dirty="0"/>
              <a:t>A new activity starts.</a:t>
            </a:r>
            <a:endParaRPr lang="en-US" dirty="0"/>
          </a:p>
          <a:p>
            <a:pPr lvl="1"/>
            <a:r>
              <a:rPr lang="en-US" b="1" dirty="0"/>
              <a:t>Another activity comes to the foreground and fully covers it.</a:t>
            </a:r>
            <a:endParaRPr lang="en-US" dirty="0"/>
          </a:p>
          <a:p>
            <a:pPr lvl="0"/>
            <a:r>
              <a:rPr lang="en-US" b="1" dirty="0"/>
              <a:t>At this point, the activity is completely hidden.</a:t>
            </a:r>
            <a:endParaRPr lang="en-US" dirty="0"/>
          </a:p>
          <a:p>
            <a:pPr lvl="0"/>
            <a:r>
              <a:rPr lang="en-US" b="1" dirty="0"/>
              <a:t>Next callback:</a:t>
            </a:r>
            <a:endParaRPr lang="en-US" dirty="0"/>
          </a:p>
          <a:p>
            <a:pPr lvl="1"/>
            <a:r>
              <a:rPr lang="en-US" b="1" dirty="0" err="1"/>
              <a:t>onRestart</a:t>
            </a:r>
            <a:r>
              <a:rPr lang="en-US" b="1" dirty="0"/>
              <a:t>() → if the activity comes back to the user.</a:t>
            </a:r>
            <a:endParaRPr lang="en-US" dirty="0"/>
          </a:p>
          <a:p>
            <a:pPr lvl="1"/>
            <a:r>
              <a:rPr lang="en-US" b="1" dirty="0" err="1"/>
              <a:t>onDestroy</a:t>
            </a:r>
            <a:r>
              <a:rPr lang="en-US" b="1" dirty="0"/>
              <a:t>() → if the activity is finishing/terminated.</a:t>
            </a:r>
            <a:endParaRPr lang="en-US" dirty="0"/>
          </a:p>
          <a:p>
            <a:endParaRPr lang="en-US" dirty="0"/>
          </a:p>
          <a:p>
            <a:endParaRPr lang="en-EG" dirty="0"/>
          </a:p>
        </p:txBody>
      </p:sp>
    </p:spTree>
    <p:extLst>
      <p:ext uri="{BB962C8B-B14F-4D97-AF65-F5344CB8AC3E}">
        <p14:creationId xmlns:p14="http://schemas.microsoft.com/office/powerpoint/2010/main" val="17526977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4CD59D-C253-554F-9E34-FF59DB60D5F0}"/>
              </a:ext>
            </a:extLst>
          </p:cNvPr>
          <p:cNvSpPr>
            <a:spLocks noGrp="1"/>
          </p:cNvSpPr>
          <p:nvPr>
            <p:ph idx="1"/>
          </p:nvPr>
        </p:nvSpPr>
        <p:spPr>
          <a:xfrm>
            <a:off x="838200" y="344774"/>
            <a:ext cx="10515600" cy="5832189"/>
          </a:xfrm>
        </p:spPr>
        <p:txBody>
          <a:bodyPr>
            <a:normAutofit/>
          </a:bodyPr>
          <a:lstStyle/>
          <a:p>
            <a:pPr marL="0" indent="0">
              <a:buNone/>
            </a:pPr>
            <a:r>
              <a:rPr lang="en-US" b="1" dirty="0"/>
              <a:t>5. </a:t>
            </a:r>
            <a:r>
              <a:rPr lang="en-US" b="1" dirty="0" err="1"/>
              <a:t>onRestart</a:t>
            </a:r>
            <a:r>
              <a:rPr lang="en-US" b="1" dirty="0"/>
              <a:t>()</a:t>
            </a:r>
          </a:p>
          <a:p>
            <a:pPr lvl="1"/>
            <a:r>
              <a:rPr lang="en-US" dirty="0"/>
              <a:t>The system invokes this callback when an activity in the Stopped state is about to restart. </a:t>
            </a:r>
            <a:r>
              <a:rPr lang="en-US" dirty="0">
                <a:hlinkClick r:id="rId2">
                  <a:extLst>
                    <a:ext uri="{A12FA001-AC4F-418D-AE19-62706E023703}">
                      <ahyp:hlinkClr xmlns:ahyp="http://schemas.microsoft.com/office/drawing/2018/hyperlinkcolor" val="tx"/>
                    </a:ext>
                  </a:extLst>
                </a:hlinkClick>
              </a:rPr>
              <a:t>onRestart()</a:t>
            </a:r>
            <a:r>
              <a:rPr lang="en-US" dirty="0"/>
              <a:t>restores the state of the activity from the time that it was stopped.</a:t>
            </a:r>
          </a:p>
          <a:p>
            <a:pPr lvl="1"/>
            <a:r>
              <a:rPr lang="en-US" dirty="0"/>
              <a:t>This callback is always followed by </a:t>
            </a:r>
            <a:r>
              <a:rPr lang="en-US" dirty="0">
                <a:hlinkClick r:id="rId3">
                  <a:extLst>
                    <a:ext uri="{A12FA001-AC4F-418D-AE19-62706E023703}">
                      <ahyp:hlinkClr xmlns:ahyp="http://schemas.microsoft.com/office/drawing/2018/hyperlinkcolor" val="tx"/>
                    </a:ext>
                  </a:extLst>
                </a:hlinkClick>
              </a:rPr>
              <a:t>onStart()</a:t>
            </a:r>
            <a:r>
              <a:rPr lang="en-US" dirty="0"/>
              <a:t>.</a:t>
            </a:r>
          </a:p>
          <a:p>
            <a:pPr marL="0" indent="0">
              <a:buNone/>
            </a:pPr>
            <a:r>
              <a:rPr lang="en-US" b="1" dirty="0"/>
              <a:t>6. </a:t>
            </a:r>
            <a:r>
              <a:rPr lang="en-US" b="1" dirty="0" err="1"/>
              <a:t>onDestroy</a:t>
            </a:r>
            <a:r>
              <a:rPr lang="en-US" b="1" dirty="0"/>
              <a:t>()</a:t>
            </a:r>
          </a:p>
          <a:p>
            <a:pPr lvl="1"/>
            <a:r>
              <a:rPr lang="en-US" dirty="0"/>
              <a:t>The system invokes this callback before an activity is destroyed.</a:t>
            </a:r>
          </a:p>
          <a:p>
            <a:pPr lvl="1"/>
            <a:r>
              <a:rPr lang="en-US" dirty="0"/>
              <a:t>This callback is the final one that the activity receives. </a:t>
            </a:r>
            <a:r>
              <a:rPr lang="en-US" dirty="0">
                <a:hlinkClick r:id="rId4">
                  <a:extLst>
                    <a:ext uri="{A12FA001-AC4F-418D-AE19-62706E023703}">
                      <ahyp:hlinkClr xmlns:ahyp="http://schemas.microsoft.com/office/drawing/2018/hyperlinkcolor" val="tx"/>
                    </a:ext>
                  </a:extLst>
                </a:hlinkClick>
              </a:rPr>
              <a:t>onDestroy()</a:t>
            </a:r>
            <a:r>
              <a:rPr lang="en-US" dirty="0"/>
              <a:t> is usually implemented to ensure that all of an activity’s resources are released when the activity, or the process containing it, is destroyed.</a:t>
            </a:r>
          </a:p>
          <a:p>
            <a:pPr lvl="1"/>
            <a:r>
              <a:rPr lang="en-US" dirty="0"/>
              <a:t>This section provides only an introduction to this topic. For a more detailed treatment of the activity lifecycle and its callbacks, see </a:t>
            </a:r>
            <a:r>
              <a:rPr lang="en-US" dirty="0">
                <a:hlinkClick r:id="rId5">
                  <a:extLst>
                    <a:ext uri="{A12FA001-AC4F-418D-AE19-62706E023703}">
                      <ahyp:hlinkClr xmlns:ahyp="http://schemas.microsoft.com/office/drawing/2018/hyperlinkcolor" val="tx"/>
                    </a:ext>
                  </a:extLst>
                </a:hlinkClick>
              </a:rPr>
              <a:t>The Activity Lifecycle</a:t>
            </a:r>
            <a:r>
              <a:rPr lang="en-US" dirty="0"/>
              <a:t>.</a:t>
            </a:r>
          </a:p>
          <a:p>
            <a:endParaRPr lang="en-EG" dirty="0"/>
          </a:p>
        </p:txBody>
      </p:sp>
    </p:spTree>
    <p:extLst>
      <p:ext uri="{BB962C8B-B14F-4D97-AF65-F5344CB8AC3E}">
        <p14:creationId xmlns:p14="http://schemas.microsoft.com/office/powerpoint/2010/main" val="1276978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699AE-E80C-084E-A073-2FDCBC5C4AF7}"/>
              </a:ext>
            </a:extLst>
          </p:cNvPr>
          <p:cNvSpPr>
            <a:spLocks noGrp="1"/>
          </p:cNvSpPr>
          <p:nvPr>
            <p:ph type="title"/>
          </p:nvPr>
        </p:nvSpPr>
        <p:spPr>
          <a:xfrm>
            <a:off x="838200" y="365125"/>
            <a:ext cx="10515600" cy="729157"/>
          </a:xfrm>
        </p:spPr>
        <p:txBody>
          <a:bodyPr>
            <a:normAutofit/>
          </a:bodyPr>
          <a:lstStyle/>
          <a:p>
            <a:r>
              <a:rPr lang="en-EG" sz="2800" dirty="0"/>
              <a:t>To sum it up</a:t>
            </a:r>
          </a:p>
        </p:txBody>
      </p:sp>
      <p:graphicFrame>
        <p:nvGraphicFramePr>
          <p:cNvPr id="4" name="Content Placeholder 3">
            <a:extLst>
              <a:ext uri="{FF2B5EF4-FFF2-40B4-BE49-F238E27FC236}">
                <a16:creationId xmlns:a16="http://schemas.microsoft.com/office/drawing/2014/main" id="{2AB10CD3-8064-B542-A379-CA1B7693D446}"/>
              </a:ext>
            </a:extLst>
          </p:cNvPr>
          <p:cNvGraphicFramePr>
            <a:graphicFrameLocks noGrp="1"/>
          </p:cNvGraphicFramePr>
          <p:nvPr>
            <p:ph idx="1"/>
            <p:extLst>
              <p:ext uri="{D42A27DB-BD31-4B8C-83A1-F6EECF244321}">
                <p14:modId xmlns:p14="http://schemas.microsoft.com/office/powerpoint/2010/main" val="3000572942"/>
              </p:ext>
            </p:extLst>
          </p:nvPr>
        </p:nvGraphicFramePr>
        <p:xfrm>
          <a:off x="989350" y="1094282"/>
          <a:ext cx="10208302" cy="5276539"/>
        </p:xfrm>
        <a:graphic>
          <a:graphicData uri="http://schemas.openxmlformats.org/drawingml/2006/table">
            <a:tbl>
              <a:tblPr/>
              <a:tblGrid>
                <a:gridCol w="2518348">
                  <a:extLst>
                    <a:ext uri="{9D8B030D-6E8A-4147-A177-3AD203B41FA5}">
                      <a16:colId xmlns:a16="http://schemas.microsoft.com/office/drawing/2014/main" val="238098232"/>
                    </a:ext>
                  </a:extLst>
                </a:gridCol>
                <a:gridCol w="7689954">
                  <a:extLst>
                    <a:ext uri="{9D8B030D-6E8A-4147-A177-3AD203B41FA5}">
                      <a16:colId xmlns:a16="http://schemas.microsoft.com/office/drawing/2014/main" val="1255444896"/>
                    </a:ext>
                  </a:extLst>
                </a:gridCol>
              </a:tblGrid>
              <a:tr h="516693">
                <a:tc>
                  <a:txBody>
                    <a:bodyPr/>
                    <a:lstStyle/>
                    <a:p>
                      <a:pPr algn="ctr" fontAlgn="t"/>
                      <a:r>
                        <a:rPr lang="en-US" sz="1500" dirty="0">
                          <a:solidFill>
                            <a:srgbClr val="000000"/>
                          </a:solidFill>
                          <a:effectLst/>
                          <a:latin typeface="times new roman" panose="02020603050405020304" pitchFamily="18" charset="0"/>
                        </a:rPr>
                        <a:t>Method</a:t>
                      </a:r>
                    </a:p>
                  </a:txBody>
                  <a:tcPr marL="96840" marR="96840" marT="96840" marB="96840">
                    <a:lnL w="9525" cap="flat" cmpd="sng" algn="ctr">
                      <a:solidFill>
                        <a:srgbClr val="900D0E"/>
                      </a:solidFill>
                      <a:prstDash val="solid"/>
                      <a:round/>
                      <a:headEnd type="none" w="med" len="med"/>
                      <a:tailEnd type="none" w="med" len="med"/>
                    </a:lnL>
                    <a:lnR w="9525" cap="flat" cmpd="sng" algn="ctr">
                      <a:solidFill>
                        <a:srgbClr val="900D0E"/>
                      </a:solidFill>
                      <a:prstDash val="solid"/>
                      <a:round/>
                      <a:headEnd type="none" w="med" len="med"/>
                      <a:tailEnd type="none" w="med" len="med"/>
                    </a:lnR>
                    <a:lnT w="9525" cap="flat" cmpd="sng" algn="ctr">
                      <a:solidFill>
                        <a:srgbClr val="900D0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US" sz="1500" dirty="0">
                          <a:solidFill>
                            <a:srgbClr val="000000"/>
                          </a:solidFill>
                          <a:effectLst/>
                          <a:latin typeface="times new roman" panose="02020603050405020304" pitchFamily="18" charset="0"/>
                        </a:rPr>
                        <a:t>Description</a:t>
                      </a:r>
                    </a:p>
                  </a:txBody>
                  <a:tcPr marL="96840" marR="96840" marT="96840" marB="96840">
                    <a:lnL w="9525" cap="flat" cmpd="sng" algn="ctr">
                      <a:solidFill>
                        <a:srgbClr val="900D0E"/>
                      </a:solidFill>
                      <a:prstDash val="solid"/>
                      <a:round/>
                      <a:headEnd type="none" w="med" len="med"/>
                      <a:tailEnd type="none" w="med" len="med"/>
                    </a:lnL>
                    <a:lnR w="9525" cap="flat" cmpd="sng" algn="ctr">
                      <a:solidFill>
                        <a:srgbClr val="900D0E"/>
                      </a:solidFill>
                      <a:prstDash val="solid"/>
                      <a:round/>
                      <a:headEnd type="none" w="med" len="med"/>
                      <a:tailEnd type="none" w="med" len="med"/>
                    </a:lnR>
                    <a:lnT w="9525" cap="flat" cmpd="sng" algn="ctr">
                      <a:solidFill>
                        <a:srgbClr val="900D0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2055002544"/>
                  </a:ext>
                </a:extLst>
              </a:tr>
              <a:tr h="438406">
                <a:tc>
                  <a:txBody>
                    <a:bodyPr/>
                    <a:lstStyle/>
                    <a:p>
                      <a:pPr algn="ctr" fontAlgn="t"/>
                      <a:r>
                        <a:rPr lang="en-US" sz="1500" b="1">
                          <a:solidFill>
                            <a:srgbClr val="333333"/>
                          </a:solidFill>
                          <a:effectLst/>
                          <a:latin typeface="inter-bold"/>
                        </a:rPr>
                        <a:t>onCreate</a:t>
                      </a:r>
                      <a:endParaRPr lang="en-US" sz="150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500">
                          <a:solidFill>
                            <a:srgbClr val="333333"/>
                          </a:solidFill>
                          <a:effectLst/>
                          <a:latin typeface="inter-regular"/>
                        </a:rPr>
                        <a:t>called when activity is first created.</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42749213"/>
                  </a:ext>
                </a:extLst>
              </a:tr>
              <a:tr h="720240">
                <a:tc>
                  <a:txBody>
                    <a:bodyPr/>
                    <a:lstStyle/>
                    <a:p>
                      <a:pPr algn="ctr" fontAlgn="t"/>
                      <a:r>
                        <a:rPr lang="en-US" sz="1500" b="1" dirty="0" err="1">
                          <a:solidFill>
                            <a:srgbClr val="333333"/>
                          </a:solidFill>
                          <a:effectLst/>
                          <a:latin typeface="inter-bold"/>
                        </a:rPr>
                        <a:t>onStart</a:t>
                      </a:r>
                      <a:endParaRPr lang="en-US" sz="1500" dirty="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500">
                          <a:solidFill>
                            <a:srgbClr val="333333"/>
                          </a:solidFill>
                          <a:effectLst/>
                          <a:latin typeface="inter-regular"/>
                        </a:rPr>
                        <a:t>called when activity is becoming visible to the user.</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53657165"/>
                  </a:ext>
                </a:extLst>
              </a:tr>
              <a:tr h="720240">
                <a:tc>
                  <a:txBody>
                    <a:bodyPr/>
                    <a:lstStyle/>
                    <a:p>
                      <a:pPr algn="ctr" fontAlgn="t"/>
                      <a:r>
                        <a:rPr lang="en-US" sz="1500" b="1">
                          <a:solidFill>
                            <a:srgbClr val="333333"/>
                          </a:solidFill>
                          <a:effectLst/>
                          <a:latin typeface="inter-bold"/>
                        </a:rPr>
                        <a:t>onResume</a:t>
                      </a:r>
                      <a:endParaRPr lang="en-US" sz="150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500">
                          <a:solidFill>
                            <a:srgbClr val="333333"/>
                          </a:solidFill>
                          <a:effectLst/>
                          <a:latin typeface="inter-regular"/>
                        </a:rPr>
                        <a:t>called when activity will start interacting with the user.</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773406145"/>
                  </a:ext>
                </a:extLst>
              </a:tr>
              <a:tr h="720240">
                <a:tc>
                  <a:txBody>
                    <a:bodyPr/>
                    <a:lstStyle/>
                    <a:p>
                      <a:pPr algn="ctr" fontAlgn="t"/>
                      <a:r>
                        <a:rPr lang="en-US" sz="1500" b="1">
                          <a:solidFill>
                            <a:srgbClr val="333333"/>
                          </a:solidFill>
                          <a:effectLst/>
                          <a:latin typeface="inter-bold"/>
                        </a:rPr>
                        <a:t>onPause</a:t>
                      </a:r>
                      <a:endParaRPr lang="en-US" sz="150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500">
                          <a:solidFill>
                            <a:srgbClr val="333333"/>
                          </a:solidFill>
                          <a:effectLst/>
                          <a:latin typeface="inter-regular"/>
                        </a:rPr>
                        <a:t>called when activity is not visible to the user.</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45168891"/>
                  </a:ext>
                </a:extLst>
              </a:tr>
              <a:tr h="720240">
                <a:tc>
                  <a:txBody>
                    <a:bodyPr/>
                    <a:lstStyle/>
                    <a:p>
                      <a:pPr algn="ctr" fontAlgn="t"/>
                      <a:r>
                        <a:rPr lang="en-US" sz="1500" b="1">
                          <a:solidFill>
                            <a:srgbClr val="333333"/>
                          </a:solidFill>
                          <a:effectLst/>
                          <a:latin typeface="inter-bold"/>
                        </a:rPr>
                        <a:t>onStop</a:t>
                      </a:r>
                      <a:endParaRPr lang="en-US" sz="150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500">
                          <a:solidFill>
                            <a:srgbClr val="333333"/>
                          </a:solidFill>
                          <a:effectLst/>
                          <a:latin typeface="inter-regular"/>
                        </a:rPr>
                        <a:t>called when activity is no longer visible to the user.</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45684986"/>
                  </a:ext>
                </a:extLst>
              </a:tr>
              <a:tr h="720240">
                <a:tc>
                  <a:txBody>
                    <a:bodyPr/>
                    <a:lstStyle/>
                    <a:p>
                      <a:pPr algn="ctr" fontAlgn="t"/>
                      <a:r>
                        <a:rPr lang="en-US" sz="1500" b="1">
                          <a:solidFill>
                            <a:srgbClr val="333333"/>
                          </a:solidFill>
                          <a:effectLst/>
                          <a:latin typeface="inter-bold"/>
                        </a:rPr>
                        <a:t>onRestart</a:t>
                      </a:r>
                      <a:endParaRPr lang="en-US" sz="150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500">
                          <a:solidFill>
                            <a:srgbClr val="333333"/>
                          </a:solidFill>
                          <a:effectLst/>
                          <a:latin typeface="inter-regular"/>
                        </a:rPr>
                        <a:t>called after your activity is stopped, prior to start.</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47708202"/>
                  </a:ext>
                </a:extLst>
              </a:tr>
              <a:tr h="720240">
                <a:tc>
                  <a:txBody>
                    <a:bodyPr/>
                    <a:lstStyle/>
                    <a:p>
                      <a:pPr algn="ctr" fontAlgn="t"/>
                      <a:r>
                        <a:rPr lang="en-US" sz="1500" b="1" dirty="0" err="1">
                          <a:solidFill>
                            <a:srgbClr val="333333"/>
                          </a:solidFill>
                          <a:effectLst/>
                          <a:latin typeface="inter-bold"/>
                        </a:rPr>
                        <a:t>onDestroy</a:t>
                      </a:r>
                      <a:endParaRPr lang="en-US" sz="1500" dirty="0">
                        <a:solidFill>
                          <a:srgbClr val="333333"/>
                        </a:solidFill>
                        <a:effectLst/>
                        <a:latin typeface="inter-regular"/>
                      </a:endParaRP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500" dirty="0">
                          <a:solidFill>
                            <a:srgbClr val="333333"/>
                          </a:solidFill>
                          <a:effectLst/>
                          <a:latin typeface="inter-regular"/>
                        </a:rPr>
                        <a:t>called before the activity is destroyed.</a:t>
                      </a:r>
                    </a:p>
                  </a:txBody>
                  <a:tcPr marL="64560" marR="64560" marT="64560" marB="645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334948455"/>
                  </a:ext>
                </a:extLst>
              </a:tr>
            </a:tbl>
          </a:graphicData>
        </a:graphic>
      </p:graphicFrame>
    </p:spTree>
    <p:extLst>
      <p:ext uri="{BB962C8B-B14F-4D97-AF65-F5344CB8AC3E}">
        <p14:creationId xmlns:p14="http://schemas.microsoft.com/office/powerpoint/2010/main" val="2290643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3244B-E1FC-A54C-897C-D8D53559A465}"/>
              </a:ext>
            </a:extLst>
          </p:cNvPr>
          <p:cNvSpPr>
            <a:spLocks noGrp="1"/>
          </p:cNvSpPr>
          <p:nvPr>
            <p:ph type="title"/>
          </p:nvPr>
        </p:nvSpPr>
        <p:spPr/>
        <p:txBody>
          <a:bodyPr/>
          <a:lstStyle/>
          <a:p>
            <a:r>
              <a:rPr lang="en-US" dirty="0"/>
              <a:t>T</a:t>
            </a:r>
            <a:r>
              <a:rPr lang="en-EG" dirty="0"/>
              <a:t>he activity life cycle</a:t>
            </a:r>
          </a:p>
        </p:txBody>
      </p:sp>
      <p:sp>
        <p:nvSpPr>
          <p:cNvPr id="3" name="Content Placeholder 2">
            <a:extLst>
              <a:ext uri="{FF2B5EF4-FFF2-40B4-BE49-F238E27FC236}">
                <a16:creationId xmlns:a16="http://schemas.microsoft.com/office/drawing/2014/main" id="{A8361624-3DF8-7A4C-AAB0-D53B67AF2A64}"/>
              </a:ext>
            </a:extLst>
          </p:cNvPr>
          <p:cNvSpPr>
            <a:spLocks noGrp="1"/>
          </p:cNvSpPr>
          <p:nvPr>
            <p:ph idx="1"/>
          </p:nvPr>
        </p:nvSpPr>
        <p:spPr>
          <a:xfrm>
            <a:off x="838200" y="1825625"/>
            <a:ext cx="4828082" cy="4351338"/>
          </a:xfrm>
        </p:spPr>
        <p:txBody>
          <a:bodyPr/>
          <a:lstStyle/>
          <a:p>
            <a:r>
              <a:rPr lang="en-US" dirty="0"/>
              <a:t>The 7 lifecycle method of Activity describes how activity will behave at different states.</a:t>
            </a:r>
            <a:endParaRPr lang="en-EG" dirty="0"/>
          </a:p>
        </p:txBody>
      </p:sp>
      <p:pic>
        <p:nvPicPr>
          <p:cNvPr id="1030" name="Picture 6" descr="android activity lifecycle">
            <a:extLst>
              <a:ext uri="{FF2B5EF4-FFF2-40B4-BE49-F238E27FC236}">
                <a16:creationId xmlns:a16="http://schemas.microsoft.com/office/drawing/2014/main" id="{CCB93D24-E750-8443-BF65-FF5326F66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8483" y="0"/>
            <a:ext cx="5329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716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AEDBD-DB5A-164A-8751-1BAE0B11ACC4}"/>
              </a:ext>
            </a:extLst>
          </p:cNvPr>
          <p:cNvSpPr>
            <a:spLocks noGrp="1"/>
          </p:cNvSpPr>
          <p:nvPr>
            <p:ph type="title"/>
          </p:nvPr>
        </p:nvSpPr>
        <p:spPr>
          <a:xfrm>
            <a:off x="838200" y="365125"/>
            <a:ext cx="10515600" cy="939019"/>
          </a:xfrm>
        </p:spPr>
        <p:txBody>
          <a:bodyPr/>
          <a:lstStyle/>
          <a:p>
            <a:r>
              <a:rPr lang="en-EG" dirty="0"/>
              <a:t>2. Services</a:t>
            </a:r>
          </a:p>
        </p:txBody>
      </p:sp>
      <p:sp>
        <p:nvSpPr>
          <p:cNvPr id="3" name="Content Placeholder 2">
            <a:extLst>
              <a:ext uri="{FF2B5EF4-FFF2-40B4-BE49-F238E27FC236}">
                <a16:creationId xmlns:a16="http://schemas.microsoft.com/office/drawing/2014/main" id="{0F816707-E84D-F640-A5A7-847048BEE3E6}"/>
              </a:ext>
            </a:extLst>
          </p:cNvPr>
          <p:cNvSpPr>
            <a:spLocks noGrp="1"/>
          </p:cNvSpPr>
          <p:nvPr>
            <p:ph idx="1"/>
          </p:nvPr>
        </p:nvSpPr>
        <p:spPr>
          <a:xfrm>
            <a:off x="838200" y="1304144"/>
            <a:ext cx="10515600" cy="4872819"/>
          </a:xfrm>
        </p:spPr>
        <p:txBody>
          <a:bodyPr>
            <a:normAutofit/>
          </a:bodyPr>
          <a:lstStyle/>
          <a:p>
            <a:pPr marL="0" indent="0">
              <a:buNone/>
            </a:pPr>
            <a:r>
              <a:rPr lang="en-US" sz="2400" b="1" dirty="0"/>
              <a:t>Service in Android:</a:t>
            </a:r>
          </a:p>
          <a:p>
            <a:pPr lvl="1"/>
            <a:r>
              <a:rPr lang="en-US" dirty="0"/>
              <a:t>Runs in the </a:t>
            </a:r>
            <a:r>
              <a:rPr lang="en-US" b="1" dirty="0"/>
              <a:t>background</a:t>
            </a:r>
            <a:r>
              <a:rPr lang="en-US" dirty="0"/>
              <a:t>, no UI.</a:t>
            </a:r>
          </a:p>
          <a:p>
            <a:pPr lvl="1"/>
            <a:r>
              <a:rPr lang="en-US" dirty="0"/>
              <a:t>Used for </a:t>
            </a:r>
            <a:r>
              <a:rPr lang="en-US" b="1" dirty="0"/>
              <a:t>long-running tasks</a:t>
            </a:r>
            <a:r>
              <a:rPr lang="en-US" dirty="0"/>
              <a:t> (network, sync).</a:t>
            </a:r>
          </a:p>
          <a:p>
            <a:pPr lvl="1"/>
            <a:r>
              <a:rPr lang="en-US" dirty="0"/>
              <a:t>Keeps app alive even when user switches apps.</a:t>
            </a:r>
          </a:p>
          <a:p>
            <a:pPr marL="0" indent="0">
              <a:buNone/>
            </a:pPr>
            <a:endParaRPr lang="en-US" sz="2400" dirty="0"/>
          </a:p>
          <a:p>
            <a:r>
              <a:rPr lang="en-US" sz="2400" b="1" dirty="0"/>
              <a:t>Types of Services</a:t>
            </a:r>
          </a:p>
          <a:p>
            <a:pPr lvl="1"/>
            <a:r>
              <a:rPr lang="en-US" b="1" dirty="0"/>
              <a:t>Foreground</a:t>
            </a:r>
            <a:r>
              <a:rPr lang="en-US" dirty="0"/>
              <a:t> → Visible, shows notification (e.g., downloads).</a:t>
            </a:r>
          </a:p>
          <a:p>
            <a:pPr lvl="1"/>
            <a:r>
              <a:rPr lang="en-US" b="1" dirty="0"/>
              <a:t>Background</a:t>
            </a:r>
            <a:r>
              <a:rPr lang="en-US" dirty="0"/>
              <a:t> → Hidden, runs silently (e.g., syncing, storing data).</a:t>
            </a:r>
          </a:p>
          <a:p>
            <a:pPr lvl="1"/>
            <a:r>
              <a:rPr lang="en-US" b="1" dirty="0"/>
              <a:t>Bound</a:t>
            </a:r>
            <a:r>
              <a:rPr lang="en-US" dirty="0"/>
              <a:t> → Runs only while another component is bound via </a:t>
            </a:r>
            <a:r>
              <a:rPr lang="en-US" dirty="0" err="1"/>
              <a:t>bindService</a:t>
            </a:r>
            <a:r>
              <a:rPr lang="en-US" dirty="0"/>
              <a:t>()(e.g., Real-time Order Status).</a:t>
            </a:r>
          </a:p>
        </p:txBody>
      </p:sp>
    </p:spTree>
    <p:extLst>
      <p:ext uri="{BB962C8B-B14F-4D97-AF65-F5344CB8AC3E}">
        <p14:creationId xmlns:p14="http://schemas.microsoft.com/office/powerpoint/2010/main" val="3666653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4C9BEF-BC84-AE43-B39B-DE36A3B4A257}"/>
              </a:ext>
            </a:extLst>
          </p:cNvPr>
          <p:cNvSpPr>
            <a:spLocks noGrp="1"/>
          </p:cNvSpPr>
          <p:nvPr>
            <p:ph type="title"/>
          </p:nvPr>
        </p:nvSpPr>
        <p:spPr>
          <a:xfrm>
            <a:off x="411480" y="991443"/>
            <a:ext cx="4443154" cy="1087819"/>
          </a:xfrm>
        </p:spPr>
        <p:txBody>
          <a:bodyPr anchor="b">
            <a:normAutofit/>
          </a:bodyPr>
          <a:lstStyle/>
          <a:p>
            <a:r>
              <a:rPr lang="en-EG" sz="3400" dirty="0"/>
              <a:t>3. </a:t>
            </a:r>
            <a:r>
              <a:rPr lang="en-US" sz="3400" b="1" dirty="0">
                <a:effectLst/>
              </a:rPr>
              <a:t>Broadcast receivers</a:t>
            </a:r>
            <a:endParaRPr lang="en-EG" sz="3400" dirty="0"/>
          </a:p>
        </p:txBody>
      </p:sp>
      <p:sp>
        <p:nvSpPr>
          <p:cNvPr id="73" name="Rectangle 72">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5" name="Rectangle 74">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4FDA838-A7E1-8049-9B91-745D244E8F79}"/>
              </a:ext>
            </a:extLst>
          </p:cNvPr>
          <p:cNvSpPr>
            <a:spLocks noGrp="1"/>
          </p:cNvSpPr>
          <p:nvPr>
            <p:ph idx="1"/>
          </p:nvPr>
        </p:nvSpPr>
        <p:spPr>
          <a:xfrm>
            <a:off x="411479" y="2559913"/>
            <a:ext cx="4820087" cy="3655244"/>
          </a:xfrm>
        </p:spPr>
        <p:txBody>
          <a:bodyPr>
            <a:noAutofit/>
          </a:bodyPr>
          <a:lstStyle/>
          <a:p>
            <a:r>
              <a:rPr lang="en-US" sz="1800" b="1" dirty="0"/>
              <a:t>Definition:</a:t>
            </a:r>
            <a:r>
              <a:rPr lang="en-US" sz="1800" dirty="0"/>
              <a:t> A component that lets the app listen for </a:t>
            </a:r>
            <a:r>
              <a:rPr lang="en-US" sz="1800" b="1" dirty="0"/>
              <a:t>system-wide events</a:t>
            </a:r>
            <a:r>
              <a:rPr lang="en-US" sz="1800" dirty="0"/>
              <a:t> and respond, even if the app has </a:t>
            </a:r>
            <a:r>
              <a:rPr lang="en-US" sz="1800" b="1" dirty="0"/>
              <a:t>no UI open</a:t>
            </a:r>
            <a:r>
              <a:rPr lang="en-US" sz="1800" dirty="0"/>
              <a:t>.</a:t>
            </a:r>
          </a:p>
          <a:p>
            <a:r>
              <a:rPr lang="en-US" sz="1800" b="1" dirty="0"/>
              <a:t>Key Point:</a:t>
            </a:r>
            <a:r>
              <a:rPr lang="en-US" sz="1800" dirty="0"/>
              <a:t> Works in the background; reacts when the system (or another app) sends a broadcast.</a:t>
            </a:r>
            <a:br>
              <a:rPr lang="en-US" sz="1800" dirty="0"/>
            </a:br>
            <a:endParaRPr lang="en-US" sz="1800" dirty="0"/>
          </a:p>
          <a:p>
            <a:pPr marL="0" indent="0">
              <a:buNone/>
            </a:pPr>
            <a:r>
              <a:rPr lang="en-US" sz="1800" b="1" dirty="0"/>
              <a:t>🔹 Examples of System Broadcasts</a:t>
            </a:r>
          </a:p>
          <a:p>
            <a:pPr lvl="1"/>
            <a:r>
              <a:rPr lang="en-US" sz="1800" dirty="0"/>
              <a:t>🔋 Battery low (ACTION_BATTERY_LOW)</a:t>
            </a:r>
          </a:p>
          <a:p>
            <a:pPr lvl="1"/>
            <a:r>
              <a:rPr lang="en-US" sz="1800" dirty="0"/>
              <a:t>📶 Network/Wi-Fi change  (CONNECTIVITY_ACTION)</a:t>
            </a:r>
          </a:p>
          <a:p>
            <a:pPr lvl="1"/>
            <a:r>
              <a:rPr lang="en-US" sz="1800" dirty="0"/>
              <a:t>📱 Device boot completed (BOOT_COMPLETED)</a:t>
            </a:r>
          </a:p>
        </p:txBody>
      </p:sp>
      <p:pic>
        <p:nvPicPr>
          <p:cNvPr id="4098" name="Picture 2" descr="Android Broadcast Receiver">
            <a:extLst>
              <a:ext uri="{FF2B5EF4-FFF2-40B4-BE49-F238E27FC236}">
                <a16:creationId xmlns:a16="http://schemas.microsoft.com/office/drawing/2014/main" id="{24FE6A5C-6874-5341-8A7B-8C1AA1B70C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85816" y="1734862"/>
            <a:ext cx="6440424" cy="3332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30879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4" name="Rectangle 70">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125" name="Rectangle 72">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2018910-9633-F94B-ADA6-D516E156D88F}"/>
              </a:ext>
            </a:extLst>
          </p:cNvPr>
          <p:cNvSpPr>
            <a:spLocks noGrp="1"/>
          </p:cNvSpPr>
          <p:nvPr>
            <p:ph type="title"/>
          </p:nvPr>
        </p:nvSpPr>
        <p:spPr>
          <a:xfrm>
            <a:off x="838196" y="978408"/>
            <a:ext cx="6007608" cy="1106424"/>
          </a:xfrm>
        </p:spPr>
        <p:txBody>
          <a:bodyPr>
            <a:normAutofit/>
          </a:bodyPr>
          <a:lstStyle/>
          <a:p>
            <a:r>
              <a:rPr lang="en-EG" sz="2800"/>
              <a:t>4. </a:t>
            </a:r>
            <a:r>
              <a:rPr lang="en-US" sz="2800" b="1">
                <a:effectLst/>
              </a:rPr>
              <a:t>Content providers</a:t>
            </a:r>
            <a:endParaRPr lang="en-EG" sz="2800"/>
          </a:p>
        </p:txBody>
      </p:sp>
      <p:sp>
        <p:nvSpPr>
          <p:cNvPr id="5126" name="Rectangle 74">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90BF5AF-FE39-8743-9A14-FE3B87A0525C}"/>
              </a:ext>
            </a:extLst>
          </p:cNvPr>
          <p:cNvSpPr>
            <a:spLocks noGrp="1"/>
          </p:cNvSpPr>
          <p:nvPr>
            <p:ph idx="1"/>
          </p:nvPr>
        </p:nvSpPr>
        <p:spPr>
          <a:xfrm>
            <a:off x="841244" y="2359152"/>
            <a:ext cx="6007608" cy="3429000"/>
          </a:xfrm>
        </p:spPr>
        <p:txBody>
          <a:bodyPr>
            <a:normAutofit/>
          </a:bodyPr>
          <a:lstStyle/>
          <a:p>
            <a:r>
              <a:rPr lang="en-US" sz="2000" b="1" dirty="0"/>
              <a:t>They handle the access to the central repository and supply data from one application to another</a:t>
            </a:r>
            <a:r>
              <a:rPr lang="en-US" sz="2000" dirty="0"/>
              <a:t> on request. This task of handling is done by methods of </a:t>
            </a:r>
            <a:r>
              <a:rPr lang="en-US" sz="2000" b="1" dirty="0" err="1"/>
              <a:t>ContentResolver</a:t>
            </a:r>
            <a:r>
              <a:rPr lang="en-US" sz="2000" dirty="0"/>
              <a:t> class. So, content providers can store data in various ways such as files, database or over the internet.</a:t>
            </a:r>
          </a:p>
          <a:p>
            <a:pPr marL="0" indent="0">
              <a:buNone/>
            </a:pPr>
            <a:r>
              <a:rPr lang="en-US" sz="2000" b="1" dirty="0"/>
              <a:t>🛠 Example Use Case</a:t>
            </a:r>
          </a:p>
          <a:p>
            <a:r>
              <a:rPr lang="en-US" sz="2000" dirty="0"/>
              <a:t>Contacts App → Provides contact data to Messaging App or WhatsApp using a </a:t>
            </a:r>
            <a:r>
              <a:rPr lang="en-US" sz="2000" b="1" dirty="0"/>
              <a:t>Content Provider</a:t>
            </a:r>
            <a:r>
              <a:rPr lang="en-US" sz="2000" dirty="0"/>
              <a:t>.</a:t>
            </a:r>
          </a:p>
          <a:p>
            <a:endParaRPr lang="en-EG" sz="2000" dirty="0"/>
          </a:p>
        </p:txBody>
      </p:sp>
      <p:pic>
        <p:nvPicPr>
          <p:cNvPr id="4" name="Picture 3">
            <a:extLst>
              <a:ext uri="{FF2B5EF4-FFF2-40B4-BE49-F238E27FC236}">
                <a16:creationId xmlns:a16="http://schemas.microsoft.com/office/drawing/2014/main" id="{4F799FA0-BCED-834B-BA25-D32195DD2368}"/>
              </a:ext>
            </a:extLst>
          </p:cNvPr>
          <p:cNvPicPr>
            <a:picLocks noChangeAspect="1"/>
          </p:cNvPicPr>
          <p:nvPr/>
        </p:nvPicPr>
        <p:blipFill>
          <a:blip r:embed="rId2"/>
          <a:stretch>
            <a:fillRect/>
          </a:stretch>
        </p:blipFill>
        <p:spPr>
          <a:xfrm>
            <a:off x="7274427" y="800780"/>
            <a:ext cx="4794892" cy="2169688"/>
          </a:xfrm>
          <a:prstGeom prst="rect">
            <a:avLst/>
          </a:prstGeom>
        </p:spPr>
      </p:pic>
      <p:pic>
        <p:nvPicPr>
          <p:cNvPr id="5122" name="Picture 2" descr="Content Providers in Android with Example - GeeksforGeeks">
            <a:extLst>
              <a:ext uri="{FF2B5EF4-FFF2-40B4-BE49-F238E27FC236}">
                <a16:creationId xmlns:a16="http://schemas.microsoft.com/office/drawing/2014/main" id="{2FB9B95B-8C9C-0C46-A0FD-6FED5EC040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347353" y="3132698"/>
            <a:ext cx="4649039" cy="2835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86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940D3-BAB2-1043-A4B0-AD1DACF901F1}"/>
              </a:ext>
            </a:extLst>
          </p:cNvPr>
          <p:cNvSpPr>
            <a:spLocks noGrp="1"/>
          </p:cNvSpPr>
          <p:nvPr>
            <p:ph type="title"/>
          </p:nvPr>
        </p:nvSpPr>
        <p:spPr/>
        <p:txBody>
          <a:bodyPr/>
          <a:lstStyle/>
          <a:p>
            <a:r>
              <a:rPr lang="en-EG"/>
              <a:t>Intents</a:t>
            </a:r>
            <a:endParaRPr lang="en-EG" dirty="0"/>
          </a:p>
        </p:txBody>
      </p:sp>
      <p:sp>
        <p:nvSpPr>
          <p:cNvPr id="3" name="Content Placeholder 2">
            <a:extLst>
              <a:ext uri="{FF2B5EF4-FFF2-40B4-BE49-F238E27FC236}">
                <a16:creationId xmlns:a16="http://schemas.microsoft.com/office/drawing/2014/main" id="{460859C7-9C73-4B40-8A49-AA9E57F160A3}"/>
              </a:ext>
            </a:extLst>
          </p:cNvPr>
          <p:cNvSpPr>
            <a:spLocks noGrp="1"/>
          </p:cNvSpPr>
          <p:nvPr>
            <p:ph idx="1"/>
          </p:nvPr>
        </p:nvSpPr>
        <p:spPr>
          <a:xfrm>
            <a:off x="838200" y="1454046"/>
            <a:ext cx="5382718" cy="5201587"/>
          </a:xfrm>
        </p:spPr>
        <p:txBody>
          <a:bodyPr>
            <a:normAutofit/>
          </a:bodyPr>
          <a:lstStyle/>
          <a:p>
            <a:r>
              <a:rPr lang="en-US" sz="1800" b="1" dirty="0"/>
              <a:t>Definition:</a:t>
            </a:r>
            <a:r>
              <a:rPr lang="en-US" sz="1800" dirty="0"/>
              <a:t> An Intent is used to </a:t>
            </a:r>
            <a:r>
              <a:rPr lang="en-US" sz="1800" b="1" dirty="0"/>
              <a:t>perform an action</a:t>
            </a:r>
            <a:r>
              <a:rPr lang="en-US" sz="1800" dirty="0"/>
              <a:t> (start Activity, Service, or Broadcast) or </a:t>
            </a:r>
            <a:r>
              <a:rPr lang="en-US" sz="1800" b="1" dirty="0"/>
              <a:t>send data/messages</a:t>
            </a:r>
            <a:r>
              <a:rPr lang="en-US" sz="1800" dirty="0"/>
              <a:t> between components.</a:t>
            </a:r>
          </a:p>
          <a:p>
            <a:pPr marL="0" indent="0">
              <a:buNone/>
            </a:pPr>
            <a:r>
              <a:rPr lang="en-US" sz="1800" b="1" dirty="0"/>
              <a:t>Types of Intents :</a:t>
            </a:r>
          </a:p>
          <a:p>
            <a:pPr marL="0" indent="0">
              <a:buNone/>
            </a:pPr>
            <a:r>
              <a:rPr lang="en-US" sz="1800" dirty="0"/>
              <a:t>1️⃣ </a:t>
            </a:r>
            <a:r>
              <a:rPr lang="en-US" sz="1800" b="1" dirty="0"/>
              <a:t>Implicit Intent</a:t>
            </a:r>
            <a:endParaRPr lang="en-US" sz="1800" dirty="0"/>
          </a:p>
          <a:p>
            <a:pPr lvl="1"/>
            <a:r>
              <a:rPr lang="en-US" sz="1800" dirty="0"/>
              <a:t>Does </a:t>
            </a:r>
            <a:r>
              <a:rPr lang="en-US" sz="1800" b="1" dirty="0"/>
              <a:t>not specify</a:t>
            </a:r>
            <a:r>
              <a:rPr lang="en-US" sz="1800" dirty="0"/>
              <a:t> the target component.</a:t>
            </a:r>
          </a:p>
          <a:p>
            <a:pPr lvl="1"/>
            <a:r>
              <a:rPr lang="en-US" sz="1800" dirty="0"/>
              <a:t>System decides which app can handle the action.</a:t>
            </a:r>
          </a:p>
          <a:p>
            <a:pPr lvl="1"/>
            <a:r>
              <a:rPr lang="en-US" sz="1800" b="1" dirty="0"/>
              <a:t>Example:</a:t>
            </a:r>
            <a:r>
              <a:rPr lang="en-US" sz="1800" dirty="0"/>
              <a:t> Open a webpage → shows browser options.</a:t>
            </a:r>
          </a:p>
          <a:p>
            <a:pPr marL="0" indent="0">
              <a:buNone/>
            </a:pPr>
            <a:r>
              <a:rPr lang="en-US" sz="1800" dirty="0"/>
              <a:t>2️⃣ </a:t>
            </a:r>
            <a:r>
              <a:rPr lang="en-US" sz="1800" b="1" dirty="0"/>
              <a:t>Explicit Intent</a:t>
            </a:r>
            <a:endParaRPr lang="en-US" sz="1800" dirty="0"/>
          </a:p>
          <a:p>
            <a:pPr lvl="1"/>
            <a:r>
              <a:rPr lang="en-US" sz="1800" b="1" dirty="0"/>
              <a:t>Directly specifies</a:t>
            </a:r>
            <a:r>
              <a:rPr lang="en-US" sz="1800" dirty="0"/>
              <a:t> the target component/class.</a:t>
            </a:r>
          </a:p>
          <a:p>
            <a:pPr lvl="1"/>
            <a:r>
              <a:rPr lang="en-US" sz="1800" dirty="0"/>
              <a:t>Used for communication </a:t>
            </a:r>
            <a:r>
              <a:rPr lang="en-US" sz="1800" b="1" dirty="0"/>
              <a:t>within the same app</a:t>
            </a:r>
            <a:r>
              <a:rPr lang="en-US" sz="1800" dirty="0"/>
              <a:t>.</a:t>
            </a:r>
          </a:p>
          <a:p>
            <a:pPr lvl="1"/>
            <a:r>
              <a:rPr lang="en-US" sz="1800" b="1" dirty="0"/>
              <a:t>Example:</a:t>
            </a:r>
            <a:r>
              <a:rPr lang="en-US" sz="1800" dirty="0"/>
              <a:t> Button click → Open another Activity.</a:t>
            </a:r>
          </a:p>
          <a:p>
            <a:endParaRPr lang="en-EG"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A1993C-641E-BE44-9CC3-70CC886BB026}"/>
              </a:ext>
            </a:extLst>
          </p:cNvPr>
          <p:cNvPicPr>
            <a:picLocks noChangeAspect="1"/>
          </p:cNvPicPr>
          <p:nvPr/>
        </p:nvPicPr>
        <p:blipFill>
          <a:blip r:embed="rId2"/>
          <a:stretch>
            <a:fillRect/>
          </a:stretch>
        </p:blipFill>
        <p:spPr>
          <a:xfrm>
            <a:off x="6220918" y="1185743"/>
            <a:ext cx="5311514" cy="2243257"/>
          </a:xfrm>
          <a:prstGeom prst="rect">
            <a:avLst/>
          </a:prstGeom>
        </p:spPr>
      </p:pic>
    </p:spTree>
    <p:extLst>
      <p:ext uri="{BB962C8B-B14F-4D97-AF65-F5344CB8AC3E}">
        <p14:creationId xmlns:p14="http://schemas.microsoft.com/office/powerpoint/2010/main" val="343163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5B627D-8EA5-894C-8CC8-D6AB08924E5F}"/>
              </a:ext>
            </a:extLst>
          </p:cNvPr>
          <p:cNvSpPr>
            <a:spLocks noGrp="1"/>
          </p:cNvSpPr>
          <p:nvPr>
            <p:ph type="title"/>
          </p:nvPr>
        </p:nvSpPr>
        <p:spPr>
          <a:xfrm>
            <a:off x="1115568" y="548640"/>
            <a:ext cx="10168128" cy="1179576"/>
          </a:xfrm>
        </p:spPr>
        <p:txBody>
          <a:bodyPr>
            <a:normAutofit/>
          </a:bodyPr>
          <a:lstStyle/>
          <a:p>
            <a:r>
              <a:rPr lang="en-US" sz="4000"/>
              <a:t>The manifest file</a:t>
            </a:r>
            <a:endParaRPr lang="en-EG" sz="400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8BFF8205-00A5-B44D-B2D5-AC6FFED79ADF}"/>
              </a:ext>
            </a:extLst>
          </p:cNvPr>
          <p:cNvSpPr>
            <a:spLocks noGrp="1"/>
          </p:cNvSpPr>
          <p:nvPr>
            <p:ph idx="1"/>
          </p:nvPr>
        </p:nvSpPr>
        <p:spPr>
          <a:xfrm>
            <a:off x="1115568" y="2153717"/>
            <a:ext cx="10168128" cy="4290554"/>
          </a:xfrm>
        </p:spPr>
        <p:txBody>
          <a:bodyPr>
            <a:normAutofit/>
          </a:bodyPr>
          <a:lstStyle/>
          <a:p>
            <a:pPr marL="0" indent="0">
              <a:buNone/>
            </a:pPr>
            <a:r>
              <a:rPr lang="en-US" sz="1800" b="1" dirty="0"/>
              <a:t> AndroidManifest.xml</a:t>
            </a:r>
          </a:p>
          <a:p>
            <a:pPr lvl="1"/>
            <a:r>
              <a:rPr lang="en-US" sz="1800" dirty="0"/>
              <a:t>The </a:t>
            </a:r>
            <a:r>
              <a:rPr lang="en-US" sz="1800" b="1" dirty="0"/>
              <a:t>manifest file</a:t>
            </a:r>
            <a:r>
              <a:rPr lang="en-US" sz="1800" dirty="0"/>
              <a:t> is at the </a:t>
            </a:r>
            <a:r>
              <a:rPr lang="en-US" sz="1800" b="1" dirty="0"/>
              <a:t>root of the project</a:t>
            </a:r>
            <a:r>
              <a:rPr lang="en-US" sz="1800" dirty="0"/>
              <a:t> and </a:t>
            </a:r>
            <a:r>
              <a:rPr lang="en-US" sz="1800" b="1" dirty="0"/>
              <a:t>declares all app components</a:t>
            </a:r>
            <a:r>
              <a:rPr lang="en-US" sz="1800" dirty="0"/>
              <a:t>.</a:t>
            </a:r>
          </a:p>
          <a:p>
            <a:pPr lvl="1"/>
            <a:r>
              <a:rPr lang="en-US" sz="1800" dirty="0"/>
              <a:t>The Android system </a:t>
            </a:r>
            <a:r>
              <a:rPr lang="en-US" sz="1800" b="1" dirty="0"/>
              <a:t>reads this file before launching components</a:t>
            </a:r>
            <a:r>
              <a:rPr lang="en-US" sz="1800" dirty="0"/>
              <a:t>.</a:t>
            </a:r>
          </a:p>
          <a:p>
            <a:pPr marL="0" indent="0">
              <a:buNone/>
            </a:pPr>
            <a:br>
              <a:rPr lang="en-US" sz="1800" dirty="0"/>
            </a:br>
            <a:endParaRPr lang="en-US" sz="1800" dirty="0"/>
          </a:p>
          <a:p>
            <a:pPr marL="0" indent="0">
              <a:buNone/>
            </a:pPr>
            <a:r>
              <a:rPr lang="en-US" sz="1800" b="1" dirty="0"/>
              <a:t>🔹 What the Manifest Does</a:t>
            </a:r>
          </a:p>
          <a:p>
            <a:pPr lvl="1"/>
            <a:r>
              <a:rPr lang="en-US" sz="1800" dirty="0"/>
              <a:t>Declares </a:t>
            </a:r>
            <a:r>
              <a:rPr lang="en-US" sz="1800" b="1" dirty="0"/>
              <a:t>app components</a:t>
            </a:r>
            <a:r>
              <a:rPr lang="en-US" sz="1800" dirty="0"/>
              <a:t> (Activities, Services, etc.).</a:t>
            </a:r>
          </a:p>
          <a:p>
            <a:pPr lvl="1"/>
            <a:r>
              <a:rPr lang="en-US" sz="1800" dirty="0"/>
              <a:t>Identifies </a:t>
            </a:r>
            <a:r>
              <a:rPr lang="en-US" sz="1800" b="1" dirty="0"/>
              <a:t>user permissions</a:t>
            </a:r>
            <a:r>
              <a:rPr lang="en-US" sz="1800" dirty="0"/>
              <a:t> (e.g., Internet, Contacts).</a:t>
            </a:r>
          </a:p>
          <a:p>
            <a:pPr lvl="1"/>
            <a:r>
              <a:rPr lang="en-US" sz="1800" dirty="0"/>
              <a:t>Declares </a:t>
            </a:r>
            <a:r>
              <a:rPr lang="en-US" sz="1800" b="1" dirty="0"/>
              <a:t>minimum API Level</a:t>
            </a:r>
            <a:r>
              <a:rPr lang="en-US" sz="1800" dirty="0"/>
              <a:t> required(</a:t>
            </a:r>
            <a:r>
              <a:rPr lang="en-US" sz="1800" b="1" dirty="0"/>
              <a:t>minimum Android version</a:t>
            </a:r>
            <a:r>
              <a:rPr lang="en-US" sz="1800" dirty="0"/>
              <a:t>).</a:t>
            </a:r>
          </a:p>
          <a:p>
            <a:pPr lvl="1"/>
            <a:r>
              <a:rPr lang="en-US" sz="1800" dirty="0"/>
              <a:t>Declares </a:t>
            </a:r>
            <a:r>
              <a:rPr lang="en-US" sz="1800" b="1" dirty="0"/>
              <a:t>hardware/software features</a:t>
            </a:r>
            <a:r>
              <a:rPr lang="en-US" sz="1800" dirty="0"/>
              <a:t> (Camera, Bluetooth, Multitouch).</a:t>
            </a:r>
          </a:p>
          <a:p>
            <a:pPr lvl="1"/>
            <a:r>
              <a:rPr lang="en-US" sz="1800" dirty="0"/>
              <a:t>Declares </a:t>
            </a:r>
            <a:r>
              <a:rPr lang="en-US" sz="1800" b="1" dirty="0"/>
              <a:t>external libraries</a:t>
            </a:r>
            <a:r>
              <a:rPr lang="en-US" sz="1800" dirty="0"/>
              <a:t> needed (e.g., Google Maps).</a:t>
            </a:r>
          </a:p>
        </p:txBody>
      </p:sp>
    </p:spTree>
    <p:extLst>
      <p:ext uri="{BB962C8B-B14F-4D97-AF65-F5344CB8AC3E}">
        <p14:creationId xmlns:p14="http://schemas.microsoft.com/office/powerpoint/2010/main" val="4062612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6328B28-175C-4A40-A79B-ECA694DA0033}"/>
              </a:ext>
            </a:extLst>
          </p:cNvPr>
          <p:cNvSpPr>
            <a:spLocks noGrp="1"/>
          </p:cNvSpPr>
          <p:nvPr>
            <p:ph type="title"/>
          </p:nvPr>
        </p:nvSpPr>
        <p:spPr>
          <a:xfrm>
            <a:off x="1115568" y="548640"/>
            <a:ext cx="10168128" cy="1179576"/>
          </a:xfrm>
        </p:spPr>
        <p:txBody>
          <a:bodyPr>
            <a:normAutofit/>
          </a:bodyPr>
          <a:lstStyle/>
          <a:p>
            <a:r>
              <a:rPr lang="en-EG" sz="4000"/>
              <a:t>App resources</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 name="Rectangle 2">
            <a:extLst>
              <a:ext uri="{FF2B5EF4-FFF2-40B4-BE49-F238E27FC236}">
                <a16:creationId xmlns:a16="http://schemas.microsoft.com/office/drawing/2014/main" id="{875F7967-D0D8-9A9C-1E2D-85BFF7351C9D}"/>
              </a:ext>
            </a:extLst>
          </p:cNvPr>
          <p:cNvSpPr>
            <a:spLocks noGrp="1" noChangeArrowheads="1"/>
          </p:cNvSpPr>
          <p:nvPr>
            <p:ph idx="1"/>
          </p:nvPr>
        </p:nvSpPr>
        <p:spPr bwMode="auto">
          <a:xfrm>
            <a:off x="566928" y="2638420"/>
            <a:ext cx="1045019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 Android app needs more than just code; it also requires </a:t>
            </a:r>
            <a:r>
              <a:rPr kumimoji="0" lang="en-US" altLang="en-US" sz="1800" b="1" i="0" u="none" strike="noStrike" cap="none" normalizeH="0" baseline="0" dirty="0">
                <a:ln>
                  <a:noFill/>
                </a:ln>
                <a:solidFill>
                  <a:schemeClr val="tx1"/>
                </a:solidFill>
                <a:effectLst/>
                <a:latin typeface="Arial" panose="020B0604020202020204" pitchFamily="34" charset="0"/>
              </a:rPr>
              <a:t>resources</a:t>
            </a:r>
            <a:r>
              <a:rPr kumimoji="0" lang="en-US" altLang="en-US" sz="1800" b="0" i="0" u="none" strike="noStrike" cap="none" normalizeH="0" baseline="0" dirty="0">
                <a:ln>
                  <a:noFill/>
                </a:ln>
                <a:solidFill>
                  <a:schemeClr val="tx1"/>
                </a:solidFill>
                <a:effectLst/>
                <a:latin typeface="Arial" panose="020B0604020202020204" pitchFamily="34" charset="0"/>
              </a:rPr>
              <a:t> such as:</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Images, audio files, animations</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Menus, styles, colors</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Layouts for activities (XML files)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Using resources allows you to </a:t>
            </a:r>
            <a:r>
              <a:rPr kumimoji="0" lang="en-US" altLang="en-US" sz="1800" b="1" i="0" u="none" strike="noStrike" cap="none" normalizeH="0" baseline="0" dirty="0">
                <a:ln>
                  <a:noFill/>
                </a:ln>
                <a:solidFill>
                  <a:schemeClr val="tx1"/>
                </a:solidFill>
                <a:effectLst/>
                <a:latin typeface="Arial" panose="020B0604020202020204" pitchFamily="34" charset="0"/>
              </a:rPr>
              <a:t>update the app’s appearance or behavior</a:t>
            </a:r>
            <a:r>
              <a:rPr kumimoji="0" lang="en-US" altLang="en-US" sz="1800" b="0" i="0" u="none" strike="noStrike" cap="none" normalizeH="0" baseline="0" dirty="0">
                <a:ln>
                  <a:noFill/>
                </a:ln>
                <a:solidFill>
                  <a:schemeClr val="tx1"/>
                </a:solidFill>
                <a:effectLst/>
                <a:latin typeface="Arial" panose="020B0604020202020204" pitchFamily="34" charset="0"/>
              </a:rPr>
              <a:t> without changing the code.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Each resource gets a </a:t>
            </a:r>
            <a:r>
              <a:rPr kumimoji="0" lang="en-US" altLang="en-US" sz="1800" b="1" i="0" u="none" strike="noStrike" cap="none" normalizeH="0" baseline="0" dirty="0">
                <a:ln>
                  <a:noFill/>
                </a:ln>
                <a:solidFill>
                  <a:schemeClr val="tx1"/>
                </a:solidFill>
                <a:effectLst/>
                <a:latin typeface="Arial" panose="020B0604020202020204" pitchFamily="34" charset="0"/>
              </a:rPr>
              <a:t>unique integer ID</a:t>
            </a:r>
            <a:r>
              <a:rPr kumimoji="0" lang="en-US" altLang="en-US" sz="1800" b="0" i="0" u="none" strike="noStrike" cap="none" normalizeH="0" baseline="0" dirty="0">
                <a:ln>
                  <a:noFill/>
                </a:ln>
                <a:solidFill>
                  <a:schemeClr val="tx1"/>
                </a:solidFill>
                <a:effectLst/>
                <a:latin typeface="Arial" panose="020B0604020202020204" pitchFamily="34" charset="0"/>
              </a:rPr>
              <a:t> by the SDK build tools, which lets you </a:t>
            </a:r>
            <a:r>
              <a:rPr kumimoji="0" lang="en-US" altLang="en-US" sz="1800" b="1" i="0" u="none" strike="noStrike" cap="none" normalizeH="0" baseline="0" dirty="0">
                <a:ln>
                  <a:noFill/>
                </a:ln>
                <a:solidFill>
                  <a:schemeClr val="tx1"/>
                </a:solidFill>
                <a:effectLst/>
                <a:latin typeface="Arial" panose="020B0604020202020204" pitchFamily="34" charset="0"/>
              </a:rPr>
              <a:t>reference it in code or XML</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015011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2D5F7-834D-F24C-0F8C-F2DE27E1C05F}"/>
              </a:ext>
            </a:extLst>
          </p:cNvPr>
          <p:cNvSpPr>
            <a:spLocks noGrp="1"/>
          </p:cNvSpPr>
          <p:nvPr>
            <p:ph type="title"/>
          </p:nvPr>
        </p:nvSpPr>
        <p:spPr/>
        <p:txBody>
          <a:bodyPr/>
          <a:lstStyle/>
          <a:p>
            <a:r>
              <a:rPr lang="en-EG" b="1" dirty="0"/>
              <a:t>Intro To Kotlin</a:t>
            </a:r>
          </a:p>
        </p:txBody>
      </p:sp>
      <p:pic>
        <p:nvPicPr>
          <p:cNvPr id="9" name="Picture 8">
            <a:extLst>
              <a:ext uri="{FF2B5EF4-FFF2-40B4-BE49-F238E27FC236}">
                <a16:creationId xmlns:a16="http://schemas.microsoft.com/office/drawing/2014/main" id="{EE5F9215-C3A6-F828-1997-B189A163D623}"/>
              </a:ext>
            </a:extLst>
          </p:cNvPr>
          <p:cNvPicPr>
            <a:picLocks noChangeAspect="1"/>
          </p:cNvPicPr>
          <p:nvPr/>
        </p:nvPicPr>
        <p:blipFill>
          <a:blip r:embed="rId2"/>
          <a:stretch>
            <a:fillRect/>
          </a:stretch>
        </p:blipFill>
        <p:spPr>
          <a:xfrm>
            <a:off x="1389209" y="1296099"/>
            <a:ext cx="8933346" cy="5273801"/>
          </a:xfrm>
          <a:prstGeom prst="rect">
            <a:avLst/>
          </a:prstGeom>
        </p:spPr>
      </p:pic>
    </p:spTree>
    <p:extLst>
      <p:ext uri="{BB962C8B-B14F-4D97-AF65-F5344CB8AC3E}">
        <p14:creationId xmlns:p14="http://schemas.microsoft.com/office/powerpoint/2010/main" val="3163393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441CB8-E65B-F122-E93A-880459E8EB3E}"/>
              </a:ext>
            </a:extLst>
          </p:cNvPr>
          <p:cNvSpPr>
            <a:spLocks noGrp="1"/>
          </p:cNvSpPr>
          <p:nvPr>
            <p:ph idx="1"/>
          </p:nvPr>
        </p:nvSpPr>
        <p:spPr>
          <a:xfrm>
            <a:off x="838200" y="649357"/>
            <a:ext cx="10515600" cy="5527606"/>
          </a:xfrm>
        </p:spPr>
        <p:txBody>
          <a:bodyPr/>
          <a:lstStyle/>
          <a:p>
            <a:pPr marL="0" indent="0">
              <a:buNone/>
            </a:pPr>
            <a:endParaRPr lang="en-US" dirty="0"/>
          </a:p>
          <a:p>
            <a:pPr marL="457200" lvl="1" indent="0">
              <a:buNone/>
            </a:pPr>
            <a:endParaRPr lang="en-US" dirty="0">
              <a:solidFill>
                <a:srgbClr val="202124"/>
              </a:solidFill>
              <a:latin typeface="Google Sans Text"/>
            </a:endParaRPr>
          </a:p>
          <a:p>
            <a:pPr marL="457200" lvl="1" indent="0">
              <a:buNone/>
            </a:pPr>
            <a:endParaRPr lang="en-US" dirty="0">
              <a:solidFill>
                <a:srgbClr val="202124"/>
              </a:solidFill>
              <a:latin typeface="Google Sans Text"/>
            </a:endParaRPr>
          </a:p>
          <a:p>
            <a:pPr marL="457200" lvl="1" indent="0">
              <a:buNone/>
            </a:pPr>
            <a:endParaRPr lang="en-US" dirty="0">
              <a:solidFill>
                <a:srgbClr val="202124"/>
              </a:solidFill>
              <a:latin typeface="Google Sans Text"/>
            </a:endParaRPr>
          </a:p>
          <a:p>
            <a:pPr marL="457200" lvl="1" indent="0">
              <a:buNone/>
            </a:pPr>
            <a:endParaRPr lang="en-US" dirty="0">
              <a:solidFill>
                <a:srgbClr val="202124"/>
              </a:solidFill>
              <a:latin typeface="Google Sans Text"/>
            </a:endParaRPr>
          </a:p>
          <a:p>
            <a:pPr marL="457200" lvl="1" indent="0">
              <a:buNone/>
            </a:pPr>
            <a:endParaRPr lang="en-US" dirty="0">
              <a:solidFill>
                <a:srgbClr val="202124"/>
              </a:solidFill>
              <a:latin typeface="Google Sans Text"/>
            </a:endParaRPr>
          </a:p>
          <a:p>
            <a:pPr marL="457200" lvl="1" indent="0">
              <a:buNone/>
            </a:pPr>
            <a:endParaRPr lang="en-US" dirty="0">
              <a:solidFill>
                <a:srgbClr val="202124"/>
              </a:solidFill>
              <a:latin typeface="Google Sans Text"/>
            </a:endParaRPr>
          </a:p>
          <a:p>
            <a:pPr marL="457200" lvl="1" indent="0">
              <a:buNone/>
            </a:pPr>
            <a:endParaRPr lang="en-US" dirty="0">
              <a:solidFill>
                <a:srgbClr val="202124"/>
              </a:solidFill>
              <a:latin typeface="Google Sans Text"/>
            </a:endParaRPr>
          </a:p>
          <a:p>
            <a:pPr marL="0" indent="0">
              <a:buNone/>
            </a:pPr>
            <a:r>
              <a:rPr lang="en-US" dirty="0">
                <a:solidFill>
                  <a:srgbClr val="202124"/>
                </a:solidFill>
                <a:latin typeface="Google Sans Text"/>
              </a:rPr>
              <a:t>3. If Conditions:</a:t>
            </a:r>
            <a:endParaRPr lang="en-US" dirty="0"/>
          </a:p>
          <a:p>
            <a:pPr marL="0" indent="0">
              <a:buNone/>
            </a:pPr>
            <a:endParaRPr lang="en-EG" dirty="0"/>
          </a:p>
        </p:txBody>
      </p:sp>
      <p:pic>
        <p:nvPicPr>
          <p:cNvPr id="5" name="Picture 4">
            <a:extLst>
              <a:ext uri="{FF2B5EF4-FFF2-40B4-BE49-F238E27FC236}">
                <a16:creationId xmlns:a16="http://schemas.microsoft.com/office/drawing/2014/main" id="{C1B32FEB-7204-2943-62A3-00D20978A78A}"/>
              </a:ext>
            </a:extLst>
          </p:cNvPr>
          <p:cNvPicPr>
            <a:picLocks noChangeAspect="1"/>
          </p:cNvPicPr>
          <p:nvPr/>
        </p:nvPicPr>
        <p:blipFill>
          <a:blip r:embed="rId2"/>
          <a:stretch>
            <a:fillRect/>
          </a:stretch>
        </p:blipFill>
        <p:spPr>
          <a:xfrm>
            <a:off x="2603499" y="2583656"/>
            <a:ext cx="6985000" cy="784687"/>
          </a:xfrm>
          <a:prstGeom prst="rect">
            <a:avLst/>
          </a:prstGeom>
        </p:spPr>
      </p:pic>
      <p:pic>
        <p:nvPicPr>
          <p:cNvPr id="6" name="Picture 5">
            <a:extLst>
              <a:ext uri="{FF2B5EF4-FFF2-40B4-BE49-F238E27FC236}">
                <a16:creationId xmlns:a16="http://schemas.microsoft.com/office/drawing/2014/main" id="{99185A6C-551D-7DAB-DA2D-6735402E146F}"/>
              </a:ext>
            </a:extLst>
          </p:cNvPr>
          <p:cNvPicPr>
            <a:picLocks noChangeAspect="1"/>
          </p:cNvPicPr>
          <p:nvPr/>
        </p:nvPicPr>
        <p:blipFill>
          <a:blip r:embed="rId3"/>
          <a:stretch>
            <a:fillRect/>
          </a:stretch>
        </p:blipFill>
        <p:spPr>
          <a:xfrm>
            <a:off x="2603499" y="4538515"/>
            <a:ext cx="6985000" cy="2184400"/>
          </a:xfrm>
          <a:prstGeom prst="rect">
            <a:avLst/>
          </a:prstGeom>
        </p:spPr>
      </p:pic>
      <p:pic>
        <p:nvPicPr>
          <p:cNvPr id="4" name="Picture 3">
            <a:extLst>
              <a:ext uri="{FF2B5EF4-FFF2-40B4-BE49-F238E27FC236}">
                <a16:creationId xmlns:a16="http://schemas.microsoft.com/office/drawing/2014/main" id="{DA6E242F-4326-341A-A375-36920F21BEC6}"/>
              </a:ext>
            </a:extLst>
          </p:cNvPr>
          <p:cNvPicPr>
            <a:picLocks noChangeAspect="1"/>
          </p:cNvPicPr>
          <p:nvPr/>
        </p:nvPicPr>
        <p:blipFill>
          <a:blip r:embed="rId4"/>
          <a:stretch>
            <a:fillRect/>
          </a:stretch>
        </p:blipFill>
        <p:spPr>
          <a:xfrm>
            <a:off x="838200" y="135085"/>
            <a:ext cx="9286875" cy="3552825"/>
          </a:xfrm>
          <a:prstGeom prst="rect">
            <a:avLst/>
          </a:prstGeom>
        </p:spPr>
      </p:pic>
    </p:spTree>
    <p:extLst>
      <p:ext uri="{BB962C8B-B14F-4D97-AF65-F5344CB8AC3E}">
        <p14:creationId xmlns:p14="http://schemas.microsoft.com/office/powerpoint/2010/main" val="2734810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419D2A0-785D-DA53-83C2-57AEC7D566CC}"/>
              </a:ext>
            </a:extLst>
          </p:cNvPr>
          <p:cNvPicPr>
            <a:picLocks noChangeAspect="1"/>
          </p:cNvPicPr>
          <p:nvPr/>
        </p:nvPicPr>
        <p:blipFill>
          <a:blip r:embed="rId2"/>
          <a:stretch>
            <a:fillRect/>
          </a:stretch>
        </p:blipFill>
        <p:spPr>
          <a:xfrm>
            <a:off x="1202939" y="1258956"/>
            <a:ext cx="9786122" cy="3019717"/>
          </a:xfrm>
          <a:prstGeom prst="rect">
            <a:avLst/>
          </a:prstGeom>
        </p:spPr>
      </p:pic>
      <p:sp>
        <p:nvSpPr>
          <p:cNvPr id="3" name="Content Placeholder 2">
            <a:extLst>
              <a:ext uri="{FF2B5EF4-FFF2-40B4-BE49-F238E27FC236}">
                <a16:creationId xmlns:a16="http://schemas.microsoft.com/office/drawing/2014/main" id="{8F3AD7C2-050D-5FD1-41DC-15D363B8735B}"/>
              </a:ext>
            </a:extLst>
          </p:cNvPr>
          <p:cNvSpPr>
            <a:spLocks noGrp="1"/>
          </p:cNvSpPr>
          <p:nvPr>
            <p:ph idx="1"/>
          </p:nvPr>
        </p:nvSpPr>
        <p:spPr>
          <a:xfrm>
            <a:off x="838200" y="622852"/>
            <a:ext cx="10515600" cy="5554111"/>
          </a:xfrm>
        </p:spPr>
        <p:txBody>
          <a:bodyPr/>
          <a:lstStyle/>
          <a:p>
            <a:pPr marL="514350" indent="-514350">
              <a:buAutoNum type="arabicPeriod" startAt="4"/>
            </a:pPr>
            <a:r>
              <a:rPr lang="en-EG" dirty="0"/>
              <a:t>Building a function:</a:t>
            </a:r>
          </a:p>
          <a:p>
            <a:pPr marL="514350" indent="-514350">
              <a:buAutoNum type="arabicPeriod" startAt="4"/>
            </a:pPr>
            <a:endParaRPr lang="en-EG" dirty="0"/>
          </a:p>
          <a:p>
            <a:pPr marL="514350" indent="-514350">
              <a:buAutoNum type="arabicPeriod" startAt="4"/>
            </a:pPr>
            <a:endParaRPr lang="en-EG" dirty="0"/>
          </a:p>
          <a:p>
            <a:pPr marL="514350" indent="-514350">
              <a:buAutoNum type="arabicPeriod" startAt="4"/>
            </a:pPr>
            <a:endParaRPr lang="en-EG" dirty="0"/>
          </a:p>
          <a:p>
            <a:pPr marL="514350" indent="-514350">
              <a:buAutoNum type="arabicPeriod" startAt="4"/>
            </a:pPr>
            <a:endParaRPr lang="en-EG" dirty="0"/>
          </a:p>
          <a:p>
            <a:pPr marL="514350" indent="-514350">
              <a:buAutoNum type="arabicPeriod" startAt="4"/>
            </a:pPr>
            <a:endParaRPr lang="en-EG" dirty="0"/>
          </a:p>
          <a:p>
            <a:pPr marL="514350" indent="-514350">
              <a:buAutoNum type="arabicPeriod" startAt="4"/>
            </a:pPr>
            <a:endParaRPr lang="en-EG" dirty="0"/>
          </a:p>
          <a:p>
            <a:pPr marL="457200" lvl="1" indent="0">
              <a:buNone/>
            </a:pPr>
            <a:endParaRPr lang="en-US" dirty="0"/>
          </a:p>
          <a:p>
            <a:pPr marL="457200" lvl="1" indent="0">
              <a:buNone/>
            </a:pPr>
            <a:r>
              <a:rPr lang="en-US" dirty="0"/>
              <a:t>A function can take another function as an argument. Functions that use other functions as arguments are called higher-order functions. </a:t>
            </a:r>
            <a:endParaRPr lang="en-EG" dirty="0"/>
          </a:p>
        </p:txBody>
      </p:sp>
      <p:sp>
        <p:nvSpPr>
          <p:cNvPr id="5" name="Oval 4">
            <a:extLst>
              <a:ext uri="{FF2B5EF4-FFF2-40B4-BE49-F238E27FC236}">
                <a16:creationId xmlns:a16="http://schemas.microsoft.com/office/drawing/2014/main" id="{3BFFDC06-DB90-BEE3-2E17-C98FD029D7A1}"/>
              </a:ext>
            </a:extLst>
          </p:cNvPr>
          <p:cNvSpPr/>
          <p:nvPr/>
        </p:nvSpPr>
        <p:spPr>
          <a:xfrm>
            <a:off x="6786770" y="1456686"/>
            <a:ext cx="1033669" cy="490331"/>
          </a:xfrm>
          <a:prstGeom prst="ellipse">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en-EG"/>
          </a:p>
        </p:txBody>
      </p:sp>
      <p:sp>
        <p:nvSpPr>
          <p:cNvPr id="6" name="TextBox 5">
            <a:extLst>
              <a:ext uri="{FF2B5EF4-FFF2-40B4-BE49-F238E27FC236}">
                <a16:creationId xmlns:a16="http://schemas.microsoft.com/office/drawing/2014/main" id="{DE5386AE-4BE7-DA88-E93B-2460C31CD9BC}"/>
              </a:ext>
            </a:extLst>
          </p:cNvPr>
          <p:cNvSpPr txBox="1"/>
          <p:nvPr/>
        </p:nvSpPr>
        <p:spPr>
          <a:xfrm>
            <a:off x="6300881" y="1167809"/>
            <a:ext cx="2005446" cy="369332"/>
          </a:xfrm>
          <a:prstGeom prst="rect">
            <a:avLst/>
          </a:prstGeom>
          <a:noFill/>
        </p:spPr>
        <p:txBody>
          <a:bodyPr wrap="square" rtlCol="0">
            <a:spAutoFit/>
          </a:bodyPr>
          <a:lstStyle/>
          <a:p>
            <a:r>
              <a:rPr lang="en-EG" dirty="0"/>
              <a:t>Output datatype</a:t>
            </a:r>
          </a:p>
        </p:txBody>
      </p:sp>
      <p:pic>
        <p:nvPicPr>
          <p:cNvPr id="8" name="Picture 7">
            <a:extLst>
              <a:ext uri="{FF2B5EF4-FFF2-40B4-BE49-F238E27FC236}">
                <a16:creationId xmlns:a16="http://schemas.microsoft.com/office/drawing/2014/main" id="{E6F1A1CF-957B-635E-44A4-CB4151D09256}"/>
              </a:ext>
            </a:extLst>
          </p:cNvPr>
          <p:cNvPicPr>
            <a:picLocks noChangeAspect="1"/>
          </p:cNvPicPr>
          <p:nvPr/>
        </p:nvPicPr>
        <p:blipFill>
          <a:blip r:embed="rId3"/>
          <a:stretch>
            <a:fillRect/>
          </a:stretch>
        </p:blipFill>
        <p:spPr>
          <a:xfrm>
            <a:off x="2209800" y="5397829"/>
            <a:ext cx="7772400" cy="1415238"/>
          </a:xfrm>
          <a:prstGeom prst="rect">
            <a:avLst/>
          </a:prstGeom>
        </p:spPr>
      </p:pic>
    </p:spTree>
    <p:extLst>
      <p:ext uri="{BB962C8B-B14F-4D97-AF65-F5344CB8AC3E}">
        <p14:creationId xmlns:p14="http://schemas.microsoft.com/office/powerpoint/2010/main" val="8527322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84415B-81CE-CD8C-C4FA-424432E9B584}"/>
              </a:ext>
            </a:extLst>
          </p:cNvPr>
          <p:cNvSpPr>
            <a:spLocks noGrp="1"/>
          </p:cNvSpPr>
          <p:nvPr>
            <p:ph idx="1"/>
          </p:nvPr>
        </p:nvSpPr>
        <p:spPr>
          <a:xfrm>
            <a:off x="838200" y="623455"/>
            <a:ext cx="10515600" cy="5553508"/>
          </a:xfrm>
        </p:spPr>
        <p:txBody>
          <a:bodyPr/>
          <a:lstStyle/>
          <a:p>
            <a:pPr marL="0" indent="0">
              <a:buNone/>
            </a:pPr>
            <a:r>
              <a:rPr lang="en-EG" dirty="0"/>
              <a:t>5. Constructing a Class:</a:t>
            </a:r>
          </a:p>
          <a:p>
            <a:pPr marL="0" indent="0">
              <a:buNone/>
            </a:pPr>
            <a:endParaRPr lang="en-EG" dirty="0"/>
          </a:p>
        </p:txBody>
      </p:sp>
      <p:pic>
        <p:nvPicPr>
          <p:cNvPr id="4" name="Picture 3">
            <a:extLst>
              <a:ext uri="{FF2B5EF4-FFF2-40B4-BE49-F238E27FC236}">
                <a16:creationId xmlns:a16="http://schemas.microsoft.com/office/drawing/2014/main" id="{703CEAE1-4801-58A7-159E-7F5342174B12}"/>
              </a:ext>
            </a:extLst>
          </p:cNvPr>
          <p:cNvPicPr>
            <a:picLocks noChangeAspect="1"/>
          </p:cNvPicPr>
          <p:nvPr/>
        </p:nvPicPr>
        <p:blipFill>
          <a:blip r:embed="rId2"/>
          <a:stretch>
            <a:fillRect/>
          </a:stretch>
        </p:blipFill>
        <p:spPr>
          <a:xfrm>
            <a:off x="914112" y="1167728"/>
            <a:ext cx="10363776" cy="2741663"/>
          </a:xfrm>
          <a:prstGeom prst="rect">
            <a:avLst/>
          </a:prstGeom>
        </p:spPr>
      </p:pic>
    </p:spTree>
    <p:extLst>
      <p:ext uri="{BB962C8B-B14F-4D97-AF65-F5344CB8AC3E}">
        <p14:creationId xmlns:p14="http://schemas.microsoft.com/office/powerpoint/2010/main" val="3946275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0">
            <a:extLst>
              <a:ext uri="{FF2B5EF4-FFF2-40B4-BE49-F238E27FC236}">
                <a16:creationId xmlns:a16="http://schemas.microsoft.com/office/drawing/2014/main" id="{B23FE733-F95B-4DF6-AFC5-BEEB3577C4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12">
            <a:extLst>
              <a:ext uri="{FF2B5EF4-FFF2-40B4-BE49-F238E27FC236}">
                <a16:creationId xmlns:a16="http://schemas.microsoft.com/office/drawing/2014/main" id="{9080D120-BD54-46E1-BA37-82F5E8089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3" y="633619"/>
            <a:ext cx="6852464" cy="5495925"/>
          </a:xfrm>
          <a:prstGeom prst="rect">
            <a:avLst/>
          </a:prstGeom>
          <a:ln w="9525">
            <a:solidFill>
              <a:srgbClr val="DEDEDE"/>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43AFFB-E2F9-634D-883D-BBE8CEE712C8}"/>
              </a:ext>
            </a:extLst>
          </p:cNvPr>
          <p:cNvSpPr>
            <a:spLocks noGrp="1"/>
          </p:cNvSpPr>
          <p:nvPr>
            <p:ph type="title"/>
          </p:nvPr>
        </p:nvSpPr>
        <p:spPr>
          <a:xfrm>
            <a:off x="838196" y="978408"/>
            <a:ext cx="6007608" cy="1106424"/>
          </a:xfrm>
        </p:spPr>
        <p:txBody>
          <a:bodyPr>
            <a:normAutofit/>
          </a:bodyPr>
          <a:lstStyle/>
          <a:p>
            <a:r>
              <a:rPr lang="en-US" sz="2800" dirty="0"/>
              <a:t>H</a:t>
            </a:r>
            <a:r>
              <a:rPr lang="en-EG" sz="2800" dirty="0"/>
              <a:t>ow to bind views from xml file to your code?</a:t>
            </a:r>
          </a:p>
        </p:txBody>
      </p:sp>
      <p:sp>
        <p:nvSpPr>
          <p:cNvPr id="23" name="Rectangle 14">
            <a:extLst>
              <a:ext uri="{FF2B5EF4-FFF2-40B4-BE49-F238E27FC236}">
                <a16:creationId xmlns:a16="http://schemas.microsoft.com/office/drawing/2014/main" id="{81D83946-74FA-498A-AC80-9926F041B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5" y="1181536"/>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16">
            <a:extLst>
              <a:ext uri="{FF2B5EF4-FFF2-40B4-BE49-F238E27FC236}">
                <a16:creationId xmlns:a16="http://schemas.microsoft.com/office/drawing/2014/main" id="{5060D983-8B52-443A-8183-2A1DE0561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4" y="2121408"/>
            <a:ext cx="582472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145B373-E04E-4D4E-8C0F-5C9A2A3B72A7}"/>
              </a:ext>
            </a:extLst>
          </p:cNvPr>
          <p:cNvSpPr>
            <a:spLocks noGrp="1"/>
          </p:cNvSpPr>
          <p:nvPr>
            <p:ph idx="1"/>
          </p:nvPr>
        </p:nvSpPr>
        <p:spPr>
          <a:xfrm>
            <a:off x="841244" y="2359152"/>
            <a:ext cx="6007608" cy="3429000"/>
          </a:xfrm>
        </p:spPr>
        <p:txBody>
          <a:bodyPr>
            <a:normAutofit/>
          </a:bodyPr>
          <a:lstStyle/>
          <a:p>
            <a:r>
              <a:rPr lang="en-US" sz="2000" dirty="0"/>
              <a:t>W</a:t>
            </a:r>
            <a:r>
              <a:rPr lang="en-EG" sz="2000" dirty="0"/>
              <a:t>hen you create any item, an id is automatically assigned to it.</a:t>
            </a:r>
          </a:p>
          <a:p>
            <a:r>
              <a:rPr lang="en-US" sz="2000" dirty="0"/>
              <a:t>I</a:t>
            </a:r>
            <a:r>
              <a:rPr lang="en-EG" sz="2000" dirty="0"/>
              <a:t>n the </a:t>
            </a:r>
            <a:r>
              <a:rPr lang="en-US" sz="2000" dirty="0" err="1"/>
              <a:t>kotlin</a:t>
            </a:r>
            <a:r>
              <a:rPr lang="en-EG" sz="2000" dirty="0"/>
              <a:t> file we will do the following code to link this edit text to a local variable.</a:t>
            </a:r>
          </a:p>
          <a:p>
            <a:r>
              <a:rPr lang="en-US" sz="2000" dirty="0"/>
              <a:t>Now we can use it in our </a:t>
            </a:r>
            <a:r>
              <a:rPr lang="en-US" sz="2000" dirty="0" err="1"/>
              <a:t>kotlin</a:t>
            </a:r>
            <a:r>
              <a:rPr lang="en-US" sz="2000" dirty="0"/>
              <a:t> file.</a:t>
            </a:r>
          </a:p>
          <a:p>
            <a:r>
              <a:rPr lang="en-US" sz="2000" b="1" dirty="0"/>
              <a:t>Tip:</a:t>
            </a:r>
            <a:r>
              <a:rPr lang="en-US" sz="2000" dirty="0"/>
              <a:t> Always </a:t>
            </a:r>
            <a:r>
              <a:rPr lang="en-US" sz="2000" b="1" dirty="0"/>
              <a:t>create a new Activity</a:t>
            </a:r>
            <a:r>
              <a:rPr lang="en-US" sz="2000" dirty="0"/>
              <a:t> for a new screen instead of just creating a Kotlin file and XML file separately.</a:t>
            </a:r>
            <a:endParaRPr lang="en-EG" sz="2000" dirty="0"/>
          </a:p>
        </p:txBody>
      </p:sp>
      <p:pic>
        <p:nvPicPr>
          <p:cNvPr id="5" name="Picture 4">
            <a:extLst>
              <a:ext uri="{FF2B5EF4-FFF2-40B4-BE49-F238E27FC236}">
                <a16:creationId xmlns:a16="http://schemas.microsoft.com/office/drawing/2014/main" id="{7EC1730C-86FE-BF8E-7151-0677057E083E}"/>
              </a:ext>
            </a:extLst>
          </p:cNvPr>
          <p:cNvPicPr>
            <a:picLocks noChangeAspect="1"/>
          </p:cNvPicPr>
          <p:nvPr/>
        </p:nvPicPr>
        <p:blipFill>
          <a:blip r:embed="rId2"/>
          <a:stretch>
            <a:fillRect/>
          </a:stretch>
        </p:blipFill>
        <p:spPr>
          <a:xfrm>
            <a:off x="3845048" y="5479022"/>
            <a:ext cx="8932123" cy="1392951"/>
          </a:xfrm>
          <a:prstGeom prst="rect">
            <a:avLst/>
          </a:prstGeom>
        </p:spPr>
      </p:pic>
      <p:pic>
        <p:nvPicPr>
          <p:cNvPr id="7" name="Picture 6">
            <a:extLst>
              <a:ext uri="{FF2B5EF4-FFF2-40B4-BE49-F238E27FC236}">
                <a16:creationId xmlns:a16="http://schemas.microsoft.com/office/drawing/2014/main" id="{E72F1087-C125-4E2A-DAD4-E91D4982DD25}"/>
              </a:ext>
            </a:extLst>
          </p:cNvPr>
          <p:cNvPicPr>
            <a:picLocks noChangeAspect="1"/>
          </p:cNvPicPr>
          <p:nvPr/>
        </p:nvPicPr>
        <p:blipFill>
          <a:blip r:embed="rId3"/>
          <a:stretch>
            <a:fillRect/>
          </a:stretch>
        </p:blipFill>
        <p:spPr>
          <a:xfrm>
            <a:off x="7256602" y="3155798"/>
            <a:ext cx="5227983" cy="1337610"/>
          </a:xfrm>
          <a:prstGeom prst="rect">
            <a:avLst/>
          </a:prstGeom>
        </p:spPr>
      </p:pic>
      <p:pic>
        <p:nvPicPr>
          <p:cNvPr id="8" name="Picture 7">
            <a:extLst>
              <a:ext uri="{FF2B5EF4-FFF2-40B4-BE49-F238E27FC236}">
                <a16:creationId xmlns:a16="http://schemas.microsoft.com/office/drawing/2014/main" id="{2113A5C1-2ACF-D0CE-73DB-DD6C07F28035}"/>
              </a:ext>
            </a:extLst>
          </p:cNvPr>
          <p:cNvPicPr>
            <a:picLocks noChangeAspect="1"/>
          </p:cNvPicPr>
          <p:nvPr/>
        </p:nvPicPr>
        <p:blipFill>
          <a:blip r:embed="rId4"/>
          <a:stretch>
            <a:fillRect/>
          </a:stretch>
        </p:blipFill>
        <p:spPr>
          <a:xfrm>
            <a:off x="3989913" y="4816816"/>
            <a:ext cx="8611660" cy="547906"/>
          </a:xfrm>
          <a:prstGeom prst="rect">
            <a:avLst/>
          </a:prstGeom>
        </p:spPr>
      </p:pic>
    </p:spTree>
    <p:extLst>
      <p:ext uri="{BB962C8B-B14F-4D97-AF65-F5344CB8AC3E}">
        <p14:creationId xmlns:p14="http://schemas.microsoft.com/office/powerpoint/2010/main" val="975036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C2A52-0A2F-2BF9-1B54-7E28C74B32C8}"/>
              </a:ext>
            </a:extLst>
          </p:cNvPr>
          <p:cNvSpPr>
            <a:spLocks noGrp="1"/>
          </p:cNvSpPr>
          <p:nvPr>
            <p:ph type="title"/>
          </p:nvPr>
        </p:nvSpPr>
        <p:spPr/>
        <p:txBody>
          <a:bodyPr/>
          <a:lstStyle/>
          <a:p>
            <a:r>
              <a:rPr lang="en-US" dirty="0"/>
              <a:t>View binding </a:t>
            </a:r>
            <a:endParaRPr lang="en-EG" dirty="0"/>
          </a:p>
        </p:txBody>
      </p:sp>
      <p:sp>
        <p:nvSpPr>
          <p:cNvPr id="3" name="Content Placeholder 2">
            <a:extLst>
              <a:ext uri="{FF2B5EF4-FFF2-40B4-BE49-F238E27FC236}">
                <a16:creationId xmlns:a16="http://schemas.microsoft.com/office/drawing/2014/main" id="{00EC36F5-3520-CC28-10DB-F04A9884CA1B}"/>
              </a:ext>
            </a:extLst>
          </p:cNvPr>
          <p:cNvSpPr>
            <a:spLocks noGrp="1"/>
          </p:cNvSpPr>
          <p:nvPr>
            <p:ph idx="1"/>
          </p:nvPr>
        </p:nvSpPr>
        <p:spPr/>
        <p:txBody>
          <a:bodyPr>
            <a:normAutofit/>
          </a:bodyPr>
          <a:lstStyle/>
          <a:p>
            <a:pPr marL="0" indent="0">
              <a:buNone/>
            </a:pPr>
            <a:r>
              <a:rPr lang="en-US" sz="1800" b="1" dirty="0"/>
              <a:t>View Binding in Android</a:t>
            </a:r>
          </a:p>
          <a:p>
            <a:pPr lvl="1"/>
            <a:r>
              <a:rPr lang="en-US" sz="1800" b="1" dirty="0"/>
              <a:t>Purpose:</a:t>
            </a:r>
            <a:r>
              <a:rPr lang="en-US" sz="1800" dirty="0"/>
              <a:t> Makes it easier to </a:t>
            </a:r>
            <a:r>
              <a:rPr lang="en-US" sz="1800" b="1" dirty="0"/>
              <a:t>interact with views</a:t>
            </a:r>
            <a:r>
              <a:rPr lang="en-US" sz="1800" dirty="0"/>
              <a:t> in your code.</a:t>
            </a:r>
          </a:p>
          <a:p>
            <a:pPr lvl="1"/>
            <a:r>
              <a:rPr lang="en-US" sz="1800" dirty="0"/>
              <a:t>Once enabled, a </a:t>
            </a:r>
            <a:r>
              <a:rPr lang="en-US" sz="1800" b="1" dirty="0"/>
              <a:t>binding class</a:t>
            </a:r>
            <a:r>
              <a:rPr lang="en-US" sz="1800" dirty="0"/>
              <a:t> is generated for </a:t>
            </a:r>
            <a:r>
              <a:rPr lang="en-US" sz="1800" b="1" dirty="0"/>
              <a:t>each XML layout</a:t>
            </a:r>
            <a:r>
              <a:rPr lang="en-US" sz="1800" dirty="0"/>
              <a:t>.</a:t>
            </a:r>
          </a:p>
          <a:p>
            <a:pPr lvl="1"/>
            <a:r>
              <a:rPr lang="en-US" sz="1800" dirty="0"/>
              <a:t>The binding class provides </a:t>
            </a:r>
            <a:r>
              <a:rPr lang="en-US" sz="1800" b="1" dirty="0"/>
              <a:t>direct references to all views with an ID</a:t>
            </a:r>
            <a:r>
              <a:rPr lang="en-US" sz="1800" dirty="0"/>
              <a:t>, replacing </a:t>
            </a:r>
            <a:r>
              <a:rPr lang="en-US" sz="1800" dirty="0" err="1"/>
              <a:t>findViewById</a:t>
            </a:r>
            <a:r>
              <a:rPr lang="en-US" sz="1800" dirty="0"/>
              <a:t>.</a:t>
            </a:r>
          </a:p>
          <a:p>
            <a:pPr marL="0" indent="0">
              <a:buNone/>
            </a:pPr>
            <a:r>
              <a:rPr lang="en-US" sz="1800" b="1" dirty="0"/>
              <a:t>Enable View Binding in Gradle</a:t>
            </a:r>
          </a:p>
          <a:p>
            <a:pPr lvl="1"/>
            <a:r>
              <a:rPr lang="en-US" sz="1800" dirty="0"/>
              <a:t>You need to open your </a:t>
            </a:r>
            <a:r>
              <a:rPr lang="en-US" sz="1800" b="1" dirty="0"/>
              <a:t>app-level </a:t>
            </a:r>
            <a:r>
              <a:rPr lang="en-US" sz="1800" b="1" dirty="0" err="1"/>
              <a:t>build.gradle.kts</a:t>
            </a:r>
            <a:r>
              <a:rPr lang="en-US" sz="1800" dirty="0"/>
              <a:t> file (the one located in the app/ directory) and add the </a:t>
            </a:r>
            <a:r>
              <a:rPr lang="en-US" sz="1800" dirty="0" err="1"/>
              <a:t>viewBinding</a:t>
            </a:r>
            <a:r>
              <a:rPr lang="en-US" sz="1800" dirty="0"/>
              <a:t> feature block inside the android { ... } block.</a:t>
            </a:r>
          </a:p>
          <a:p>
            <a:pPr lvl="2"/>
            <a:endParaRPr lang="en-US" sz="1800" dirty="0"/>
          </a:p>
        </p:txBody>
      </p:sp>
      <p:pic>
        <p:nvPicPr>
          <p:cNvPr id="4" name="Picture 3">
            <a:extLst>
              <a:ext uri="{FF2B5EF4-FFF2-40B4-BE49-F238E27FC236}">
                <a16:creationId xmlns:a16="http://schemas.microsoft.com/office/drawing/2014/main" id="{57599F95-6A14-C722-E714-9BE844910937}"/>
              </a:ext>
            </a:extLst>
          </p:cNvPr>
          <p:cNvPicPr>
            <a:picLocks noChangeAspect="1"/>
          </p:cNvPicPr>
          <p:nvPr/>
        </p:nvPicPr>
        <p:blipFill>
          <a:blip r:embed="rId2"/>
          <a:stretch>
            <a:fillRect/>
          </a:stretch>
        </p:blipFill>
        <p:spPr>
          <a:xfrm>
            <a:off x="2546642" y="4117350"/>
            <a:ext cx="6578600" cy="1854200"/>
          </a:xfrm>
          <a:prstGeom prst="rect">
            <a:avLst/>
          </a:prstGeom>
        </p:spPr>
      </p:pic>
    </p:spTree>
    <p:extLst>
      <p:ext uri="{BB962C8B-B14F-4D97-AF65-F5344CB8AC3E}">
        <p14:creationId xmlns:p14="http://schemas.microsoft.com/office/powerpoint/2010/main" val="6146668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2C70-25D0-F616-DC59-3C0A08CA4CFF}"/>
              </a:ext>
            </a:extLst>
          </p:cNvPr>
          <p:cNvSpPr>
            <a:spLocks noGrp="1"/>
          </p:cNvSpPr>
          <p:nvPr>
            <p:ph type="title"/>
          </p:nvPr>
        </p:nvSpPr>
        <p:spPr/>
        <p:txBody>
          <a:bodyPr/>
          <a:lstStyle/>
          <a:p>
            <a:r>
              <a:rPr lang="en-EG" dirty="0"/>
              <a:t>Cont. View Binding</a:t>
            </a:r>
          </a:p>
        </p:txBody>
      </p:sp>
      <p:sp>
        <p:nvSpPr>
          <p:cNvPr id="3" name="Content Placeholder 2">
            <a:extLst>
              <a:ext uri="{FF2B5EF4-FFF2-40B4-BE49-F238E27FC236}">
                <a16:creationId xmlns:a16="http://schemas.microsoft.com/office/drawing/2014/main" id="{F9453B4D-3E0F-8DE3-C2EC-111929255B17}"/>
              </a:ext>
            </a:extLst>
          </p:cNvPr>
          <p:cNvSpPr>
            <a:spLocks noGrp="1"/>
          </p:cNvSpPr>
          <p:nvPr>
            <p:ph idx="1"/>
          </p:nvPr>
        </p:nvSpPr>
        <p:spPr/>
        <p:txBody>
          <a:bodyPr>
            <a:normAutofit/>
          </a:bodyPr>
          <a:lstStyle/>
          <a:p>
            <a:pPr marL="0" indent="0">
              <a:buNone/>
            </a:pPr>
            <a:r>
              <a:rPr lang="en-US" dirty="0"/>
              <a:t>When view binding is enabled for a module:</a:t>
            </a:r>
          </a:p>
          <a:p>
            <a:pPr lvl="1"/>
            <a:r>
              <a:rPr lang="en-US" dirty="0"/>
              <a:t>A binding class is generated for </a:t>
            </a:r>
            <a:r>
              <a:rPr lang="en-US" b="1" dirty="0"/>
              <a:t>each XML layout file</a:t>
            </a:r>
            <a:r>
              <a:rPr lang="en-US" dirty="0"/>
              <a:t> in the module.</a:t>
            </a:r>
          </a:p>
          <a:p>
            <a:pPr lvl="1"/>
            <a:r>
              <a:rPr lang="en-US" dirty="0"/>
              <a:t>Each binding class contains references to:</a:t>
            </a:r>
          </a:p>
          <a:p>
            <a:pPr lvl="2"/>
            <a:r>
              <a:rPr lang="en-US" dirty="0"/>
              <a:t>The </a:t>
            </a:r>
            <a:r>
              <a:rPr lang="en-US" b="1" dirty="0"/>
              <a:t>root view</a:t>
            </a:r>
            <a:r>
              <a:rPr lang="en-US" dirty="0"/>
              <a:t> of the layout.</a:t>
            </a:r>
          </a:p>
          <a:p>
            <a:pPr lvl="2"/>
            <a:r>
              <a:rPr lang="en-US" dirty="0"/>
              <a:t>All views that have an </a:t>
            </a:r>
            <a:r>
              <a:rPr lang="en-US" b="1" dirty="0"/>
              <a:t>ID</a:t>
            </a:r>
            <a:r>
              <a:rPr lang="en-US" dirty="0"/>
              <a:t> assigned.</a:t>
            </a:r>
          </a:p>
          <a:p>
            <a:pPr lvl="1"/>
            <a:r>
              <a:rPr lang="en-US" dirty="0"/>
              <a:t>The </a:t>
            </a:r>
            <a:r>
              <a:rPr lang="en-US" b="1" dirty="0"/>
              <a:t>binding class name</a:t>
            </a:r>
            <a:r>
              <a:rPr lang="en-US" dirty="0"/>
              <a:t> is created by:</a:t>
            </a:r>
          </a:p>
          <a:p>
            <a:pPr lvl="2"/>
            <a:r>
              <a:rPr lang="en-US" dirty="0"/>
              <a:t>Converting the XML file name to </a:t>
            </a:r>
            <a:r>
              <a:rPr lang="en-US" b="1" dirty="0" err="1"/>
              <a:t>PascalCase</a:t>
            </a:r>
            <a:r>
              <a:rPr lang="en-US" dirty="0"/>
              <a:t>.</a:t>
            </a:r>
          </a:p>
          <a:p>
            <a:pPr lvl="2"/>
            <a:r>
              <a:rPr lang="en-US" dirty="0"/>
              <a:t>Appending the word Binding at the end.</a:t>
            </a:r>
          </a:p>
          <a:p>
            <a:pPr lvl="1"/>
            <a:r>
              <a:rPr lang="en-US" dirty="0"/>
              <a:t>Every binding class provides a </a:t>
            </a:r>
            <a:r>
              <a:rPr lang="en-US" b="1" dirty="0" err="1"/>
              <a:t>getRoot</a:t>
            </a:r>
            <a:r>
              <a:rPr lang="en-US" b="1" dirty="0"/>
              <a:t>()</a:t>
            </a:r>
            <a:r>
              <a:rPr lang="en-US" dirty="0"/>
              <a:t> method to access the root view directly.</a:t>
            </a:r>
          </a:p>
        </p:txBody>
      </p:sp>
    </p:spTree>
    <p:extLst>
      <p:ext uri="{BB962C8B-B14F-4D97-AF65-F5344CB8AC3E}">
        <p14:creationId xmlns:p14="http://schemas.microsoft.com/office/powerpoint/2010/main" val="1297182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2C70-25D0-F616-DC59-3C0A08CA4CFF}"/>
              </a:ext>
            </a:extLst>
          </p:cNvPr>
          <p:cNvSpPr>
            <a:spLocks noGrp="1"/>
          </p:cNvSpPr>
          <p:nvPr>
            <p:ph type="title"/>
          </p:nvPr>
        </p:nvSpPr>
        <p:spPr/>
        <p:txBody>
          <a:bodyPr/>
          <a:lstStyle/>
          <a:p>
            <a:r>
              <a:rPr lang="en-EG" dirty="0"/>
              <a:t>Cont. View Binding</a:t>
            </a:r>
          </a:p>
        </p:txBody>
      </p:sp>
      <p:sp>
        <p:nvSpPr>
          <p:cNvPr id="3" name="Content Placeholder 2">
            <a:extLst>
              <a:ext uri="{FF2B5EF4-FFF2-40B4-BE49-F238E27FC236}">
                <a16:creationId xmlns:a16="http://schemas.microsoft.com/office/drawing/2014/main" id="{F9453B4D-3E0F-8DE3-C2EC-111929255B17}"/>
              </a:ext>
            </a:extLst>
          </p:cNvPr>
          <p:cNvSpPr>
            <a:spLocks noGrp="1"/>
          </p:cNvSpPr>
          <p:nvPr>
            <p:ph idx="1"/>
          </p:nvPr>
        </p:nvSpPr>
        <p:spPr/>
        <p:txBody>
          <a:bodyPr>
            <a:normAutofit/>
          </a:bodyPr>
          <a:lstStyle/>
          <a:p>
            <a:r>
              <a:rPr lang="en-US" sz="2400" dirty="0">
                <a:solidFill>
                  <a:srgbClr val="202124"/>
                </a:solidFill>
                <a:latin typeface="Google Sans Text"/>
              </a:rPr>
              <a:t>For example, consider a layout file called </a:t>
            </a:r>
            <a:r>
              <a:rPr lang="en-US" sz="2400" dirty="0" err="1">
                <a:solidFill>
                  <a:srgbClr val="202124"/>
                </a:solidFill>
                <a:latin typeface="Google Sans Text"/>
              </a:rPr>
              <a:t>result_profile.xml</a:t>
            </a:r>
            <a:endParaRPr lang="en-US" sz="2400" dirty="0">
              <a:solidFill>
                <a:srgbClr val="202124"/>
              </a:solidFill>
              <a:latin typeface="Google Sans Text"/>
            </a:endParaRPr>
          </a:p>
          <a:p>
            <a:endParaRPr lang="en-US" sz="2400" dirty="0">
              <a:solidFill>
                <a:srgbClr val="202124"/>
              </a:solidFill>
              <a:latin typeface="Google Sans Text"/>
            </a:endParaRPr>
          </a:p>
          <a:p>
            <a:endParaRPr lang="en-US" sz="2400" dirty="0">
              <a:solidFill>
                <a:srgbClr val="202124"/>
              </a:solidFill>
              <a:latin typeface="Google Sans Text"/>
            </a:endParaRPr>
          </a:p>
          <a:p>
            <a:pPr marL="0" indent="0">
              <a:buNone/>
            </a:pPr>
            <a:endParaRPr lang="en-US" sz="2400" dirty="0">
              <a:solidFill>
                <a:srgbClr val="202124"/>
              </a:solidFill>
              <a:latin typeface="Google Sans Text"/>
            </a:endParaRPr>
          </a:p>
          <a:p>
            <a:pPr marL="0" indent="0">
              <a:buNone/>
            </a:pPr>
            <a:endParaRPr lang="en-US" sz="2400" dirty="0">
              <a:solidFill>
                <a:srgbClr val="202124"/>
              </a:solidFill>
              <a:latin typeface="Google Sans Text"/>
            </a:endParaRPr>
          </a:p>
          <a:p>
            <a:r>
              <a:rPr lang="en-US" sz="2400" dirty="0">
                <a:solidFill>
                  <a:srgbClr val="202124"/>
                </a:solidFill>
                <a:latin typeface="Google Sans Text"/>
              </a:rPr>
              <a:t>The generated binding class is called </a:t>
            </a:r>
            <a:r>
              <a:rPr lang="en-US" sz="2400" dirty="0" err="1">
                <a:solidFill>
                  <a:srgbClr val="202124"/>
                </a:solidFill>
                <a:latin typeface="Google Sans Text"/>
              </a:rPr>
              <a:t>ResultProfileBinding</a:t>
            </a:r>
            <a:r>
              <a:rPr lang="en-US" sz="2400" dirty="0">
                <a:solidFill>
                  <a:srgbClr val="202124"/>
                </a:solidFill>
                <a:latin typeface="Google Sans Text"/>
              </a:rPr>
              <a:t>. This class has two fields: a </a:t>
            </a:r>
            <a:r>
              <a:rPr lang="en-US" sz="2400" dirty="0" err="1">
                <a:solidFill>
                  <a:srgbClr val="202124"/>
                </a:solidFill>
                <a:latin typeface="Google Sans Text"/>
              </a:rPr>
              <a:t>TextView</a:t>
            </a:r>
            <a:r>
              <a:rPr lang="en-US" sz="2400" dirty="0">
                <a:solidFill>
                  <a:srgbClr val="202124"/>
                </a:solidFill>
                <a:latin typeface="Google Sans Text"/>
              </a:rPr>
              <a:t> called name and a Button called button. The </a:t>
            </a:r>
            <a:r>
              <a:rPr lang="en-US" sz="2400" dirty="0" err="1">
                <a:solidFill>
                  <a:srgbClr val="202124"/>
                </a:solidFill>
                <a:latin typeface="Google Sans Text"/>
              </a:rPr>
              <a:t>ImageView</a:t>
            </a:r>
            <a:r>
              <a:rPr lang="en-US" sz="2400" dirty="0">
                <a:solidFill>
                  <a:srgbClr val="202124"/>
                </a:solidFill>
                <a:latin typeface="Google Sans Text"/>
              </a:rPr>
              <a:t> in the layout has no ID, so there is no reference to it in the binding class. </a:t>
            </a:r>
          </a:p>
          <a:p>
            <a:r>
              <a:rPr lang="en-US" b="0" i="0" u="none" strike="noStrike" dirty="0">
                <a:solidFill>
                  <a:srgbClr val="202124"/>
                </a:solidFill>
                <a:effectLst/>
                <a:latin typeface="Google Sans Text"/>
              </a:rPr>
              <a:t>In this example, the </a:t>
            </a:r>
            <a:r>
              <a:rPr lang="en-US" dirty="0" err="1"/>
              <a:t>getRoot</a:t>
            </a:r>
            <a:r>
              <a:rPr lang="en-US" dirty="0"/>
              <a:t>()</a:t>
            </a:r>
            <a:r>
              <a:rPr lang="en-US" b="0" i="0" u="none" strike="noStrike" dirty="0">
                <a:solidFill>
                  <a:srgbClr val="202124"/>
                </a:solidFill>
                <a:effectLst/>
                <a:latin typeface="Google Sans Text"/>
              </a:rPr>
              <a:t> method in the </a:t>
            </a:r>
            <a:r>
              <a:rPr lang="en-US" dirty="0" err="1"/>
              <a:t>ResultProfileBinding</a:t>
            </a:r>
            <a:r>
              <a:rPr lang="en-US" b="0" i="0" u="none" strike="noStrike" dirty="0">
                <a:solidFill>
                  <a:srgbClr val="202124"/>
                </a:solidFill>
                <a:effectLst/>
                <a:latin typeface="Google Sans Text"/>
              </a:rPr>
              <a:t> class returns the </a:t>
            </a:r>
            <a:r>
              <a:rPr lang="en-US" dirty="0" err="1"/>
              <a:t>LinearLayout</a:t>
            </a:r>
            <a:r>
              <a:rPr lang="en-US" b="0" i="0" u="none" strike="noStrike" dirty="0">
                <a:solidFill>
                  <a:srgbClr val="202124"/>
                </a:solidFill>
                <a:effectLst/>
                <a:latin typeface="Google Sans Text"/>
              </a:rPr>
              <a:t> root view.</a:t>
            </a:r>
            <a:endParaRPr lang="en-EG" dirty="0"/>
          </a:p>
        </p:txBody>
      </p:sp>
      <p:pic>
        <p:nvPicPr>
          <p:cNvPr id="4" name="Picture 3">
            <a:extLst>
              <a:ext uri="{FF2B5EF4-FFF2-40B4-BE49-F238E27FC236}">
                <a16:creationId xmlns:a16="http://schemas.microsoft.com/office/drawing/2014/main" id="{F7302105-CB35-6989-FAA7-6BD8E60897D6}"/>
              </a:ext>
            </a:extLst>
          </p:cNvPr>
          <p:cNvPicPr>
            <a:picLocks noChangeAspect="1"/>
          </p:cNvPicPr>
          <p:nvPr/>
        </p:nvPicPr>
        <p:blipFill>
          <a:blip r:embed="rId3"/>
          <a:stretch>
            <a:fillRect/>
          </a:stretch>
        </p:blipFill>
        <p:spPr>
          <a:xfrm>
            <a:off x="1823653" y="2269559"/>
            <a:ext cx="8544694" cy="1772504"/>
          </a:xfrm>
          <a:prstGeom prst="rect">
            <a:avLst/>
          </a:prstGeom>
        </p:spPr>
      </p:pic>
    </p:spTree>
    <p:extLst>
      <p:ext uri="{BB962C8B-B14F-4D97-AF65-F5344CB8AC3E}">
        <p14:creationId xmlns:p14="http://schemas.microsoft.com/office/powerpoint/2010/main" val="26280723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22C70-25D0-F616-DC59-3C0A08CA4CFF}"/>
              </a:ext>
            </a:extLst>
          </p:cNvPr>
          <p:cNvSpPr>
            <a:spLocks noGrp="1"/>
          </p:cNvSpPr>
          <p:nvPr>
            <p:ph type="title"/>
          </p:nvPr>
        </p:nvSpPr>
        <p:spPr/>
        <p:txBody>
          <a:bodyPr/>
          <a:lstStyle/>
          <a:p>
            <a:r>
              <a:rPr lang="en-EG" dirty="0"/>
              <a:t>Cont. View Binding</a:t>
            </a:r>
          </a:p>
        </p:txBody>
      </p:sp>
      <p:sp>
        <p:nvSpPr>
          <p:cNvPr id="3" name="Content Placeholder 2">
            <a:extLst>
              <a:ext uri="{FF2B5EF4-FFF2-40B4-BE49-F238E27FC236}">
                <a16:creationId xmlns:a16="http://schemas.microsoft.com/office/drawing/2014/main" id="{F9453B4D-3E0F-8DE3-C2EC-111929255B17}"/>
              </a:ext>
            </a:extLst>
          </p:cNvPr>
          <p:cNvSpPr>
            <a:spLocks noGrp="1"/>
          </p:cNvSpPr>
          <p:nvPr>
            <p:ph idx="1"/>
          </p:nvPr>
        </p:nvSpPr>
        <p:spPr>
          <a:xfrm>
            <a:off x="838200" y="1690688"/>
            <a:ext cx="10515600" cy="4486275"/>
          </a:xfrm>
        </p:spPr>
        <p:txBody>
          <a:bodyPr>
            <a:normAutofit/>
          </a:bodyPr>
          <a:lstStyle/>
          <a:p>
            <a:r>
              <a:rPr lang="en-US" sz="2400" dirty="0"/>
              <a:t>To set up an instance of the binding class for use with an activity:</a:t>
            </a:r>
          </a:p>
          <a:p>
            <a:pPr marL="914400" lvl="1" indent="-457200">
              <a:buFont typeface="+mj-lt"/>
              <a:buAutoNum type="arabicPeriod"/>
            </a:pPr>
            <a:r>
              <a:rPr lang="en-US" sz="2000" dirty="0"/>
              <a:t>Call the static inflate() method included in the generated binding class. This creates an instance of the binding class for the activity to use.</a:t>
            </a:r>
          </a:p>
          <a:p>
            <a:pPr marL="914400" lvl="1" indent="-457200">
              <a:buFont typeface="+mj-lt"/>
              <a:buAutoNum type="arabicPeriod"/>
            </a:pPr>
            <a:r>
              <a:rPr lang="en-US" sz="2000" dirty="0"/>
              <a:t>Get a reference to the root view by either calling the </a:t>
            </a:r>
            <a:r>
              <a:rPr lang="en-US" sz="2000" dirty="0" err="1"/>
              <a:t>getRoot</a:t>
            </a:r>
            <a:r>
              <a:rPr lang="en-US" sz="2000" dirty="0"/>
              <a:t>() method or using Kotlin property syntax.</a:t>
            </a:r>
          </a:p>
          <a:p>
            <a:pPr marL="914400" lvl="1" indent="-457200">
              <a:buFont typeface="+mj-lt"/>
              <a:buAutoNum type="arabicPeriod"/>
            </a:pPr>
            <a:r>
              <a:rPr lang="en-US" sz="2000" dirty="0"/>
              <a:t>Pass the root view to </a:t>
            </a:r>
            <a:r>
              <a:rPr lang="en-US" sz="2000" dirty="0" err="1"/>
              <a:t>setContentView</a:t>
            </a:r>
            <a:r>
              <a:rPr lang="en-US" sz="2000" dirty="0"/>
              <a:t>() to make it the active view on the screen.</a:t>
            </a:r>
          </a:p>
          <a:p>
            <a:pPr lvl="1"/>
            <a:endParaRPr lang="en-EG" dirty="0"/>
          </a:p>
        </p:txBody>
      </p:sp>
      <p:pic>
        <p:nvPicPr>
          <p:cNvPr id="5" name="Picture 4">
            <a:extLst>
              <a:ext uri="{FF2B5EF4-FFF2-40B4-BE49-F238E27FC236}">
                <a16:creationId xmlns:a16="http://schemas.microsoft.com/office/drawing/2014/main" id="{A57C53EF-14A6-795C-054A-EAA53A23801E}"/>
              </a:ext>
            </a:extLst>
          </p:cNvPr>
          <p:cNvPicPr>
            <a:picLocks noChangeAspect="1"/>
          </p:cNvPicPr>
          <p:nvPr/>
        </p:nvPicPr>
        <p:blipFill>
          <a:blip r:embed="rId3"/>
          <a:stretch>
            <a:fillRect/>
          </a:stretch>
        </p:blipFill>
        <p:spPr>
          <a:xfrm>
            <a:off x="2209800" y="3632339"/>
            <a:ext cx="7772400" cy="2279580"/>
          </a:xfrm>
          <a:prstGeom prst="rect">
            <a:avLst/>
          </a:prstGeom>
        </p:spPr>
      </p:pic>
      <p:pic>
        <p:nvPicPr>
          <p:cNvPr id="6" name="Picture 5">
            <a:extLst>
              <a:ext uri="{FF2B5EF4-FFF2-40B4-BE49-F238E27FC236}">
                <a16:creationId xmlns:a16="http://schemas.microsoft.com/office/drawing/2014/main" id="{66849C85-C451-6F95-07D8-BFB4549CCC9D}"/>
              </a:ext>
            </a:extLst>
          </p:cNvPr>
          <p:cNvPicPr>
            <a:picLocks noChangeAspect="1"/>
          </p:cNvPicPr>
          <p:nvPr/>
        </p:nvPicPr>
        <p:blipFill>
          <a:blip r:embed="rId4"/>
          <a:stretch>
            <a:fillRect/>
          </a:stretch>
        </p:blipFill>
        <p:spPr>
          <a:xfrm>
            <a:off x="2209800" y="5997532"/>
            <a:ext cx="7772400" cy="623906"/>
          </a:xfrm>
          <a:prstGeom prst="rect">
            <a:avLst/>
          </a:prstGeom>
        </p:spPr>
      </p:pic>
    </p:spTree>
    <p:extLst>
      <p:ext uri="{BB962C8B-B14F-4D97-AF65-F5344CB8AC3E}">
        <p14:creationId xmlns:p14="http://schemas.microsoft.com/office/powerpoint/2010/main" val="10413316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3071-C310-974B-96B5-02DAFA2F748C}"/>
              </a:ext>
            </a:extLst>
          </p:cNvPr>
          <p:cNvSpPr>
            <a:spLocks noGrp="1"/>
          </p:cNvSpPr>
          <p:nvPr>
            <p:ph type="title"/>
          </p:nvPr>
        </p:nvSpPr>
        <p:spPr/>
        <p:txBody>
          <a:bodyPr/>
          <a:lstStyle/>
          <a:p>
            <a:pPr fontAlgn="base"/>
            <a:r>
              <a:rPr lang="en-US" b="1" dirty="0"/>
              <a:t>Listen And Response Button Click Event.</a:t>
            </a:r>
          </a:p>
        </p:txBody>
      </p:sp>
      <p:pic>
        <p:nvPicPr>
          <p:cNvPr id="9" name="Content Placeholder 8">
            <a:extLst>
              <a:ext uri="{FF2B5EF4-FFF2-40B4-BE49-F238E27FC236}">
                <a16:creationId xmlns:a16="http://schemas.microsoft.com/office/drawing/2014/main" id="{8FD02ED3-286C-5154-D5C9-9CC3A31FDEA7}"/>
              </a:ext>
            </a:extLst>
          </p:cNvPr>
          <p:cNvPicPr>
            <a:picLocks noGrp="1" noChangeAspect="1"/>
          </p:cNvPicPr>
          <p:nvPr>
            <p:ph idx="1"/>
          </p:nvPr>
        </p:nvPicPr>
        <p:blipFill>
          <a:blip r:embed="rId2"/>
          <a:stretch>
            <a:fillRect/>
          </a:stretch>
        </p:blipFill>
        <p:spPr>
          <a:xfrm>
            <a:off x="1498767" y="1370894"/>
            <a:ext cx="9194463" cy="2568493"/>
          </a:xfrm>
          <a:prstGeom prst="rect">
            <a:avLst/>
          </a:prstGeom>
        </p:spPr>
      </p:pic>
      <p:pic>
        <p:nvPicPr>
          <p:cNvPr id="12" name="Graphic 11" descr="Badge 1 with solid fill">
            <a:extLst>
              <a:ext uri="{FF2B5EF4-FFF2-40B4-BE49-F238E27FC236}">
                <a16:creationId xmlns:a16="http://schemas.microsoft.com/office/drawing/2014/main" id="{BFEB29E2-1C6C-3C76-D817-F4B2C4F518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68678" y="1634366"/>
            <a:ext cx="914400" cy="914400"/>
          </a:xfrm>
          <a:prstGeom prst="rect">
            <a:avLst/>
          </a:prstGeom>
        </p:spPr>
      </p:pic>
    </p:spTree>
    <p:extLst>
      <p:ext uri="{BB962C8B-B14F-4D97-AF65-F5344CB8AC3E}">
        <p14:creationId xmlns:p14="http://schemas.microsoft.com/office/powerpoint/2010/main" val="2511860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B1D89-41CF-B544-BBFF-55550079BDF2}"/>
              </a:ext>
            </a:extLst>
          </p:cNvPr>
          <p:cNvSpPr>
            <a:spLocks noGrp="1"/>
          </p:cNvSpPr>
          <p:nvPr>
            <p:ph type="title"/>
          </p:nvPr>
        </p:nvSpPr>
        <p:spPr/>
        <p:txBody>
          <a:bodyPr/>
          <a:lstStyle/>
          <a:p>
            <a:r>
              <a:rPr lang="en-EG" dirty="0"/>
              <a:t>Using intents</a:t>
            </a:r>
          </a:p>
        </p:txBody>
      </p:sp>
      <p:sp>
        <p:nvSpPr>
          <p:cNvPr id="3" name="Content Placeholder 2">
            <a:extLst>
              <a:ext uri="{FF2B5EF4-FFF2-40B4-BE49-F238E27FC236}">
                <a16:creationId xmlns:a16="http://schemas.microsoft.com/office/drawing/2014/main" id="{7108AAA9-04B7-7844-868B-B6EB67972D23}"/>
              </a:ext>
            </a:extLst>
          </p:cNvPr>
          <p:cNvSpPr>
            <a:spLocks noGrp="1"/>
          </p:cNvSpPr>
          <p:nvPr>
            <p:ph idx="1"/>
          </p:nvPr>
        </p:nvSpPr>
        <p:spPr/>
        <p:txBody>
          <a:bodyPr/>
          <a:lstStyle/>
          <a:p>
            <a:r>
              <a:rPr lang="en-EG" dirty="0"/>
              <a:t>You may send data or not when using intents to move between activities or to different apps.</a:t>
            </a:r>
          </a:p>
          <a:p>
            <a:pPr marL="457200" lvl="1" indent="0">
              <a:buNone/>
            </a:pPr>
            <a:endParaRPr lang="en-US" dirty="0"/>
          </a:p>
          <a:p>
            <a:pPr marL="457200" lvl="1" indent="0">
              <a:buNone/>
            </a:pPr>
            <a:r>
              <a:rPr lang="en-US" dirty="0"/>
              <a:t>T</a:t>
            </a:r>
            <a:r>
              <a:rPr lang="en-EG" dirty="0"/>
              <a:t>his code uses intents without any data being transfered.</a:t>
            </a:r>
          </a:p>
          <a:p>
            <a:pPr marL="457200" lvl="1" indent="0">
              <a:buNone/>
            </a:pPr>
            <a:endParaRPr lang="en-EG" dirty="0"/>
          </a:p>
          <a:p>
            <a:pPr marL="457200" lvl="1" indent="0">
              <a:buNone/>
            </a:pPr>
            <a:endParaRPr lang="en-EG" dirty="0"/>
          </a:p>
          <a:p>
            <a:pPr marL="457200" lvl="1" indent="0">
              <a:buNone/>
            </a:pPr>
            <a:endParaRPr lang="en-EG" dirty="0"/>
          </a:p>
          <a:p>
            <a:pPr marL="457200" lvl="1" indent="0">
              <a:buNone/>
            </a:pPr>
            <a:endParaRPr lang="en-EG" dirty="0"/>
          </a:p>
          <a:p>
            <a:pPr marL="457200" lvl="1" indent="0">
              <a:buNone/>
            </a:pPr>
            <a:endParaRPr lang="en-EG" dirty="0"/>
          </a:p>
          <a:p>
            <a:pPr marL="514350" indent="-514350">
              <a:buFont typeface="+mj-lt"/>
              <a:buAutoNum type="arabicPeriod"/>
            </a:pPr>
            <a:endParaRPr lang="en-EG" dirty="0"/>
          </a:p>
          <a:p>
            <a:pPr marL="0" indent="0">
              <a:buNone/>
            </a:pPr>
            <a:endParaRPr lang="en-EG" dirty="0"/>
          </a:p>
        </p:txBody>
      </p:sp>
      <p:pic>
        <p:nvPicPr>
          <p:cNvPr id="4" name="Picture 3">
            <a:extLst>
              <a:ext uri="{FF2B5EF4-FFF2-40B4-BE49-F238E27FC236}">
                <a16:creationId xmlns:a16="http://schemas.microsoft.com/office/drawing/2014/main" id="{00903793-46DA-81B6-8EC2-B60BBE15BB4D}"/>
              </a:ext>
            </a:extLst>
          </p:cNvPr>
          <p:cNvPicPr>
            <a:picLocks noChangeAspect="1"/>
          </p:cNvPicPr>
          <p:nvPr/>
        </p:nvPicPr>
        <p:blipFill>
          <a:blip r:embed="rId2"/>
          <a:stretch>
            <a:fillRect/>
          </a:stretch>
        </p:blipFill>
        <p:spPr>
          <a:xfrm>
            <a:off x="2209800" y="3602671"/>
            <a:ext cx="7772400" cy="1010536"/>
          </a:xfrm>
          <a:prstGeom prst="rect">
            <a:avLst/>
          </a:prstGeom>
        </p:spPr>
      </p:pic>
    </p:spTree>
    <p:extLst>
      <p:ext uri="{BB962C8B-B14F-4D97-AF65-F5344CB8AC3E}">
        <p14:creationId xmlns:p14="http://schemas.microsoft.com/office/powerpoint/2010/main" val="11564905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712A3F-DC39-FC48-92EE-A1DE4987FFE7}"/>
              </a:ext>
            </a:extLst>
          </p:cNvPr>
          <p:cNvSpPr>
            <a:spLocks noGrp="1"/>
          </p:cNvSpPr>
          <p:nvPr>
            <p:ph idx="1"/>
          </p:nvPr>
        </p:nvSpPr>
        <p:spPr>
          <a:xfrm>
            <a:off x="838200" y="479685"/>
            <a:ext cx="10515600" cy="5697278"/>
          </a:xfrm>
        </p:spPr>
        <p:txBody>
          <a:bodyPr/>
          <a:lstStyle/>
          <a:p>
            <a:pPr lvl="1"/>
            <a:r>
              <a:rPr lang="en-US" dirty="0"/>
              <a:t>Sending data from an intent to an intent</a:t>
            </a:r>
            <a:endParaRPr lang="en-EG" dirty="0"/>
          </a:p>
        </p:txBody>
      </p:sp>
      <p:pic>
        <p:nvPicPr>
          <p:cNvPr id="6" name="Picture 5">
            <a:extLst>
              <a:ext uri="{FF2B5EF4-FFF2-40B4-BE49-F238E27FC236}">
                <a16:creationId xmlns:a16="http://schemas.microsoft.com/office/drawing/2014/main" id="{EF7FD075-779E-DFEB-7BBB-4EC7AF1120E6}"/>
              </a:ext>
            </a:extLst>
          </p:cNvPr>
          <p:cNvPicPr>
            <a:picLocks noChangeAspect="1"/>
          </p:cNvPicPr>
          <p:nvPr/>
        </p:nvPicPr>
        <p:blipFill>
          <a:blip r:embed="rId2"/>
          <a:stretch>
            <a:fillRect/>
          </a:stretch>
        </p:blipFill>
        <p:spPr>
          <a:xfrm>
            <a:off x="2209799" y="3022979"/>
            <a:ext cx="7772400" cy="812041"/>
          </a:xfrm>
          <a:prstGeom prst="rect">
            <a:avLst/>
          </a:prstGeom>
        </p:spPr>
      </p:pic>
      <p:pic>
        <p:nvPicPr>
          <p:cNvPr id="5" name="Picture 4">
            <a:extLst>
              <a:ext uri="{FF2B5EF4-FFF2-40B4-BE49-F238E27FC236}">
                <a16:creationId xmlns:a16="http://schemas.microsoft.com/office/drawing/2014/main" id="{FB370BF0-0B6B-B382-5377-05413E626104}"/>
              </a:ext>
            </a:extLst>
          </p:cNvPr>
          <p:cNvPicPr>
            <a:picLocks noChangeAspect="1"/>
          </p:cNvPicPr>
          <p:nvPr/>
        </p:nvPicPr>
        <p:blipFill>
          <a:blip r:embed="rId3"/>
          <a:stretch>
            <a:fillRect/>
          </a:stretch>
        </p:blipFill>
        <p:spPr>
          <a:xfrm>
            <a:off x="96473" y="1293230"/>
            <a:ext cx="7854237" cy="3578842"/>
          </a:xfrm>
          <a:prstGeom prst="rect">
            <a:avLst/>
          </a:prstGeom>
        </p:spPr>
      </p:pic>
      <p:pic>
        <p:nvPicPr>
          <p:cNvPr id="8" name="Picture 7">
            <a:extLst>
              <a:ext uri="{FF2B5EF4-FFF2-40B4-BE49-F238E27FC236}">
                <a16:creationId xmlns:a16="http://schemas.microsoft.com/office/drawing/2014/main" id="{DB8E9FD0-7524-7B2C-44A6-92457F200890}"/>
              </a:ext>
            </a:extLst>
          </p:cNvPr>
          <p:cNvPicPr>
            <a:picLocks noChangeAspect="1"/>
          </p:cNvPicPr>
          <p:nvPr/>
        </p:nvPicPr>
        <p:blipFill>
          <a:blip r:embed="rId4"/>
          <a:stretch>
            <a:fillRect/>
          </a:stretch>
        </p:blipFill>
        <p:spPr>
          <a:xfrm>
            <a:off x="4591687" y="3498209"/>
            <a:ext cx="7523524" cy="3331199"/>
          </a:xfrm>
          <a:prstGeom prst="rect">
            <a:avLst/>
          </a:prstGeom>
        </p:spPr>
      </p:pic>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8C1D00C8-E4D6-3961-8742-DB9792DC20B6}"/>
                  </a:ext>
                </a:extLst>
              </p14:cNvPr>
              <p14:cNvContentPartPr/>
              <p14:nvPr/>
            </p14:nvContentPartPr>
            <p14:xfrm>
              <a:off x="63720" y="4113080"/>
              <a:ext cx="4499640" cy="543960"/>
            </p14:xfrm>
          </p:contentPart>
        </mc:Choice>
        <mc:Fallback xmlns="">
          <p:pic>
            <p:nvPicPr>
              <p:cNvPr id="12" name="Ink 11">
                <a:extLst>
                  <a:ext uri="{FF2B5EF4-FFF2-40B4-BE49-F238E27FC236}">
                    <a16:creationId xmlns:a16="http://schemas.microsoft.com/office/drawing/2014/main" id="{8C1D00C8-E4D6-3961-8742-DB9792DC20B6}"/>
                  </a:ext>
                </a:extLst>
              </p:cNvPr>
              <p:cNvPicPr/>
              <p:nvPr/>
            </p:nvPicPr>
            <p:blipFill>
              <a:blip r:embed="rId6"/>
              <a:stretch>
                <a:fillRect/>
              </a:stretch>
            </p:blipFill>
            <p:spPr>
              <a:xfrm>
                <a:off x="720" y="4050440"/>
                <a:ext cx="4625280" cy="669600"/>
              </a:xfrm>
              <a:prstGeom prst="rect">
                <a:avLst/>
              </a:prstGeom>
            </p:spPr>
          </p:pic>
        </mc:Fallback>
      </mc:AlternateContent>
    </p:spTree>
    <p:extLst>
      <p:ext uri="{BB962C8B-B14F-4D97-AF65-F5344CB8AC3E}">
        <p14:creationId xmlns:p14="http://schemas.microsoft.com/office/powerpoint/2010/main" val="3762191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B339F4-93B9-4E04-9721-143AD6782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0"/>
            <a:ext cx="7147352" cy="5777808"/>
            <a:chOff x="329184" y="1"/>
            <a:chExt cx="524256" cy="5777808"/>
          </a:xfrm>
        </p:grpSpPr>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 name="Rectangle 15">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1"/>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426C2DD-7B58-9C4B-825F-084A525C16C3}"/>
              </a:ext>
            </a:extLst>
          </p:cNvPr>
          <p:cNvSpPr>
            <a:spLocks noGrp="1"/>
          </p:cNvSpPr>
          <p:nvPr>
            <p:ph type="ctrTitle"/>
          </p:nvPr>
        </p:nvSpPr>
        <p:spPr>
          <a:xfrm>
            <a:off x="1524000" y="1231961"/>
            <a:ext cx="9144000" cy="2387600"/>
          </a:xfrm>
        </p:spPr>
        <p:txBody>
          <a:bodyPr>
            <a:normAutofit/>
          </a:bodyPr>
          <a:lstStyle/>
          <a:p>
            <a:r>
              <a:rPr lang="en-EG" dirty="0"/>
              <a:t>Firebase Services</a:t>
            </a:r>
          </a:p>
        </p:txBody>
      </p:sp>
    </p:spTree>
    <p:extLst>
      <p:ext uri="{BB962C8B-B14F-4D97-AF65-F5344CB8AC3E}">
        <p14:creationId xmlns:p14="http://schemas.microsoft.com/office/powerpoint/2010/main" val="4844673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8D004-1C25-EC4E-8426-F29C7851CE18}"/>
              </a:ext>
            </a:extLst>
          </p:cNvPr>
          <p:cNvSpPr>
            <a:spLocks noGrp="1"/>
          </p:cNvSpPr>
          <p:nvPr>
            <p:ph type="title"/>
          </p:nvPr>
        </p:nvSpPr>
        <p:spPr/>
        <p:txBody>
          <a:bodyPr/>
          <a:lstStyle/>
          <a:p>
            <a:r>
              <a:rPr lang="en-EG" dirty="0"/>
              <a:t>What is Firebase?</a:t>
            </a:r>
          </a:p>
        </p:txBody>
      </p:sp>
      <p:sp>
        <p:nvSpPr>
          <p:cNvPr id="3" name="Content Placeholder 2">
            <a:extLst>
              <a:ext uri="{FF2B5EF4-FFF2-40B4-BE49-F238E27FC236}">
                <a16:creationId xmlns:a16="http://schemas.microsoft.com/office/drawing/2014/main" id="{DAEF4C6C-F9AC-5443-9BB5-672D57265F24}"/>
              </a:ext>
            </a:extLst>
          </p:cNvPr>
          <p:cNvSpPr>
            <a:spLocks noGrp="1"/>
          </p:cNvSpPr>
          <p:nvPr>
            <p:ph idx="1"/>
          </p:nvPr>
        </p:nvSpPr>
        <p:spPr/>
        <p:txBody>
          <a:bodyPr>
            <a:normAutofit fontScale="92500" lnSpcReduction="10000"/>
          </a:bodyPr>
          <a:lstStyle/>
          <a:p>
            <a:pPr marL="0" indent="0">
              <a:buNone/>
            </a:pPr>
            <a:r>
              <a:rPr lang="en-US" sz="2400" b="1" dirty="0"/>
              <a:t>Firebase Overview</a:t>
            </a:r>
          </a:p>
          <a:p>
            <a:pPr marL="457200" lvl="1" indent="0">
              <a:buNone/>
            </a:pPr>
            <a:endParaRPr lang="en-US" sz="2000" dirty="0"/>
          </a:p>
          <a:p>
            <a:pPr lvl="1"/>
            <a:r>
              <a:rPr lang="en-US" sz="2000" b="1" dirty="0"/>
              <a:t>Platform Type:</a:t>
            </a:r>
            <a:r>
              <a:rPr lang="en-US" sz="2000" dirty="0"/>
              <a:t> </a:t>
            </a:r>
            <a:r>
              <a:rPr lang="en-US" sz="2000" b="1" dirty="0"/>
              <a:t>Backend-as-a-Service (BaaS)</a:t>
            </a:r>
            <a:r>
              <a:rPr lang="en-US" sz="2000" dirty="0"/>
              <a:t>, built and managed by Google.</a:t>
            </a:r>
          </a:p>
          <a:p>
            <a:pPr lvl="1"/>
            <a:r>
              <a:rPr lang="en-US" sz="2000" b="1" dirty="0"/>
              <a:t>Core Function:</a:t>
            </a:r>
            <a:r>
              <a:rPr lang="en-US" sz="2000" dirty="0"/>
              <a:t> Provides a unified set of tools and cloud services to help developers </a:t>
            </a:r>
            <a:r>
              <a:rPr lang="en-US" sz="2000" b="1" dirty="0"/>
              <a:t>build, grow, and operate</a:t>
            </a:r>
            <a:r>
              <a:rPr lang="en-US" sz="2000" dirty="0"/>
              <a:t> mobile and web applications efficiently.</a:t>
            </a:r>
          </a:p>
          <a:p>
            <a:pPr lvl="1"/>
            <a:r>
              <a:rPr lang="en-US" sz="2000" b="1" dirty="0"/>
              <a:t>Database Model:</a:t>
            </a:r>
            <a:r>
              <a:rPr lang="en-US" sz="2000" dirty="0"/>
              <a:t> Primarily a </a:t>
            </a:r>
            <a:r>
              <a:rPr lang="en-US" sz="2000" b="1" dirty="0"/>
              <a:t>NoSQL database</a:t>
            </a:r>
            <a:r>
              <a:rPr lang="en-US" sz="2000" dirty="0"/>
              <a:t> program that stores application data in flexible, hierarchical </a:t>
            </a:r>
            <a:r>
              <a:rPr lang="en-US" sz="2000" b="1" dirty="0"/>
              <a:t>JSON-like documents</a:t>
            </a:r>
            <a:r>
              <a:rPr lang="en-US" sz="2000" dirty="0"/>
              <a:t>.</a:t>
            </a:r>
          </a:p>
          <a:p>
            <a:pPr marL="457200" lvl="1" indent="0">
              <a:buNone/>
            </a:pPr>
            <a:r>
              <a:rPr lang="en-US" sz="2000" b="1" dirty="0"/>
              <a:t>Key Features (Build &amp; Grow)</a:t>
            </a:r>
          </a:p>
          <a:p>
            <a:pPr lvl="2"/>
            <a:r>
              <a:rPr lang="en-US" sz="1600" b="1" dirty="0"/>
              <a:t>Authentication (Auth):</a:t>
            </a:r>
            <a:r>
              <a:rPr lang="en-US" sz="1600" dirty="0"/>
              <a:t> Provides managed user identity (sign-in/sign-up) using email, Google, and other providers.</a:t>
            </a:r>
          </a:p>
          <a:p>
            <a:pPr lvl="2"/>
            <a:r>
              <a:rPr lang="en-US" sz="1600" b="1" dirty="0"/>
              <a:t>Realtime Database &amp; </a:t>
            </a:r>
            <a:r>
              <a:rPr lang="en-US" sz="1600" b="1" dirty="0" err="1"/>
              <a:t>Firestore</a:t>
            </a:r>
            <a:r>
              <a:rPr lang="en-US" sz="1600" b="1" dirty="0"/>
              <a:t>:</a:t>
            </a:r>
            <a:r>
              <a:rPr lang="en-US" sz="1600" dirty="0"/>
              <a:t> Scalable databases supporting </a:t>
            </a:r>
            <a:r>
              <a:rPr lang="en-US" sz="1600" b="1" dirty="0"/>
              <a:t>live data synchronization</a:t>
            </a:r>
            <a:r>
              <a:rPr lang="en-US" sz="1600" dirty="0"/>
              <a:t> across all connected users (</a:t>
            </a:r>
            <a:r>
              <a:rPr lang="en-US" sz="1600" dirty="0" err="1"/>
              <a:t>realtime</a:t>
            </a:r>
            <a:r>
              <a:rPr lang="en-US" sz="1600" dirty="0"/>
              <a:t> capability).</a:t>
            </a:r>
          </a:p>
          <a:p>
            <a:pPr lvl="2"/>
            <a:r>
              <a:rPr lang="en-US" sz="1600" b="1" dirty="0"/>
              <a:t>Cloud Storage:</a:t>
            </a:r>
            <a:r>
              <a:rPr lang="en-US" sz="1600" dirty="0"/>
              <a:t> Secure object storage for large files, such as </a:t>
            </a:r>
            <a:r>
              <a:rPr lang="en-US" sz="1600" b="1" dirty="0"/>
              <a:t>user photos, videos, and media</a:t>
            </a:r>
            <a:r>
              <a:rPr lang="en-US" sz="1600" dirty="0"/>
              <a:t>.</a:t>
            </a:r>
          </a:p>
          <a:p>
            <a:pPr lvl="2"/>
            <a:r>
              <a:rPr lang="en-US" sz="1600" b="1" dirty="0"/>
              <a:t>Cloud Messaging (FCM):</a:t>
            </a:r>
            <a:r>
              <a:rPr lang="en-US" sz="1600" dirty="0"/>
              <a:t> Enables sending targeted </a:t>
            </a:r>
            <a:r>
              <a:rPr lang="en-US" sz="1600" b="1" dirty="0"/>
              <a:t>push notifications</a:t>
            </a:r>
            <a:r>
              <a:rPr lang="en-US" sz="1600" dirty="0"/>
              <a:t> and messages to users.</a:t>
            </a:r>
          </a:p>
          <a:p>
            <a:pPr lvl="2"/>
            <a:r>
              <a:rPr lang="en-US" sz="1600" b="1" dirty="0"/>
              <a:t>Analytics:</a:t>
            </a:r>
            <a:r>
              <a:rPr lang="en-US" sz="1600" dirty="0"/>
              <a:t> Free, unlimited reporting on user behavior to inform growth strategies.</a:t>
            </a:r>
          </a:p>
          <a:p>
            <a:pPr lvl="2"/>
            <a:r>
              <a:rPr lang="en-US" sz="1600" b="1" dirty="0"/>
              <a:t>Hosting:</a:t>
            </a:r>
            <a:r>
              <a:rPr lang="en-US" sz="1600" dirty="0"/>
              <a:t> Fast and secure hosting for web apps and static content.</a:t>
            </a:r>
          </a:p>
        </p:txBody>
      </p:sp>
    </p:spTree>
    <p:extLst>
      <p:ext uri="{BB962C8B-B14F-4D97-AF65-F5344CB8AC3E}">
        <p14:creationId xmlns:p14="http://schemas.microsoft.com/office/powerpoint/2010/main" val="406591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EB34A-71BB-5F4E-8778-6900D03F72ED}"/>
              </a:ext>
            </a:extLst>
          </p:cNvPr>
          <p:cNvSpPr>
            <a:spLocks noGrp="1"/>
          </p:cNvSpPr>
          <p:nvPr>
            <p:ph type="title"/>
          </p:nvPr>
        </p:nvSpPr>
        <p:spPr/>
        <p:txBody>
          <a:bodyPr/>
          <a:lstStyle/>
          <a:p>
            <a:r>
              <a:rPr lang="en-EG" dirty="0"/>
              <a:t>How to use Firebase with android development:</a:t>
            </a:r>
          </a:p>
        </p:txBody>
      </p:sp>
      <p:sp>
        <p:nvSpPr>
          <p:cNvPr id="3" name="Content Placeholder 2">
            <a:extLst>
              <a:ext uri="{FF2B5EF4-FFF2-40B4-BE49-F238E27FC236}">
                <a16:creationId xmlns:a16="http://schemas.microsoft.com/office/drawing/2014/main" id="{5C15A350-AC45-D544-941F-21F403ECFDBD}"/>
              </a:ext>
            </a:extLst>
          </p:cNvPr>
          <p:cNvSpPr>
            <a:spLocks noGrp="1"/>
          </p:cNvSpPr>
          <p:nvPr>
            <p:ph idx="1"/>
          </p:nvPr>
        </p:nvSpPr>
        <p:spPr/>
        <p:txBody>
          <a:bodyPr/>
          <a:lstStyle/>
          <a:p>
            <a:pPr marL="514350" indent="-514350">
              <a:buFont typeface="+mj-lt"/>
              <a:buAutoNum type="arabicPeriod"/>
            </a:pPr>
            <a:r>
              <a:rPr lang="en-US" b="1" dirty="0"/>
              <a:t> Create a Firebase project:</a:t>
            </a:r>
          </a:p>
          <a:p>
            <a:pPr lvl="1"/>
            <a:r>
              <a:rPr lang="en-US" dirty="0"/>
              <a:t>you need to create a Firebase project to connect to your Android app</a:t>
            </a:r>
          </a:p>
          <a:p>
            <a:pPr marL="914400" lvl="1" indent="-457200">
              <a:buAutoNum type="arabicPeriod"/>
            </a:pPr>
            <a:r>
              <a:rPr lang="en-US" b="1" dirty="0"/>
              <a:t>Visit firebase console: </a:t>
            </a:r>
            <a:r>
              <a:rPr lang="en-US" b="1" dirty="0">
                <a:hlinkClick r:id="rId2"/>
              </a:rPr>
              <a:t>https://console.firebase.google.com/</a:t>
            </a:r>
            <a:endParaRPr lang="en-US" b="1" dirty="0"/>
          </a:p>
          <a:p>
            <a:pPr marL="914400" lvl="1" indent="-457200">
              <a:buAutoNum type="arabicPeriod"/>
            </a:pPr>
            <a:r>
              <a:rPr lang="en-US" b="1" dirty="0"/>
              <a:t>Add new project</a:t>
            </a:r>
          </a:p>
          <a:p>
            <a:pPr marL="914400" lvl="1" indent="-457200">
              <a:buAutoNum type="arabicPeriod"/>
            </a:pPr>
            <a:endParaRPr lang="en-US" b="1" dirty="0"/>
          </a:p>
          <a:p>
            <a:pPr marL="514350" indent="-514350">
              <a:buFont typeface="+mj-lt"/>
              <a:buAutoNum type="arabicPeriod"/>
            </a:pPr>
            <a:endParaRPr lang="en-EG" dirty="0"/>
          </a:p>
        </p:txBody>
      </p:sp>
      <p:pic>
        <p:nvPicPr>
          <p:cNvPr id="5" name="Picture 4">
            <a:extLst>
              <a:ext uri="{FF2B5EF4-FFF2-40B4-BE49-F238E27FC236}">
                <a16:creationId xmlns:a16="http://schemas.microsoft.com/office/drawing/2014/main" id="{BBE69403-1C2B-6E45-965F-B0F6C404473E}"/>
              </a:ext>
            </a:extLst>
          </p:cNvPr>
          <p:cNvPicPr>
            <a:picLocks noChangeAspect="1"/>
          </p:cNvPicPr>
          <p:nvPr/>
        </p:nvPicPr>
        <p:blipFill>
          <a:blip r:embed="rId3"/>
          <a:stretch>
            <a:fillRect/>
          </a:stretch>
        </p:blipFill>
        <p:spPr>
          <a:xfrm>
            <a:off x="4948003" y="3125278"/>
            <a:ext cx="6405797" cy="3490555"/>
          </a:xfrm>
          <a:prstGeom prst="rect">
            <a:avLst/>
          </a:prstGeom>
        </p:spPr>
      </p:pic>
    </p:spTree>
    <p:extLst>
      <p:ext uri="{BB962C8B-B14F-4D97-AF65-F5344CB8AC3E}">
        <p14:creationId xmlns:p14="http://schemas.microsoft.com/office/powerpoint/2010/main" val="10190277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E09CD1-A366-E344-ACDF-E2D8A4552592}"/>
              </a:ext>
            </a:extLst>
          </p:cNvPr>
          <p:cNvSpPr>
            <a:spLocks noGrp="1"/>
          </p:cNvSpPr>
          <p:nvPr>
            <p:ph type="title"/>
          </p:nvPr>
        </p:nvSpPr>
        <p:spPr>
          <a:xfrm>
            <a:off x="838200" y="365125"/>
            <a:ext cx="10515600" cy="1325563"/>
          </a:xfrm>
        </p:spPr>
        <p:txBody>
          <a:bodyPr anchor="ctr">
            <a:normAutofit/>
          </a:bodyPr>
          <a:lstStyle/>
          <a:p>
            <a:pPr marL="0" indent="0">
              <a:buNone/>
            </a:pPr>
            <a:r>
              <a:rPr lang="en-EG" sz="2400" dirty="0"/>
              <a:t>2. </a:t>
            </a:r>
            <a:r>
              <a:rPr lang="en-US" sz="2400" b="1" dirty="0"/>
              <a:t>Register your app with Firebase auth &amp; </a:t>
            </a:r>
            <a:r>
              <a:rPr lang="en-US" sz="2400" b="1" dirty="0" err="1"/>
              <a:t>realtime</a:t>
            </a:r>
            <a:r>
              <a:rPr lang="en-US" sz="2400" b="1" dirty="0"/>
              <a:t>-data base:</a:t>
            </a:r>
          </a:p>
          <a:p>
            <a:pPr marL="457200" lvl="1" indent="0" algn="l">
              <a:buNone/>
            </a:pPr>
            <a:r>
              <a:rPr lang="en-US" sz="2400" b="1" dirty="0">
                <a:solidFill>
                  <a:schemeClr val="tx1"/>
                </a:solidFill>
                <a:hlinkClick r:id="rId2"/>
              </a:rPr>
              <a:t>https://www.geeksforgeeks.org/firebase/login-and-registration-in-android-using-firebase-in-kotlin/</a:t>
            </a:r>
            <a:endParaRPr lang="en-US" sz="2400" b="1" dirty="0">
              <a:solidFill>
                <a:schemeClr val="tx1"/>
              </a:solidFill>
            </a:endParaRPr>
          </a:p>
          <a:p>
            <a:pPr marL="457200" lvl="1" indent="0" algn="l">
              <a:buNone/>
            </a:pPr>
            <a:endParaRPr lang="en-US" sz="2400" b="1" dirty="0">
              <a:solidFill>
                <a:schemeClr val="tx1"/>
              </a:solidFill>
            </a:endParaRPr>
          </a:p>
          <a:p>
            <a:pPr marL="0" indent="0">
              <a:buNone/>
            </a:pPr>
            <a:endParaRPr lang="en-EG" sz="2400" dirty="0"/>
          </a:p>
        </p:txBody>
      </p:sp>
      <p:pic>
        <p:nvPicPr>
          <p:cNvPr id="6" name="Picture 5">
            <a:extLst>
              <a:ext uri="{FF2B5EF4-FFF2-40B4-BE49-F238E27FC236}">
                <a16:creationId xmlns:a16="http://schemas.microsoft.com/office/drawing/2014/main" id="{6F61A8E3-4880-B656-99B3-53526698CC4F}"/>
              </a:ext>
            </a:extLst>
          </p:cNvPr>
          <p:cNvPicPr>
            <a:picLocks noChangeAspect="1"/>
          </p:cNvPicPr>
          <p:nvPr/>
        </p:nvPicPr>
        <p:blipFill>
          <a:blip r:embed="rId3"/>
          <a:stretch>
            <a:fillRect/>
          </a:stretch>
        </p:blipFill>
        <p:spPr>
          <a:xfrm>
            <a:off x="2228144" y="1825625"/>
            <a:ext cx="7735712" cy="4351338"/>
          </a:xfrm>
          <a:prstGeom prst="rect">
            <a:avLst/>
          </a:prstGeom>
          <a:noFill/>
        </p:spPr>
      </p:pic>
      <p:sp>
        <p:nvSpPr>
          <p:cNvPr id="8" name="Rectangle 7">
            <a:extLst>
              <a:ext uri="{FF2B5EF4-FFF2-40B4-BE49-F238E27FC236}">
                <a16:creationId xmlns:a16="http://schemas.microsoft.com/office/drawing/2014/main" id="{444C8F6B-5FDD-B11E-A060-6A839A95D946}"/>
              </a:ext>
            </a:extLst>
          </p:cNvPr>
          <p:cNvSpPr/>
          <p:nvPr/>
        </p:nvSpPr>
        <p:spPr>
          <a:xfrm>
            <a:off x="4311941" y="1825625"/>
            <a:ext cx="1409351" cy="28805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445074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AFEB-82FC-125C-4BA8-AF2D647267C3}"/>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B463E96-2656-7053-AB28-BEE7343AC45E}"/>
              </a:ext>
            </a:extLst>
          </p:cNvPr>
          <p:cNvPicPr>
            <a:picLocks noChangeAspect="1"/>
          </p:cNvPicPr>
          <p:nvPr/>
        </p:nvPicPr>
        <p:blipFill>
          <a:blip r:embed="rId2"/>
          <a:stretch>
            <a:fillRect/>
          </a:stretch>
        </p:blipFill>
        <p:spPr>
          <a:xfrm>
            <a:off x="1948543" y="1400855"/>
            <a:ext cx="8850086" cy="4978173"/>
          </a:xfrm>
          <a:prstGeom prst="rect">
            <a:avLst/>
          </a:prstGeom>
        </p:spPr>
      </p:pic>
      <p:sp>
        <p:nvSpPr>
          <p:cNvPr id="5" name="Rectangle 4">
            <a:extLst>
              <a:ext uri="{FF2B5EF4-FFF2-40B4-BE49-F238E27FC236}">
                <a16:creationId xmlns:a16="http://schemas.microsoft.com/office/drawing/2014/main" id="{76CD9508-0946-A6D7-54D5-F9365B428F72}"/>
              </a:ext>
            </a:extLst>
          </p:cNvPr>
          <p:cNvSpPr/>
          <p:nvPr/>
        </p:nvSpPr>
        <p:spPr>
          <a:xfrm>
            <a:off x="7826928" y="4311941"/>
            <a:ext cx="2525087" cy="25167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6ACDA787-BA9D-E146-1FAF-FBBB6F62DE41}"/>
              </a:ext>
            </a:extLst>
          </p:cNvPr>
          <p:cNvSpPr txBox="1">
            <a:spLocks/>
          </p:cNvSpPr>
          <p:nvPr/>
        </p:nvSpPr>
        <p:spPr>
          <a:xfrm>
            <a:off x="990600" y="5175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EG" sz="2400"/>
              <a:t>2. </a:t>
            </a:r>
            <a:r>
              <a:rPr lang="en-US" sz="2400" b="1"/>
              <a:t>Register your app with Firebase auth &amp; realtime-data base:</a:t>
            </a:r>
          </a:p>
          <a:p>
            <a:pPr marL="457200" lvl="1" algn="l"/>
            <a:r>
              <a:rPr lang="en-US" sz="2400" b="1" kern="0">
                <a:solidFill>
                  <a:schemeClr val="tx1"/>
                </a:solidFill>
                <a:hlinkClick r:id="rId3"/>
              </a:rPr>
              <a:t>https://www.geeksforgeeks.org/firebase/login-and-registration-in-android-using-firebase-in-kotlin/</a:t>
            </a:r>
            <a:endParaRPr lang="en-US" sz="2400" b="1" kern="0">
              <a:solidFill>
                <a:schemeClr val="tx1"/>
              </a:solidFill>
            </a:endParaRPr>
          </a:p>
          <a:p>
            <a:pPr marL="457200" lvl="1" algn="l"/>
            <a:endParaRPr lang="en-US" sz="2400" b="1" kern="0">
              <a:solidFill>
                <a:schemeClr val="tx1"/>
              </a:solidFill>
            </a:endParaRPr>
          </a:p>
          <a:p>
            <a:endParaRPr lang="en-EG" sz="2400" dirty="0"/>
          </a:p>
        </p:txBody>
      </p:sp>
    </p:spTree>
    <p:extLst>
      <p:ext uri="{BB962C8B-B14F-4D97-AF65-F5344CB8AC3E}">
        <p14:creationId xmlns:p14="http://schemas.microsoft.com/office/powerpoint/2010/main" val="21936065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5D38E-C93A-A253-BA53-3AADB506B8B2}"/>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12DEE8F7-45CD-F326-070E-45E3E06D0801}"/>
              </a:ext>
            </a:extLst>
          </p:cNvPr>
          <p:cNvPicPr>
            <a:picLocks noChangeAspect="1"/>
          </p:cNvPicPr>
          <p:nvPr/>
        </p:nvPicPr>
        <p:blipFill>
          <a:blip r:embed="rId2"/>
          <a:stretch>
            <a:fillRect/>
          </a:stretch>
        </p:blipFill>
        <p:spPr>
          <a:xfrm>
            <a:off x="2198913" y="1588634"/>
            <a:ext cx="8284029" cy="4659766"/>
          </a:xfrm>
          <a:prstGeom prst="rect">
            <a:avLst/>
          </a:prstGeom>
        </p:spPr>
      </p:pic>
      <p:sp>
        <p:nvSpPr>
          <p:cNvPr id="6" name="Rectangle 5">
            <a:extLst>
              <a:ext uri="{FF2B5EF4-FFF2-40B4-BE49-F238E27FC236}">
                <a16:creationId xmlns:a16="http://schemas.microsoft.com/office/drawing/2014/main" id="{C7803EAA-0849-62F9-1616-AA8C4253F0AF}"/>
              </a:ext>
            </a:extLst>
          </p:cNvPr>
          <p:cNvSpPr/>
          <p:nvPr/>
        </p:nvSpPr>
        <p:spPr>
          <a:xfrm>
            <a:off x="7445829" y="2144486"/>
            <a:ext cx="3037113" cy="38317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F936A585-C1D0-E7FA-7C50-63ABF93EC673}"/>
              </a:ext>
            </a:extLst>
          </p:cNvPr>
          <p:cNvSpPr>
            <a:spLocks noGrp="1"/>
          </p:cNvSpPr>
          <p:nvPr>
            <p:ph type="title"/>
          </p:nvPr>
        </p:nvSpPr>
        <p:spPr>
          <a:xfrm>
            <a:off x="838200" y="365125"/>
            <a:ext cx="10515600" cy="1325563"/>
          </a:xfrm>
        </p:spPr>
        <p:txBody>
          <a:bodyPr anchor="ctr">
            <a:normAutofit/>
          </a:bodyPr>
          <a:lstStyle/>
          <a:p>
            <a:pPr marL="0" indent="0">
              <a:buNone/>
            </a:pPr>
            <a:r>
              <a:rPr lang="en-EG" sz="2400" dirty="0"/>
              <a:t>2. </a:t>
            </a:r>
            <a:r>
              <a:rPr lang="en-US" sz="2400" b="1" dirty="0"/>
              <a:t>Register your app with Firebase auth &amp; </a:t>
            </a:r>
            <a:r>
              <a:rPr lang="en-US" sz="2400" b="1" dirty="0" err="1"/>
              <a:t>realtime</a:t>
            </a:r>
            <a:r>
              <a:rPr lang="en-US" sz="2400" b="1" dirty="0"/>
              <a:t>-data base:</a:t>
            </a:r>
          </a:p>
          <a:p>
            <a:pPr marL="457200" lvl="1" indent="0" algn="l">
              <a:buNone/>
            </a:pPr>
            <a:r>
              <a:rPr lang="en-US" sz="2400" b="1" dirty="0">
                <a:solidFill>
                  <a:schemeClr val="tx1"/>
                </a:solidFill>
                <a:hlinkClick r:id="rId3"/>
              </a:rPr>
              <a:t>https://www.geeksforgeeks.org/firebase/login-and-registration-in-android-using-firebase-in-kotlin/</a:t>
            </a:r>
            <a:endParaRPr lang="en-US" sz="2400" b="1" dirty="0">
              <a:solidFill>
                <a:schemeClr val="tx1"/>
              </a:solidFill>
            </a:endParaRPr>
          </a:p>
          <a:p>
            <a:pPr marL="457200" lvl="1" indent="0" algn="l">
              <a:buNone/>
            </a:pPr>
            <a:endParaRPr lang="en-US" sz="2400" b="1" dirty="0">
              <a:solidFill>
                <a:schemeClr val="tx1"/>
              </a:solidFill>
            </a:endParaRPr>
          </a:p>
          <a:p>
            <a:pPr marL="0" indent="0">
              <a:buNone/>
            </a:pPr>
            <a:endParaRPr lang="en-EG" sz="2400" dirty="0"/>
          </a:p>
        </p:txBody>
      </p:sp>
    </p:spTree>
    <p:extLst>
      <p:ext uri="{BB962C8B-B14F-4D97-AF65-F5344CB8AC3E}">
        <p14:creationId xmlns:p14="http://schemas.microsoft.com/office/powerpoint/2010/main" val="29881221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F5FF-30C4-AC38-C0FC-91E3DC0183AC}"/>
            </a:ext>
          </a:extLst>
        </p:cNvPr>
        <p:cNvGrpSpPr/>
        <p:nvPr/>
      </p:nvGrpSpPr>
      <p:grpSpPr>
        <a:xfrm>
          <a:off x="0" y="0"/>
          <a:ext cx="0" cy="0"/>
          <a:chOff x="0" y="0"/>
          <a:chExt cx="0" cy="0"/>
        </a:xfrm>
      </p:grpSpPr>
      <p:sp>
        <p:nvSpPr>
          <p:cNvPr id="9" name="Content Placeholder 2">
            <a:extLst>
              <a:ext uri="{FF2B5EF4-FFF2-40B4-BE49-F238E27FC236}">
                <a16:creationId xmlns:a16="http://schemas.microsoft.com/office/drawing/2014/main" id="{6AAA18B7-8510-863C-9713-B122E16F3387}"/>
              </a:ext>
            </a:extLst>
          </p:cNvPr>
          <p:cNvSpPr>
            <a:spLocks noGrp="1"/>
          </p:cNvSpPr>
          <p:nvPr>
            <p:ph type="title"/>
          </p:nvPr>
        </p:nvSpPr>
        <p:spPr>
          <a:xfrm>
            <a:off x="838200" y="365125"/>
            <a:ext cx="10515600" cy="1325563"/>
          </a:xfrm>
        </p:spPr>
        <p:txBody>
          <a:bodyPr anchor="ctr">
            <a:normAutofit/>
          </a:bodyPr>
          <a:lstStyle/>
          <a:p>
            <a:pPr marL="0" indent="0">
              <a:buNone/>
            </a:pPr>
            <a:r>
              <a:rPr lang="en-EG" sz="2400" dirty="0"/>
              <a:t>2. </a:t>
            </a:r>
            <a:r>
              <a:rPr lang="en-US" sz="2400" b="1" dirty="0"/>
              <a:t>Register your app with Firebase auth &amp; </a:t>
            </a:r>
            <a:r>
              <a:rPr lang="en-US" sz="2400" b="1" dirty="0" err="1"/>
              <a:t>realtime</a:t>
            </a:r>
            <a:r>
              <a:rPr lang="en-US" sz="2400" b="1" dirty="0"/>
              <a:t>-data base:</a:t>
            </a:r>
          </a:p>
          <a:p>
            <a:pPr marL="457200" lvl="1" indent="0" algn="l">
              <a:buNone/>
            </a:pPr>
            <a:r>
              <a:rPr lang="en-US" sz="2400" b="1" dirty="0">
                <a:solidFill>
                  <a:schemeClr val="tx1"/>
                </a:solidFill>
                <a:hlinkClick r:id="rId2"/>
              </a:rPr>
              <a:t>https://www.geeksforgeeks.org/firebase/login-and-registration-in-android-using-firebase-in-kotlin/</a:t>
            </a:r>
            <a:endParaRPr lang="en-US" sz="2400" b="1" dirty="0">
              <a:solidFill>
                <a:schemeClr val="tx1"/>
              </a:solidFill>
            </a:endParaRPr>
          </a:p>
          <a:p>
            <a:pPr marL="457200" lvl="1" indent="0" algn="l">
              <a:buNone/>
            </a:pPr>
            <a:endParaRPr lang="en-US" sz="2400" b="1" dirty="0">
              <a:solidFill>
                <a:schemeClr val="tx1"/>
              </a:solidFill>
            </a:endParaRPr>
          </a:p>
          <a:p>
            <a:pPr marL="0" indent="0">
              <a:buNone/>
            </a:pPr>
            <a:endParaRPr lang="en-EG" sz="2400" dirty="0"/>
          </a:p>
        </p:txBody>
      </p:sp>
      <p:pic>
        <p:nvPicPr>
          <p:cNvPr id="3" name="Picture 2">
            <a:extLst>
              <a:ext uri="{FF2B5EF4-FFF2-40B4-BE49-F238E27FC236}">
                <a16:creationId xmlns:a16="http://schemas.microsoft.com/office/drawing/2014/main" id="{A31D6B05-DE37-C58C-3A41-EF21CA52EE5F}"/>
              </a:ext>
            </a:extLst>
          </p:cNvPr>
          <p:cNvPicPr>
            <a:picLocks noChangeAspect="1"/>
          </p:cNvPicPr>
          <p:nvPr/>
        </p:nvPicPr>
        <p:blipFill>
          <a:blip r:embed="rId3"/>
          <a:stretch>
            <a:fillRect/>
          </a:stretch>
        </p:blipFill>
        <p:spPr>
          <a:xfrm>
            <a:off x="976966" y="1598215"/>
            <a:ext cx="7789529" cy="5217839"/>
          </a:xfrm>
          <a:prstGeom prst="rect">
            <a:avLst/>
          </a:prstGeom>
        </p:spPr>
      </p:pic>
      <p:sp>
        <p:nvSpPr>
          <p:cNvPr id="6" name="Rectangle 5">
            <a:extLst>
              <a:ext uri="{FF2B5EF4-FFF2-40B4-BE49-F238E27FC236}">
                <a16:creationId xmlns:a16="http://schemas.microsoft.com/office/drawing/2014/main" id="{581FF107-5B28-43C3-474D-1A982D465ADE}"/>
              </a:ext>
            </a:extLst>
          </p:cNvPr>
          <p:cNvSpPr/>
          <p:nvPr/>
        </p:nvSpPr>
        <p:spPr>
          <a:xfrm>
            <a:off x="6506262" y="4899171"/>
            <a:ext cx="2000175" cy="2767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88635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239DA-2986-44DE-8A8B-09B677285B8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E3D8DE-B950-4C12-E2B7-3933923B071F}"/>
              </a:ext>
            </a:extLst>
          </p:cNvPr>
          <p:cNvPicPr>
            <a:picLocks noChangeAspect="1"/>
          </p:cNvPicPr>
          <p:nvPr/>
        </p:nvPicPr>
        <p:blipFill>
          <a:blip r:embed="rId2"/>
          <a:stretch>
            <a:fillRect/>
          </a:stretch>
        </p:blipFill>
        <p:spPr>
          <a:xfrm>
            <a:off x="1727413" y="1390708"/>
            <a:ext cx="7810869" cy="5102167"/>
          </a:xfrm>
          <a:prstGeom prst="rect">
            <a:avLst/>
          </a:prstGeom>
        </p:spPr>
      </p:pic>
      <p:sp>
        <p:nvSpPr>
          <p:cNvPr id="9" name="Content Placeholder 2">
            <a:extLst>
              <a:ext uri="{FF2B5EF4-FFF2-40B4-BE49-F238E27FC236}">
                <a16:creationId xmlns:a16="http://schemas.microsoft.com/office/drawing/2014/main" id="{9F9BB5FA-84A0-C59F-8BC3-E99F065A05F8}"/>
              </a:ext>
            </a:extLst>
          </p:cNvPr>
          <p:cNvSpPr>
            <a:spLocks noGrp="1"/>
          </p:cNvSpPr>
          <p:nvPr>
            <p:ph type="title"/>
          </p:nvPr>
        </p:nvSpPr>
        <p:spPr>
          <a:xfrm>
            <a:off x="838200" y="365125"/>
            <a:ext cx="10515600" cy="1325563"/>
          </a:xfrm>
        </p:spPr>
        <p:txBody>
          <a:bodyPr anchor="ctr">
            <a:normAutofit/>
          </a:bodyPr>
          <a:lstStyle/>
          <a:p>
            <a:pPr marL="0" indent="0">
              <a:buNone/>
            </a:pPr>
            <a:r>
              <a:rPr lang="en-EG" sz="2400" dirty="0"/>
              <a:t>2. </a:t>
            </a:r>
            <a:r>
              <a:rPr lang="en-US" sz="2400" b="1" dirty="0"/>
              <a:t>Register your app with Firebase auth &amp; </a:t>
            </a:r>
            <a:r>
              <a:rPr lang="en-US" sz="2400" b="1" dirty="0" err="1"/>
              <a:t>realtime</a:t>
            </a:r>
            <a:r>
              <a:rPr lang="en-US" sz="2400" b="1" dirty="0"/>
              <a:t>-data base:</a:t>
            </a:r>
          </a:p>
          <a:p>
            <a:pPr marL="457200" lvl="1" indent="0" algn="l">
              <a:buNone/>
            </a:pPr>
            <a:r>
              <a:rPr lang="en-US" sz="2400" b="1" dirty="0">
                <a:solidFill>
                  <a:schemeClr val="tx1"/>
                </a:solidFill>
                <a:hlinkClick r:id="rId3"/>
              </a:rPr>
              <a:t>https://www.geeksforgeeks.org/firebase/login-and-registration-in-android-using-firebase-in-kotlin/</a:t>
            </a:r>
            <a:endParaRPr lang="en-US" sz="2400" b="1" dirty="0">
              <a:solidFill>
                <a:schemeClr val="tx1"/>
              </a:solidFill>
            </a:endParaRPr>
          </a:p>
          <a:p>
            <a:pPr marL="457200" lvl="1" indent="0" algn="l">
              <a:buNone/>
            </a:pPr>
            <a:endParaRPr lang="en-US" sz="2400" b="1" dirty="0">
              <a:solidFill>
                <a:schemeClr val="tx1"/>
              </a:solidFill>
            </a:endParaRPr>
          </a:p>
          <a:p>
            <a:pPr marL="0" indent="0">
              <a:buNone/>
            </a:pPr>
            <a:endParaRPr lang="en-EG" sz="2400" dirty="0"/>
          </a:p>
        </p:txBody>
      </p:sp>
      <p:sp>
        <p:nvSpPr>
          <p:cNvPr id="6" name="Rectangle 5">
            <a:extLst>
              <a:ext uri="{FF2B5EF4-FFF2-40B4-BE49-F238E27FC236}">
                <a16:creationId xmlns:a16="http://schemas.microsoft.com/office/drawing/2014/main" id="{A95A2B58-B64B-B33C-F1C1-973DE7E0A557}"/>
              </a:ext>
            </a:extLst>
          </p:cNvPr>
          <p:cNvSpPr/>
          <p:nvPr/>
        </p:nvSpPr>
        <p:spPr>
          <a:xfrm>
            <a:off x="5041783" y="1761688"/>
            <a:ext cx="4311941" cy="40602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34548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CF602-965C-8858-3083-86ED2CC6A5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F85401-022E-46FE-E8F1-EC13B8800A4A}"/>
              </a:ext>
            </a:extLst>
          </p:cNvPr>
          <p:cNvSpPr>
            <a:spLocks noGrp="1"/>
          </p:cNvSpPr>
          <p:nvPr>
            <p:ph idx="1"/>
          </p:nvPr>
        </p:nvSpPr>
        <p:spPr>
          <a:xfrm>
            <a:off x="838200" y="419725"/>
            <a:ext cx="10515600" cy="5757238"/>
          </a:xfrm>
        </p:spPr>
        <p:txBody>
          <a:bodyPr/>
          <a:lstStyle/>
          <a:p>
            <a:pPr marL="0" indent="0">
              <a:buNone/>
            </a:pPr>
            <a:r>
              <a:rPr lang="en-EG" dirty="0"/>
              <a:t>3. </a:t>
            </a:r>
            <a:r>
              <a:rPr lang="en-US" b="1" dirty="0"/>
              <a:t> check configuration file: </a:t>
            </a:r>
          </a:p>
          <a:p>
            <a:pPr marL="914400" lvl="1" indent="-457200">
              <a:buFont typeface="+mj-lt"/>
              <a:buAutoNum type="arabicPeriod"/>
            </a:pPr>
            <a:r>
              <a:rPr lang="en-US" dirty="0"/>
              <a:t>To enable Firebase products in your app, ensure the existence of the google-services plugin to your Gradle files (Project).</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marL="0" indent="0">
              <a:buNone/>
            </a:pPr>
            <a:endParaRPr lang="en-US" dirty="0"/>
          </a:p>
          <a:p>
            <a:pPr marL="0" indent="0">
              <a:buNone/>
            </a:pPr>
            <a:endParaRPr lang="en-EG" dirty="0"/>
          </a:p>
        </p:txBody>
      </p:sp>
      <p:pic>
        <p:nvPicPr>
          <p:cNvPr id="7" name="Picture 6">
            <a:extLst>
              <a:ext uri="{FF2B5EF4-FFF2-40B4-BE49-F238E27FC236}">
                <a16:creationId xmlns:a16="http://schemas.microsoft.com/office/drawing/2014/main" id="{9FC42246-79AD-C6FC-8A17-A674A1925B0C}"/>
              </a:ext>
            </a:extLst>
          </p:cNvPr>
          <p:cNvPicPr>
            <a:picLocks noChangeAspect="1"/>
          </p:cNvPicPr>
          <p:nvPr/>
        </p:nvPicPr>
        <p:blipFill>
          <a:blip r:embed="rId2"/>
          <a:stretch>
            <a:fillRect/>
          </a:stretch>
        </p:blipFill>
        <p:spPr>
          <a:xfrm>
            <a:off x="1074024" y="2315694"/>
            <a:ext cx="9779737" cy="2818368"/>
          </a:xfrm>
          <a:prstGeom prst="rect">
            <a:avLst/>
          </a:prstGeom>
        </p:spPr>
      </p:pic>
    </p:spTree>
    <p:extLst>
      <p:ext uri="{BB962C8B-B14F-4D97-AF65-F5344CB8AC3E}">
        <p14:creationId xmlns:p14="http://schemas.microsoft.com/office/powerpoint/2010/main" val="5604946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207C80-8102-3545-8876-E563B05E6F53}"/>
              </a:ext>
            </a:extLst>
          </p:cNvPr>
          <p:cNvSpPr>
            <a:spLocks noGrp="1"/>
          </p:cNvSpPr>
          <p:nvPr>
            <p:ph idx="1"/>
          </p:nvPr>
        </p:nvSpPr>
        <p:spPr>
          <a:xfrm>
            <a:off x="838200" y="419725"/>
            <a:ext cx="10515600" cy="5757238"/>
          </a:xfrm>
        </p:spPr>
        <p:txBody>
          <a:bodyPr/>
          <a:lstStyle/>
          <a:p>
            <a:pPr marL="0" indent="0">
              <a:buNone/>
            </a:pPr>
            <a:r>
              <a:rPr lang="en-EG" dirty="0"/>
              <a:t>3. </a:t>
            </a:r>
            <a:r>
              <a:rPr lang="en-US" b="1" dirty="0"/>
              <a:t> check configuration file: </a:t>
            </a:r>
            <a:endParaRPr lang="en-US" dirty="0"/>
          </a:p>
          <a:p>
            <a:pPr marL="457200" lvl="1" indent="0">
              <a:buNone/>
            </a:pPr>
            <a:r>
              <a:rPr lang="en-US" dirty="0"/>
              <a:t>2-In your module (app-level) Gradle file (usually app/</a:t>
            </a:r>
            <a:r>
              <a:rPr lang="en-US" dirty="0" err="1"/>
              <a:t>build.gradle</a:t>
            </a:r>
            <a:r>
              <a:rPr lang="en-US" dirty="0"/>
              <a:t>), ensure the Google Services Gradle plugin:</a:t>
            </a:r>
          </a:p>
          <a:p>
            <a:pPr marL="914400" lvl="1" indent="-457200">
              <a:buFont typeface="+mj-lt"/>
              <a:buAutoNum type="arabicPeriod"/>
            </a:pPr>
            <a:endParaRPr lang="en-US" dirty="0"/>
          </a:p>
          <a:p>
            <a:pPr marL="914400" lvl="1" indent="-457200">
              <a:buFont typeface="+mj-lt"/>
              <a:buAutoNum type="arabicPeriod"/>
            </a:pPr>
            <a:endParaRPr lang="en-US" dirty="0"/>
          </a:p>
          <a:p>
            <a:pPr marL="914400" lvl="1" indent="-457200">
              <a:buFont typeface="+mj-lt"/>
              <a:buAutoNum type="arabicPeriod"/>
            </a:pPr>
            <a:endParaRPr lang="en-US" dirty="0"/>
          </a:p>
          <a:p>
            <a:pPr marL="0" indent="0">
              <a:buNone/>
            </a:pPr>
            <a:endParaRPr lang="en-US" dirty="0"/>
          </a:p>
          <a:p>
            <a:pPr marL="0" indent="0">
              <a:buNone/>
            </a:pPr>
            <a:endParaRPr lang="en-EG" dirty="0"/>
          </a:p>
        </p:txBody>
      </p:sp>
      <p:pic>
        <p:nvPicPr>
          <p:cNvPr id="15" name="Picture 14">
            <a:extLst>
              <a:ext uri="{FF2B5EF4-FFF2-40B4-BE49-F238E27FC236}">
                <a16:creationId xmlns:a16="http://schemas.microsoft.com/office/drawing/2014/main" id="{771C622A-4C24-A22B-E886-9ED799A96F33}"/>
              </a:ext>
            </a:extLst>
          </p:cNvPr>
          <p:cNvPicPr>
            <a:picLocks noChangeAspect="1"/>
          </p:cNvPicPr>
          <p:nvPr/>
        </p:nvPicPr>
        <p:blipFill>
          <a:blip r:embed="rId2"/>
          <a:stretch>
            <a:fillRect/>
          </a:stretch>
        </p:blipFill>
        <p:spPr>
          <a:xfrm>
            <a:off x="5300032" y="1251008"/>
            <a:ext cx="6305550" cy="1905000"/>
          </a:xfrm>
          <a:prstGeom prst="rect">
            <a:avLst/>
          </a:prstGeom>
        </p:spPr>
      </p:pic>
      <p:pic>
        <p:nvPicPr>
          <p:cNvPr id="19" name="Picture 18">
            <a:extLst>
              <a:ext uri="{FF2B5EF4-FFF2-40B4-BE49-F238E27FC236}">
                <a16:creationId xmlns:a16="http://schemas.microsoft.com/office/drawing/2014/main" id="{CE4FD591-7F9C-7C40-F269-70864DE43997}"/>
              </a:ext>
            </a:extLst>
          </p:cNvPr>
          <p:cNvPicPr>
            <a:picLocks noChangeAspect="1"/>
          </p:cNvPicPr>
          <p:nvPr/>
        </p:nvPicPr>
        <p:blipFill>
          <a:blip r:embed="rId3"/>
          <a:stretch>
            <a:fillRect/>
          </a:stretch>
        </p:blipFill>
        <p:spPr>
          <a:xfrm>
            <a:off x="1981880" y="3156008"/>
            <a:ext cx="7858125" cy="3867150"/>
          </a:xfrm>
          <a:prstGeom prst="rect">
            <a:avLst/>
          </a:prstGeom>
        </p:spPr>
      </p:pic>
    </p:spTree>
    <p:extLst>
      <p:ext uri="{BB962C8B-B14F-4D97-AF65-F5344CB8AC3E}">
        <p14:creationId xmlns:p14="http://schemas.microsoft.com/office/powerpoint/2010/main" val="2431943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9C83-577F-F543-AECE-D2843BF960C7}"/>
              </a:ext>
            </a:extLst>
          </p:cNvPr>
          <p:cNvSpPr>
            <a:spLocks noGrp="1"/>
          </p:cNvSpPr>
          <p:nvPr>
            <p:ph type="title"/>
          </p:nvPr>
        </p:nvSpPr>
        <p:spPr/>
        <p:txBody>
          <a:bodyPr/>
          <a:lstStyle/>
          <a:p>
            <a:r>
              <a:rPr lang="en-EG" dirty="0"/>
              <a:t>Authentication</a:t>
            </a:r>
          </a:p>
        </p:txBody>
      </p:sp>
      <p:sp>
        <p:nvSpPr>
          <p:cNvPr id="3" name="Content Placeholder 2">
            <a:extLst>
              <a:ext uri="{FF2B5EF4-FFF2-40B4-BE49-F238E27FC236}">
                <a16:creationId xmlns:a16="http://schemas.microsoft.com/office/drawing/2014/main" id="{66A3B62D-B8CA-774A-B69E-BE629510342E}"/>
              </a:ext>
            </a:extLst>
          </p:cNvPr>
          <p:cNvSpPr>
            <a:spLocks noGrp="1"/>
          </p:cNvSpPr>
          <p:nvPr>
            <p:ph idx="1"/>
          </p:nvPr>
        </p:nvSpPr>
        <p:spPr/>
        <p:txBody>
          <a:bodyPr/>
          <a:lstStyle/>
          <a:p>
            <a:r>
              <a:rPr lang="en-US" dirty="0"/>
              <a:t>Firebase Authentication provides backend services, easy-to-use SDKs, and ready-made UI libraries to authenticate users to your app.</a:t>
            </a:r>
          </a:p>
          <a:p>
            <a:r>
              <a:rPr lang="en-US" dirty="0"/>
              <a:t>Just enable the desired method to use it I your app.</a:t>
            </a:r>
            <a:endParaRPr lang="en-EG" dirty="0"/>
          </a:p>
        </p:txBody>
      </p:sp>
      <p:pic>
        <p:nvPicPr>
          <p:cNvPr id="4" name="Picture 3">
            <a:extLst>
              <a:ext uri="{FF2B5EF4-FFF2-40B4-BE49-F238E27FC236}">
                <a16:creationId xmlns:a16="http://schemas.microsoft.com/office/drawing/2014/main" id="{5306BDC1-B32F-1043-B751-42B61D51C2A3}"/>
              </a:ext>
            </a:extLst>
          </p:cNvPr>
          <p:cNvPicPr>
            <a:picLocks noChangeAspect="1"/>
          </p:cNvPicPr>
          <p:nvPr/>
        </p:nvPicPr>
        <p:blipFill rotWithShape="1">
          <a:blip r:embed="rId2"/>
          <a:srcRect t="1809" b="3632"/>
          <a:stretch/>
        </p:blipFill>
        <p:spPr>
          <a:xfrm>
            <a:off x="1344742" y="3312827"/>
            <a:ext cx="9502515" cy="2758190"/>
          </a:xfrm>
          <a:prstGeom prst="rect">
            <a:avLst/>
          </a:prstGeom>
        </p:spPr>
      </p:pic>
    </p:spTree>
    <p:extLst>
      <p:ext uri="{BB962C8B-B14F-4D97-AF65-F5344CB8AC3E}">
        <p14:creationId xmlns:p14="http://schemas.microsoft.com/office/powerpoint/2010/main" val="870604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8A166-C9A9-EA43-A294-84451160D792}"/>
              </a:ext>
            </a:extLst>
          </p:cNvPr>
          <p:cNvSpPr>
            <a:spLocks noGrp="1"/>
          </p:cNvSpPr>
          <p:nvPr>
            <p:ph type="title"/>
          </p:nvPr>
        </p:nvSpPr>
        <p:spPr/>
        <p:txBody>
          <a:bodyPr/>
          <a:lstStyle/>
          <a:p>
            <a:r>
              <a:rPr lang="en-EG" dirty="0"/>
              <a:t>Auth code:</a:t>
            </a:r>
          </a:p>
        </p:txBody>
      </p:sp>
      <p:sp>
        <p:nvSpPr>
          <p:cNvPr id="3" name="Content Placeholder 2">
            <a:extLst>
              <a:ext uri="{FF2B5EF4-FFF2-40B4-BE49-F238E27FC236}">
                <a16:creationId xmlns:a16="http://schemas.microsoft.com/office/drawing/2014/main" id="{8823CB9C-62A1-034C-B20A-9DAF5479202F}"/>
              </a:ext>
            </a:extLst>
          </p:cNvPr>
          <p:cNvSpPr>
            <a:spLocks noGrp="1"/>
          </p:cNvSpPr>
          <p:nvPr>
            <p:ph idx="1"/>
          </p:nvPr>
        </p:nvSpPr>
        <p:spPr/>
        <p:txBody>
          <a:bodyPr/>
          <a:lstStyle/>
          <a:p>
            <a:r>
              <a:rPr lang="en-EG" dirty="0"/>
              <a:t>Add the Auth modules to dependecies:</a:t>
            </a:r>
          </a:p>
          <a:p>
            <a:endParaRPr lang="en-EG" dirty="0"/>
          </a:p>
          <a:p>
            <a:endParaRPr lang="en-EG" dirty="0"/>
          </a:p>
          <a:p>
            <a:endParaRPr lang="en-US" dirty="0"/>
          </a:p>
          <a:p>
            <a:r>
              <a:rPr lang="en-US" dirty="0"/>
              <a:t>In your sign-up activity's </a:t>
            </a:r>
            <a:r>
              <a:rPr lang="en-US" dirty="0" err="1"/>
              <a:t>onCreate</a:t>
            </a:r>
            <a:r>
              <a:rPr lang="en-US" dirty="0"/>
              <a:t> method, get the shared instance of the </a:t>
            </a:r>
            <a:r>
              <a:rPr lang="en-US" dirty="0" err="1"/>
              <a:t>FirebaseAuth</a:t>
            </a:r>
            <a:r>
              <a:rPr lang="en-US" dirty="0"/>
              <a:t> object:</a:t>
            </a:r>
          </a:p>
          <a:p>
            <a:r>
              <a:rPr lang="en-US" dirty="0"/>
              <a:t>Signup or </a:t>
            </a:r>
            <a:r>
              <a:rPr lang="en-US" dirty="0" err="1"/>
              <a:t>signin</a:t>
            </a:r>
            <a:r>
              <a:rPr lang="en-US" dirty="0"/>
              <a:t> users…</a:t>
            </a:r>
            <a:endParaRPr lang="en-EG" dirty="0"/>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5B7C5261-0BD5-D549-8569-7B768BF9C74B}"/>
                  </a:ext>
                </a:extLst>
              </p14:cNvPr>
              <p14:cNvContentPartPr/>
              <p14:nvPr/>
            </p14:nvContentPartPr>
            <p14:xfrm>
              <a:off x="6083906" y="4205969"/>
              <a:ext cx="1844640" cy="64080"/>
            </p14:xfrm>
          </p:contentPart>
        </mc:Choice>
        <mc:Fallback xmlns="">
          <p:pic>
            <p:nvPicPr>
              <p:cNvPr id="8" name="Ink 7">
                <a:extLst>
                  <a:ext uri="{FF2B5EF4-FFF2-40B4-BE49-F238E27FC236}">
                    <a16:creationId xmlns:a16="http://schemas.microsoft.com/office/drawing/2014/main" id="{5B7C5261-0BD5-D549-8569-7B768BF9C74B}"/>
                  </a:ext>
                </a:extLst>
              </p:cNvPr>
              <p:cNvPicPr/>
              <p:nvPr/>
            </p:nvPicPr>
            <p:blipFill>
              <a:blip r:embed="rId5"/>
              <a:stretch>
                <a:fillRect/>
              </a:stretch>
            </p:blipFill>
            <p:spPr>
              <a:xfrm>
                <a:off x="6079586" y="4201649"/>
                <a:ext cx="18532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1389CFC6-10D3-8647-BF6D-87CECD0136FD}"/>
                  </a:ext>
                </a:extLst>
              </p14:cNvPr>
              <p14:cNvContentPartPr/>
              <p14:nvPr/>
            </p14:nvContentPartPr>
            <p14:xfrm>
              <a:off x="5951426" y="6326009"/>
              <a:ext cx="2314440" cy="95400"/>
            </p14:xfrm>
          </p:contentPart>
        </mc:Choice>
        <mc:Fallback xmlns="">
          <p:pic>
            <p:nvPicPr>
              <p:cNvPr id="9" name="Ink 8">
                <a:extLst>
                  <a:ext uri="{FF2B5EF4-FFF2-40B4-BE49-F238E27FC236}">
                    <a16:creationId xmlns:a16="http://schemas.microsoft.com/office/drawing/2014/main" id="{1389CFC6-10D3-8647-BF6D-87CECD0136FD}"/>
                  </a:ext>
                </a:extLst>
              </p:cNvPr>
              <p:cNvPicPr/>
              <p:nvPr/>
            </p:nvPicPr>
            <p:blipFill>
              <a:blip r:embed="rId7"/>
              <a:stretch>
                <a:fillRect/>
              </a:stretch>
            </p:blipFill>
            <p:spPr>
              <a:xfrm>
                <a:off x="5947106" y="6321689"/>
                <a:ext cx="2323080" cy="104040"/>
              </a:xfrm>
              <a:prstGeom prst="rect">
                <a:avLst/>
              </a:prstGeom>
            </p:spPr>
          </p:pic>
        </mc:Fallback>
      </mc:AlternateContent>
      <p:pic>
        <p:nvPicPr>
          <p:cNvPr id="6" name="Picture 5">
            <a:extLst>
              <a:ext uri="{FF2B5EF4-FFF2-40B4-BE49-F238E27FC236}">
                <a16:creationId xmlns:a16="http://schemas.microsoft.com/office/drawing/2014/main" id="{CA1E2DD5-B9AC-46CD-5F43-D01EF1859D4D}"/>
              </a:ext>
            </a:extLst>
          </p:cNvPr>
          <p:cNvPicPr>
            <a:picLocks noChangeAspect="1"/>
          </p:cNvPicPr>
          <p:nvPr/>
        </p:nvPicPr>
        <p:blipFill>
          <a:blip r:embed="rId8"/>
          <a:stretch>
            <a:fillRect/>
          </a:stretch>
        </p:blipFill>
        <p:spPr>
          <a:xfrm>
            <a:off x="5016607" y="4419095"/>
            <a:ext cx="6337193" cy="1388628"/>
          </a:xfrm>
          <a:prstGeom prst="rect">
            <a:avLst/>
          </a:prstGeom>
        </p:spPr>
      </p:pic>
      <p:pic>
        <p:nvPicPr>
          <p:cNvPr id="7" name="Picture 6">
            <a:extLst>
              <a:ext uri="{FF2B5EF4-FFF2-40B4-BE49-F238E27FC236}">
                <a16:creationId xmlns:a16="http://schemas.microsoft.com/office/drawing/2014/main" id="{23F63FC8-6E18-84C0-A002-A411EC597861}"/>
              </a:ext>
            </a:extLst>
          </p:cNvPr>
          <p:cNvPicPr>
            <a:picLocks noChangeAspect="1"/>
          </p:cNvPicPr>
          <p:nvPr/>
        </p:nvPicPr>
        <p:blipFill>
          <a:blip r:embed="rId9"/>
          <a:stretch>
            <a:fillRect/>
          </a:stretch>
        </p:blipFill>
        <p:spPr>
          <a:xfrm>
            <a:off x="2197706" y="2377054"/>
            <a:ext cx="7772400" cy="1418084"/>
          </a:xfrm>
          <a:prstGeom prst="rect">
            <a:avLst/>
          </a:prstGeom>
        </p:spPr>
      </p:pic>
    </p:spTree>
    <p:extLst>
      <p:ext uri="{BB962C8B-B14F-4D97-AF65-F5344CB8AC3E}">
        <p14:creationId xmlns:p14="http://schemas.microsoft.com/office/powerpoint/2010/main" val="40344233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8BF4F-44D0-878C-ACDA-225C0B2B9844}"/>
              </a:ext>
            </a:extLst>
          </p:cNvPr>
          <p:cNvSpPr>
            <a:spLocks noGrp="1"/>
          </p:cNvSpPr>
          <p:nvPr>
            <p:ph type="title"/>
          </p:nvPr>
        </p:nvSpPr>
        <p:spPr/>
        <p:txBody>
          <a:bodyPr/>
          <a:lstStyle/>
          <a:p>
            <a:r>
              <a:rPr lang="en-EG"/>
              <a:t>Create user with username &amp; password:</a:t>
            </a:r>
            <a:endParaRPr lang="en-EG" dirty="0"/>
          </a:p>
        </p:txBody>
      </p:sp>
      <p:pic>
        <p:nvPicPr>
          <p:cNvPr id="4" name="Content Placeholder 3">
            <a:extLst>
              <a:ext uri="{FF2B5EF4-FFF2-40B4-BE49-F238E27FC236}">
                <a16:creationId xmlns:a16="http://schemas.microsoft.com/office/drawing/2014/main" id="{286E86C9-AC06-E79A-4A1A-BF766283C322}"/>
              </a:ext>
            </a:extLst>
          </p:cNvPr>
          <p:cNvPicPr>
            <a:picLocks noGrp="1" noChangeAspect="1"/>
          </p:cNvPicPr>
          <p:nvPr>
            <p:ph idx="1"/>
          </p:nvPr>
        </p:nvPicPr>
        <p:blipFill>
          <a:blip r:embed="rId2"/>
          <a:stretch>
            <a:fillRect/>
          </a:stretch>
        </p:blipFill>
        <p:spPr>
          <a:xfrm>
            <a:off x="1373134" y="1690688"/>
            <a:ext cx="9445731" cy="4787210"/>
          </a:xfrm>
          <a:prstGeom prst="rect">
            <a:avLst/>
          </a:prstGeom>
        </p:spPr>
      </p:pic>
    </p:spTree>
    <p:extLst>
      <p:ext uri="{BB962C8B-B14F-4D97-AF65-F5344CB8AC3E}">
        <p14:creationId xmlns:p14="http://schemas.microsoft.com/office/powerpoint/2010/main" val="8275677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3562493B-AF1F-A44F-8D80-1312BF70B2CA}"/>
              </a:ext>
            </a:extLst>
          </p:cNvPr>
          <p:cNvSpPr>
            <a:spLocks noGrp="1"/>
          </p:cNvSpPr>
          <p:nvPr>
            <p:ph type="title"/>
          </p:nvPr>
        </p:nvSpPr>
        <p:spPr>
          <a:xfrm>
            <a:off x="411480" y="991443"/>
            <a:ext cx="4443154" cy="1087819"/>
          </a:xfrm>
        </p:spPr>
        <p:txBody>
          <a:bodyPr anchor="b">
            <a:normAutofit/>
          </a:bodyPr>
          <a:lstStyle/>
          <a:p>
            <a:r>
              <a:rPr lang="en-EG" sz="3400" dirty="0"/>
              <a:t>Firebase realtime database:</a:t>
            </a:r>
          </a:p>
        </p:txBody>
      </p:sp>
      <p:sp>
        <p:nvSpPr>
          <p:cNvPr id="15" name="Rectangle 14">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 name="Content Placeholder 6">
            <a:extLst>
              <a:ext uri="{FF2B5EF4-FFF2-40B4-BE49-F238E27FC236}">
                <a16:creationId xmlns:a16="http://schemas.microsoft.com/office/drawing/2014/main" id="{9667FCF8-95BC-5947-9536-30368D18699A}"/>
              </a:ext>
            </a:extLst>
          </p:cNvPr>
          <p:cNvSpPr>
            <a:spLocks noGrp="1"/>
          </p:cNvSpPr>
          <p:nvPr>
            <p:ph idx="1"/>
          </p:nvPr>
        </p:nvSpPr>
        <p:spPr>
          <a:xfrm>
            <a:off x="411480" y="2371870"/>
            <a:ext cx="4443154" cy="3805093"/>
          </a:xfrm>
        </p:spPr>
        <p:txBody>
          <a:bodyPr>
            <a:normAutofit/>
          </a:bodyPr>
          <a:lstStyle/>
          <a:p>
            <a:r>
              <a:rPr lang="en-US" sz="2000" dirty="0">
                <a:latin typeface="Times New Roman" panose="02020603050405020304" pitchFamily="18" charset="0"/>
                <a:cs typeface="Times New Roman" panose="02020603050405020304" pitchFamily="18" charset="0"/>
              </a:rPr>
              <a:t>The Firebase Realtime Database is a cloud-hosted database. Data is stored as JSON and synchronized in real-time to every connected client. When you build cross-platform apps with our iOS, Android, and JavaScript SDKs, all of your clients share one Realtime Database instance and automatically receive updates with the newest data.</a:t>
            </a:r>
          </a:p>
          <a:p>
            <a:r>
              <a:rPr lang="en-US" sz="2000" dirty="0">
                <a:latin typeface="Times New Roman" panose="02020603050405020304" pitchFamily="18" charset="0"/>
                <a:cs typeface="Times New Roman" panose="02020603050405020304" pitchFamily="18" charset="0"/>
              </a:rPr>
              <a:t>Firebase </a:t>
            </a:r>
            <a:r>
              <a:rPr lang="en-US" sz="2000" dirty="0" err="1">
                <a:latin typeface="Times New Roman" panose="02020603050405020304" pitchFamily="18" charset="0"/>
                <a:cs typeface="Times New Roman" panose="02020603050405020304" pitchFamily="18" charset="0"/>
              </a:rPr>
              <a:t>db</a:t>
            </a:r>
            <a:r>
              <a:rPr lang="en-US" sz="2000" dirty="0">
                <a:latin typeface="Times New Roman" panose="02020603050405020304" pitchFamily="18" charset="0"/>
                <a:cs typeface="Times New Roman" panose="02020603050405020304" pitchFamily="18" charset="0"/>
              </a:rPr>
              <a:t> is </a:t>
            </a:r>
            <a:r>
              <a:rPr lang="en-US" sz="2000" dirty="0" err="1">
                <a:latin typeface="Times New Roman" panose="02020603050405020304" pitchFamily="18" charset="0"/>
                <a:cs typeface="Times New Roman" panose="02020603050405020304" pitchFamily="18" charset="0"/>
              </a:rPr>
              <a:t>nosql</a:t>
            </a:r>
            <a:r>
              <a:rPr lang="en-US" sz="2000" dirty="0">
                <a:latin typeface="Times New Roman" panose="02020603050405020304" pitchFamily="18" charset="0"/>
                <a:cs typeface="Times New Roman" panose="02020603050405020304" pitchFamily="18" charset="0"/>
              </a:rPr>
              <a:t> database.</a:t>
            </a:r>
            <a:endParaRPr lang="en-EG" sz="2000" dirty="0">
              <a:latin typeface="Times New Roman" panose="02020603050405020304" pitchFamily="18" charset="0"/>
              <a:cs typeface="Times New Roman" panose="02020603050405020304" pitchFamily="18" charset="0"/>
            </a:endParaRPr>
          </a:p>
        </p:txBody>
      </p:sp>
      <p:pic>
        <p:nvPicPr>
          <p:cNvPr id="8" name="Picture 7" descr="Graphical user interface, text, application, email&#10;&#10;Description automatically generated">
            <a:extLst>
              <a:ext uri="{FF2B5EF4-FFF2-40B4-BE49-F238E27FC236}">
                <a16:creationId xmlns:a16="http://schemas.microsoft.com/office/drawing/2014/main" id="{8613A64D-6031-654A-B31C-5B2E6C4F99BB}"/>
              </a:ext>
            </a:extLst>
          </p:cNvPr>
          <p:cNvPicPr>
            <a:picLocks noChangeAspect="1"/>
          </p:cNvPicPr>
          <p:nvPr/>
        </p:nvPicPr>
        <p:blipFill rotWithShape="1">
          <a:blip r:embed="rId2"/>
          <a:srcRect r="34281"/>
          <a:stretch/>
        </p:blipFill>
        <p:spPr>
          <a:xfrm>
            <a:off x="5385816" y="1135087"/>
            <a:ext cx="6440424" cy="4532472"/>
          </a:xfrm>
          <a:prstGeom prst="rect">
            <a:avLst/>
          </a:prstGeom>
        </p:spPr>
      </p:pic>
    </p:spTree>
    <p:extLst>
      <p:ext uri="{BB962C8B-B14F-4D97-AF65-F5344CB8AC3E}">
        <p14:creationId xmlns:p14="http://schemas.microsoft.com/office/powerpoint/2010/main" val="26532365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D3E52-D176-2843-B236-F8AE7A76FECA}"/>
              </a:ext>
            </a:extLst>
          </p:cNvPr>
          <p:cNvSpPr>
            <a:spLocks noGrp="1"/>
          </p:cNvSpPr>
          <p:nvPr>
            <p:ph type="title"/>
          </p:nvPr>
        </p:nvSpPr>
        <p:spPr/>
        <p:txBody>
          <a:bodyPr/>
          <a:lstStyle/>
          <a:p>
            <a:r>
              <a:rPr lang="en-EG" dirty="0"/>
              <a:t>JSON</a:t>
            </a:r>
          </a:p>
        </p:txBody>
      </p:sp>
      <p:sp>
        <p:nvSpPr>
          <p:cNvPr id="3" name="Content Placeholder 2">
            <a:extLst>
              <a:ext uri="{FF2B5EF4-FFF2-40B4-BE49-F238E27FC236}">
                <a16:creationId xmlns:a16="http://schemas.microsoft.com/office/drawing/2014/main" id="{5DD24A5D-7492-CC4F-BE39-14DA96DE48A7}"/>
              </a:ext>
            </a:extLst>
          </p:cNvPr>
          <p:cNvSpPr>
            <a:spLocks noGrp="1"/>
          </p:cNvSpPr>
          <p:nvPr>
            <p:ph idx="1"/>
          </p:nvPr>
        </p:nvSpPr>
        <p:spPr>
          <a:xfrm>
            <a:off x="592667" y="1813983"/>
            <a:ext cx="5397708" cy="4351338"/>
          </a:xfrm>
        </p:spPr>
        <p:txBody>
          <a:bodyPr>
            <a:normAutofit fontScale="92500" lnSpcReduction="10000"/>
          </a:bodyPr>
          <a:lstStyle/>
          <a:p>
            <a:r>
              <a:rPr lang="en-US" b="1" dirty="0"/>
              <a:t>Type:</a:t>
            </a:r>
            <a:r>
              <a:rPr lang="en-US" dirty="0"/>
              <a:t> Lightweight data-interchange format.</a:t>
            </a:r>
          </a:p>
          <a:p>
            <a:r>
              <a:rPr lang="en-US" b="1" dirty="0"/>
              <a:t>Human &amp; Machine Friendly:</a:t>
            </a:r>
            <a:endParaRPr lang="en-US" dirty="0"/>
          </a:p>
          <a:p>
            <a:pPr lvl="1"/>
            <a:r>
              <a:rPr lang="en-US" dirty="0"/>
              <a:t>Easy for </a:t>
            </a:r>
            <a:r>
              <a:rPr lang="en-US" b="1" dirty="0"/>
              <a:t>humans to read and write</a:t>
            </a:r>
            <a:r>
              <a:rPr lang="en-US" dirty="0"/>
              <a:t>.</a:t>
            </a:r>
          </a:p>
          <a:p>
            <a:pPr lvl="1"/>
            <a:r>
              <a:rPr lang="en-US" dirty="0"/>
              <a:t>Easy for </a:t>
            </a:r>
            <a:r>
              <a:rPr lang="en-US" b="1" dirty="0"/>
              <a:t>machines to parse and generate</a:t>
            </a:r>
            <a:r>
              <a:rPr lang="en-US" dirty="0"/>
              <a:t>.</a:t>
            </a:r>
          </a:p>
          <a:p>
            <a:r>
              <a:rPr lang="en-US" b="1" dirty="0"/>
              <a:t>Origin:</a:t>
            </a:r>
            <a:r>
              <a:rPr lang="en-US" dirty="0"/>
              <a:t> Based on a subset of the </a:t>
            </a:r>
            <a:r>
              <a:rPr lang="en-US" b="1" dirty="0"/>
              <a:t>JavaScript programming language</a:t>
            </a:r>
            <a:r>
              <a:rPr lang="en-US" dirty="0"/>
              <a:t>.</a:t>
            </a:r>
          </a:p>
          <a:p>
            <a:r>
              <a:rPr lang="en-US" b="1" dirty="0"/>
              <a:t>Data Types:</a:t>
            </a:r>
            <a:endParaRPr lang="en-US" dirty="0"/>
          </a:p>
          <a:p>
            <a:pPr lvl="1"/>
            <a:r>
              <a:rPr lang="en-US" b="1" dirty="0"/>
              <a:t>Primitive types:</a:t>
            </a:r>
            <a:r>
              <a:rPr lang="en-US" dirty="0"/>
              <a:t> string, number, </a:t>
            </a:r>
            <a:r>
              <a:rPr lang="en-US" dirty="0" err="1"/>
              <a:t>boolean</a:t>
            </a:r>
            <a:r>
              <a:rPr lang="en-US" dirty="0"/>
              <a:t>, null</a:t>
            </a:r>
          </a:p>
          <a:p>
            <a:pPr lvl="1"/>
            <a:r>
              <a:rPr lang="en-US" b="1" dirty="0"/>
              <a:t>Structured types:</a:t>
            </a:r>
            <a:r>
              <a:rPr lang="en-US" dirty="0"/>
              <a:t> object, array</a:t>
            </a:r>
          </a:p>
        </p:txBody>
      </p:sp>
      <p:pic>
        <p:nvPicPr>
          <p:cNvPr id="6" name="Picture 5">
            <a:extLst>
              <a:ext uri="{FF2B5EF4-FFF2-40B4-BE49-F238E27FC236}">
                <a16:creationId xmlns:a16="http://schemas.microsoft.com/office/drawing/2014/main" id="{B399EB2A-AF2C-9A6C-0D0F-F6EB50AAC9AD}"/>
              </a:ext>
            </a:extLst>
          </p:cNvPr>
          <p:cNvPicPr>
            <a:picLocks noChangeAspect="1"/>
          </p:cNvPicPr>
          <p:nvPr/>
        </p:nvPicPr>
        <p:blipFill>
          <a:blip r:embed="rId2"/>
          <a:stretch>
            <a:fillRect/>
          </a:stretch>
        </p:blipFill>
        <p:spPr>
          <a:xfrm>
            <a:off x="5675993" y="2274659"/>
            <a:ext cx="7124700" cy="3752850"/>
          </a:xfrm>
          <a:prstGeom prst="rect">
            <a:avLst/>
          </a:prstGeom>
        </p:spPr>
      </p:pic>
    </p:spTree>
    <p:extLst>
      <p:ext uri="{BB962C8B-B14F-4D97-AF65-F5344CB8AC3E}">
        <p14:creationId xmlns:p14="http://schemas.microsoft.com/office/powerpoint/2010/main" val="23053986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D8EB0-3496-7C0D-7F8C-6541B2BB206A}"/>
              </a:ext>
            </a:extLst>
          </p:cNvPr>
          <p:cNvSpPr>
            <a:spLocks noGrp="1"/>
          </p:cNvSpPr>
          <p:nvPr>
            <p:ph type="title"/>
          </p:nvPr>
        </p:nvSpPr>
        <p:spPr/>
        <p:txBody>
          <a:bodyPr>
            <a:normAutofit/>
          </a:bodyPr>
          <a:lstStyle/>
          <a:p>
            <a:r>
              <a:rPr lang="en-US" sz="3600" b="1" dirty="0"/>
              <a:t>Milestone 1 Overview – Kotlin Firebase App(</a:t>
            </a:r>
            <a:r>
              <a:rPr lang="en-US" sz="3600" dirty="0"/>
              <a:t>Individual</a:t>
            </a:r>
            <a:r>
              <a:rPr lang="en-US" sz="3600" b="1" dirty="0"/>
              <a:t>)</a:t>
            </a:r>
            <a:br>
              <a:rPr lang="en-US" sz="3600" b="1" dirty="0"/>
            </a:br>
            <a:endParaRPr lang="en-US" sz="3600" dirty="0"/>
          </a:p>
        </p:txBody>
      </p:sp>
      <p:sp>
        <p:nvSpPr>
          <p:cNvPr id="3" name="Content Placeholder 2">
            <a:extLst>
              <a:ext uri="{FF2B5EF4-FFF2-40B4-BE49-F238E27FC236}">
                <a16:creationId xmlns:a16="http://schemas.microsoft.com/office/drawing/2014/main" id="{C6587AF6-B44B-111E-DA6C-897408E4A32E}"/>
              </a:ext>
            </a:extLst>
          </p:cNvPr>
          <p:cNvSpPr>
            <a:spLocks noGrp="1"/>
          </p:cNvSpPr>
          <p:nvPr>
            <p:ph idx="1"/>
          </p:nvPr>
        </p:nvSpPr>
        <p:spPr>
          <a:xfrm>
            <a:off x="838200" y="1162895"/>
            <a:ext cx="10515600" cy="4351338"/>
          </a:xfrm>
        </p:spPr>
        <p:txBody>
          <a:bodyPr>
            <a:noAutofit/>
          </a:bodyPr>
          <a:lstStyle/>
          <a:p>
            <a:r>
              <a:rPr lang="en-US" sz="1600" b="1" dirty="0"/>
              <a:t>Objective:</a:t>
            </a:r>
            <a:r>
              <a:rPr lang="en-US" sz="1600" dirty="0"/>
              <a:t> Build a Kotlin app that provides secure user authentication and real-time profile management using </a:t>
            </a:r>
            <a:r>
              <a:rPr lang="en-US" sz="1600" b="1" dirty="0"/>
              <a:t>Firebase</a:t>
            </a:r>
            <a:r>
              <a:rPr lang="en-US" sz="1600" dirty="0"/>
              <a:t> services.</a:t>
            </a:r>
          </a:p>
          <a:p>
            <a:r>
              <a:rPr lang="en-US" sz="1600" b="1" dirty="0"/>
              <a:t>Key Features:</a:t>
            </a:r>
            <a:endParaRPr lang="en-US" sz="1600" dirty="0"/>
          </a:p>
          <a:p>
            <a:r>
              <a:rPr lang="en-US" sz="1600" b="1" dirty="0"/>
              <a:t>User Authentication:</a:t>
            </a:r>
            <a:endParaRPr lang="en-US" sz="1600" dirty="0"/>
          </a:p>
          <a:p>
            <a:pPr lvl="1"/>
            <a:r>
              <a:rPr lang="en-US" sz="1600" dirty="0"/>
              <a:t>Users can </a:t>
            </a:r>
            <a:r>
              <a:rPr lang="en-US" sz="1600" b="1" dirty="0"/>
              <a:t>sign in</a:t>
            </a:r>
            <a:r>
              <a:rPr lang="en-US" sz="1600" dirty="0"/>
              <a:t> using Firebase Authentication.</a:t>
            </a:r>
          </a:p>
          <a:p>
            <a:pPr lvl="1"/>
            <a:r>
              <a:rPr lang="en-US" sz="1600" dirty="0"/>
              <a:t>New users can </a:t>
            </a:r>
            <a:r>
              <a:rPr lang="en-US" sz="1600" b="1" dirty="0"/>
              <a:t>sign up</a:t>
            </a:r>
            <a:r>
              <a:rPr lang="en-US" sz="1600" dirty="0"/>
              <a:t> to create an account if they don’t already have one.</a:t>
            </a:r>
          </a:p>
          <a:p>
            <a:pPr lvl="1"/>
            <a:r>
              <a:rPr lang="en-US" sz="1600" dirty="0"/>
              <a:t>Authentication ensures that only registered users can access their profile data.</a:t>
            </a:r>
          </a:p>
          <a:p>
            <a:r>
              <a:rPr lang="en-US" sz="1600" b="1" dirty="0"/>
              <a:t>Profile Management:</a:t>
            </a:r>
            <a:endParaRPr lang="en-US" sz="1600" dirty="0"/>
          </a:p>
          <a:p>
            <a:pPr lvl="1"/>
            <a:r>
              <a:rPr lang="en-US" sz="1600" dirty="0"/>
              <a:t>After signing in, users are redirected to a </a:t>
            </a:r>
            <a:r>
              <a:rPr lang="en-US" sz="1600" b="1" dirty="0"/>
              <a:t>profile page</a:t>
            </a:r>
            <a:r>
              <a:rPr lang="en-US" sz="1600" dirty="0"/>
              <a:t> that displays their personal information.</a:t>
            </a:r>
          </a:p>
          <a:p>
            <a:pPr lvl="1"/>
            <a:r>
              <a:rPr lang="en-US" sz="1600" dirty="0"/>
              <a:t>Profile information includes: </a:t>
            </a:r>
            <a:r>
              <a:rPr lang="en-US" sz="1600" b="1" dirty="0"/>
              <a:t>name, address, phone number, and other relevant details</a:t>
            </a:r>
            <a:r>
              <a:rPr lang="en-US" sz="1600" dirty="0"/>
              <a:t>.</a:t>
            </a:r>
          </a:p>
          <a:p>
            <a:pPr lvl="1"/>
            <a:r>
              <a:rPr lang="en-US" sz="1600" dirty="0"/>
              <a:t>If the user already has data stored in </a:t>
            </a:r>
            <a:r>
              <a:rPr lang="en-US" sz="1600" b="1" dirty="0"/>
              <a:t>Firebase Realtime Database</a:t>
            </a:r>
            <a:r>
              <a:rPr lang="en-US" sz="1600" dirty="0"/>
              <a:t>, it is fetched and displayed automatically.</a:t>
            </a:r>
          </a:p>
          <a:p>
            <a:r>
              <a:rPr lang="en-US" sz="1600" b="1" dirty="0"/>
              <a:t>Real-Time Data Update:</a:t>
            </a:r>
            <a:endParaRPr lang="en-US" sz="1600" dirty="0"/>
          </a:p>
          <a:p>
            <a:pPr lvl="1"/>
            <a:r>
              <a:rPr lang="en-US" sz="1600" dirty="0"/>
              <a:t>Users can </a:t>
            </a:r>
            <a:r>
              <a:rPr lang="en-US" sz="1600" b="1" dirty="0"/>
              <a:t>edit their profile information</a:t>
            </a:r>
            <a:r>
              <a:rPr lang="en-US" sz="1600" dirty="0"/>
              <a:t> directly from the app.</a:t>
            </a:r>
          </a:p>
          <a:p>
            <a:pPr lvl="1"/>
            <a:r>
              <a:rPr lang="en-US" sz="1600" dirty="0"/>
              <a:t>Any changes made by the user are </a:t>
            </a:r>
            <a:r>
              <a:rPr lang="en-US" sz="1600" b="1" dirty="0"/>
              <a:t>instantly updated in Firebase Realtime Database</a:t>
            </a:r>
            <a:r>
              <a:rPr lang="en-US" sz="1600" dirty="0"/>
              <a:t>.</a:t>
            </a:r>
          </a:p>
          <a:p>
            <a:r>
              <a:rPr lang="en-US" sz="1600" b="1" dirty="0"/>
              <a:t>Outcome:</a:t>
            </a:r>
            <a:endParaRPr lang="en-US" sz="1600" dirty="0"/>
          </a:p>
          <a:p>
            <a:pPr lvl="1"/>
            <a:r>
              <a:rPr lang="en-US" sz="1600" dirty="0"/>
              <a:t>A fully functional Kotlin app with </a:t>
            </a:r>
            <a:r>
              <a:rPr lang="en-US" sz="1600" b="1" dirty="0"/>
              <a:t>secure user authentication</a:t>
            </a:r>
            <a:r>
              <a:rPr lang="en-US" sz="1600" dirty="0"/>
              <a:t>, </a:t>
            </a:r>
            <a:r>
              <a:rPr lang="en-US" sz="1600" b="1" dirty="0"/>
              <a:t>real-time data retrieval</a:t>
            </a:r>
            <a:r>
              <a:rPr lang="en-US" sz="1600" dirty="0"/>
              <a:t>, and </a:t>
            </a:r>
            <a:r>
              <a:rPr lang="en-US" sz="1600" b="1" dirty="0"/>
              <a:t>profile editing</a:t>
            </a:r>
            <a:r>
              <a:rPr lang="en-US" sz="1600" dirty="0"/>
              <a:t> capabilities.</a:t>
            </a:r>
          </a:p>
          <a:p>
            <a:pPr lvl="1"/>
            <a:r>
              <a:rPr lang="en-US" sz="1600" dirty="0"/>
              <a:t>Users can sign in/sign up, view their stored information, make edits, and  changes is reflected instantly in Firebase.</a:t>
            </a:r>
          </a:p>
          <a:p>
            <a:endParaRPr lang="en-US" sz="1600" dirty="0"/>
          </a:p>
        </p:txBody>
      </p:sp>
    </p:spTree>
    <p:extLst>
      <p:ext uri="{BB962C8B-B14F-4D97-AF65-F5344CB8AC3E}">
        <p14:creationId xmlns:p14="http://schemas.microsoft.com/office/powerpoint/2010/main" val="35093505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F8273-9BF1-AB45-A7D0-502F1DC94D6A}"/>
              </a:ext>
            </a:extLst>
          </p:cNvPr>
          <p:cNvSpPr>
            <a:spLocks noGrp="1"/>
          </p:cNvSpPr>
          <p:nvPr>
            <p:ph type="title"/>
          </p:nvPr>
        </p:nvSpPr>
        <p:spPr/>
        <p:txBody>
          <a:bodyPr/>
          <a:lstStyle/>
          <a:p>
            <a:r>
              <a:rPr lang="en-EG" dirty="0"/>
              <a:t>URLS that will help you</a:t>
            </a:r>
          </a:p>
        </p:txBody>
      </p:sp>
      <p:sp>
        <p:nvSpPr>
          <p:cNvPr id="3" name="Content Placeholder 2">
            <a:extLst>
              <a:ext uri="{FF2B5EF4-FFF2-40B4-BE49-F238E27FC236}">
                <a16:creationId xmlns:a16="http://schemas.microsoft.com/office/drawing/2014/main" id="{1CBABB7D-FB1E-714B-BA9B-623845E631CB}"/>
              </a:ext>
            </a:extLst>
          </p:cNvPr>
          <p:cNvSpPr>
            <a:spLocks noGrp="1"/>
          </p:cNvSpPr>
          <p:nvPr>
            <p:ph idx="1"/>
          </p:nvPr>
        </p:nvSpPr>
        <p:spPr/>
        <p:txBody>
          <a:bodyPr/>
          <a:lstStyle/>
          <a:p>
            <a:r>
              <a:rPr lang="en-US" dirty="0"/>
              <a:t>E</a:t>
            </a:r>
            <a:r>
              <a:rPr lang="en-EG" dirty="0"/>
              <a:t>xternal intents:</a:t>
            </a:r>
          </a:p>
          <a:p>
            <a:pPr marL="457200" lvl="1" indent="0">
              <a:buNone/>
            </a:pPr>
            <a:r>
              <a:rPr lang="en-US" u="sng" dirty="0">
                <a:solidFill>
                  <a:srgbClr val="0070C0"/>
                </a:solidFill>
                <a:hlinkClick r:id="rId2"/>
              </a:rPr>
              <a:t>https://developer.android.com/training/basics/intents/sending</a:t>
            </a:r>
            <a:endParaRPr lang="en-EG" u="sng" dirty="0">
              <a:solidFill>
                <a:srgbClr val="0070C0"/>
              </a:solidFill>
            </a:endParaRPr>
          </a:p>
          <a:p>
            <a:r>
              <a:rPr lang="en-US" dirty="0"/>
              <a:t>Firebase setup:</a:t>
            </a:r>
          </a:p>
          <a:p>
            <a:pPr marL="457200" lvl="1" indent="0">
              <a:buNone/>
            </a:pPr>
            <a:r>
              <a:rPr lang="en-US" dirty="0">
                <a:hlinkClick r:id="rId3"/>
              </a:rPr>
              <a:t>https://firebase.google.com/docs/android/setup</a:t>
            </a:r>
            <a:endParaRPr lang="en-US" dirty="0"/>
          </a:p>
          <a:p>
            <a:r>
              <a:rPr lang="en-US" dirty="0"/>
              <a:t>Firebase Auth code:</a:t>
            </a:r>
          </a:p>
          <a:p>
            <a:pPr marL="457200" lvl="1" indent="0">
              <a:buNone/>
            </a:pPr>
            <a:r>
              <a:rPr lang="en-US" dirty="0">
                <a:hlinkClick r:id="rId4"/>
              </a:rPr>
              <a:t>https://firebase.google.com/docs/auth/android/password-auth</a:t>
            </a:r>
            <a:endParaRPr lang="en-US" dirty="0"/>
          </a:p>
          <a:p>
            <a:r>
              <a:rPr lang="en-US" dirty="0"/>
              <a:t>Firebase </a:t>
            </a:r>
            <a:r>
              <a:rPr lang="en-US" dirty="0" err="1"/>
              <a:t>db</a:t>
            </a:r>
            <a:r>
              <a:rPr lang="en-US" dirty="0"/>
              <a:t> setup:</a:t>
            </a:r>
          </a:p>
          <a:p>
            <a:pPr marL="457200" lvl="1" indent="0">
              <a:buNone/>
            </a:pPr>
            <a:r>
              <a:rPr lang="en-US" dirty="0">
                <a:hlinkClick r:id="rId5"/>
              </a:rPr>
              <a:t>https://</a:t>
            </a:r>
            <a:r>
              <a:rPr lang="en-US" dirty="0" err="1">
                <a:hlinkClick r:id="rId5"/>
              </a:rPr>
              <a:t>firebase.google.com</a:t>
            </a:r>
            <a:r>
              <a:rPr lang="en-US" dirty="0">
                <a:hlinkClick r:id="rId5"/>
              </a:rPr>
              <a:t>/docs/database/android/start</a:t>
            </a:r>
            <a:endParaRPr lang="en-US" dirty="0"/>
          </a:p>
        </p:txBody>
      </p:sp>
    </p:spTree>
    <p:extLst>
      <p:ext uri="{BB962C8B-B14F-4D97-AF65-F5344CB8AC3E}">
        <p14:creationId xmlns:p14="http://schemas.microsoft.com/office/powerpoint/2010/main" val="1079586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2470</TotalTime>
  <Words>3455</Words>
  <Application>Microsoft Office PowerPoint</Application>
  <PresentationFormat>Widescreen</PresentationFormat>
  <Paragraphs>355</Paragraphs>
  <Slides>57</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Calibri Light</vt:lpstr>
      <vt:lpstr>Google Sans Text</vt:lpstr>
      <vt:lpstr>inter-bold</vt:lpstr>
      <vt:lpstr>inter-regular</vt:lpstr>
      <vt:lpstr>Roboto</vt:lpstr>
      <vt:lpstr>Times New Roman</vt:lpstr>
      <vt:lpstr>Times New Roman</vt:lpstr>
      <vt:lpstr>Office Theme</vt:lpstr>
      <vt:lpstr>Signaling project description (NETW704)</vt:lpstr>
      <vt:lpstr>Project idea(🛒 Application Workflow)</vt:lpstr>
      <vt:lpstr>Objectives</vt:lpstr>
      <vt:lpstr>Introduction to Android Development</vt:lpstr>
      <vt:lpstr>Android Studio</vt:lpstr>
      <vt:lpstr>PowerPoint Presentation</vt:lpstr>
      <vt:lpstr>Creating your first app:</vt:lpstr>
      <vt:lpstr>Creating your first app:</vt:lpstr>
      <vt:lpstr>Creating your first app:</vt:lpstr>
      <vt:lpstr>PowerPoint Presentation</vt:lpstr>
      <vt:lpstr>View hierarchy</vt:lpstr>
      <vt:lpstr>PowerPoint Presentation</vt:lpstr>
      <vt:lpstr>XML files</vt:lpstr>
      <vt:lpstr>App components</vt:lpstr>
      <vt:lpstr>1. Activities</vt:lpstr>
      <vt:lpstr>The activity states</vt:lpstr>
      <vt:lpstr>PowerPoint Presentation</vt:lpstr>
      <vt:lpstr>PowerPoint Presentation</vt:lpstr>
      <vt:lpstr>PowerPoint Presentation</vt:lpstr>
      <vt:lpstr>PowerPoint Presentation</vt:lpstr>
      <vt:lpstr>To sum it up</vt:lpstr>
      <vt:lpstr>The activity life cycle</vt:lpstr>
      <vt:lpstr>2. Services</vt:lpstr>
      <vt:lpstr>3. Broadcast receivers</vt:lpstr>
      <vt:lpstr>4. Content providers</vt:lpstr>
      <vt:lpstr>Intents</vt:lpstr>
      <vt:lpstr>The manifest file</vt:lpstr>
      <vt:lpstr>App resources</vt:lpstr>
      <vt:lpstr>Intro To Kotlin</vt:lpstr>
      <vt:lpstr>PowerPoint Presentation</vt:lpstr>
      <vt:lpstr>PowerPoint Presentation</vt:lpstr>
      <vt:lpstr>PowerPoint Presentation</vt:lpstr>
      <vt:lpstr>How to bind views from xml file to your code?</vt:lpstr>
      <vt:lpstr>View binding </vt:lpstr>
      <vt:lpstr>Cont. View Binding</vt:lpstr>
      <vt:lpstr>Cont. View Binding</vt:lpstr>
      <vt:lpstr>Cont. View Binding</vt:lpstr>
      <vt:lpstr>Listen And Response Button Click Event.</vt:lpstr>
      <vt:lpstr>Using intents</vt:lpstr>
      <vt:lpstr>PowerPoint Presentation</vt:lpstr>
      <vt:lpstr>Firebase Services</vt:lpstr>
      <vt:lpstr>What is Firebase?</vt:lpstr>
      <vt:lpstr>How to use Firebase with android development:</vt:lpstr>
      <vt:lpstr>2. Register your app with Firebase auth &amp; realtime-data base: https://www.geeksforgeeks.org/firebase/login-and-registration-in-android-using-firebase-in-kotlin/  </vt:lpstr>
      <vt:lpstr>PowerPoint Presentation</vt:lpstr>
      <vt:lpstr>2. Register your app with Firebase auth &amp; realtime-data base: https://www.geeksforgeeks.org/firebase/login-and-registration-in-android-using-firebase-in-kotlin/  </vt:lpstr>
      <vt:lpstr>2. Register your app with Firebase auth &amp; realtime-data base: https://www.geeksforgeeks.org/firebase/login-and-registration-in-android-using-firebase-in-kotlin/  </vt:lpstr>
      <vt:lpstr>2. Register your app with Firebase auth &amp; realtime-data base: https://www.geeksforgeeks.org/firebase/login-and-registration-in-android-using-firebase-in-kotlin/  </vt:lpstr>
      <vt:lpstr>PowerPoint Presentation</vt:lpstr>
      <vt:lpstr>PowerPoint Presentation</vt:lpstr>
      <vt:lpstr>Authentication</vt:lpstr>
      <vt:lpstr>Auth code:</vt:lpstr>
      <vt:lpstr>Create user with username &amp; password:</vt:lpstr>
      <vt:lpstr>Firebase realtime database:</vt:lpstr>
      <vt:lpstr>JSON</vt:lpstr>
      <vt:lpstr>Milestone 1 Overview – Kotlin Firebase App(Individual) </vt:lpstr>
      <vt:lpstr>URLS that will help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Signaling project description (NETW704)</dc:title>
  <dc:creator>Nahla Afifi Taha</dc:creator>
  <cp:lastModifiedBy>Abdelrahman Darwish</cp:lastModifiedBy>
  <cp:revision>12</cp:revision>
  <dcterms:created xsi:type="dcterms:W3CDTF">2021-10-12T11:25:08Z</dcterms:created>
  <dcterms:modified xsi:type="dcterms:W3CDTF">2025-10-01T15:34:35Z</dcterms:modified>
</cp:coreProperties>
</file>